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Lst>
  <p:sldSz cx="9144000" cy="5143500" type="screen16x9"/>
  <p:notesSz cx="6858000" cy="9144000"/>
  <p:embeddedFontLst>
    <p:embeddedFont>
      <p:font typeface="Cambria" panose="02040503050406030204" pitchFamily="18" charset="0"/>
      <p:regular r:id="rId87"/>
      <p:bold r:id="rId88"/>
      <p:italic r:id="rId89"/>
      <p:boldItalic r:id="rId90"/>
    </p:embeddedFont>
    <p:embeddedFont>
      <p:font typeface="Century" panose="02040604050505020304" pitchFamily="18" charset="0"/>
      <p:regular r:id="rId91"/>
    </p:embeddedFont>
    <p:embeddedFont>
      <p:font typeface="Georgia" panose="02040502050405020303" pitchFamily="18" charset="0"/>
      <p:regular r:id="rId92"/>
      <p:bold r:id="rId93"/>
      <p:italic r:id="rId94"/>
      <p:boldItalic r:id="rId95"/>
    </p:embeddedFont>
    <p:embeddedFont>
      <p:font typeface="Libre Baskerville" panose="020F0502020204030204" pitchFamily="2" charset="0"/>
      <p:regular r:id="rId96"/>
      <p:bold r:id="rId97"/>
      <p:italic r:id="rId98"/>
      <p:boldItalic r:id="rId99"/>
    </p:embeddedFont>
    <p:embeddedFont>
      <p:font typeface="Open Sans" panose="020F0502020204030204" pitchFamily="34" charset="0"/>
      <p:regular r:id="rId100"/>
      <p:bold r:id="rId101"/>
      <p:italic r:id="rId102"/>
      <p:boldItalic r:id="rId103"/>
    </p:embeddedFont>
    <p:embeddedFont>
      <p:font typeface="Roboto" panose="020F0502020204030204" pitchFamily="2" charset="0"/>
      <p:regular r:id="rId104"/>
      <p:bold r:id="rId105"/>
      <p:italic r:id="rId106"/>
      <p:boldItalic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3" roundtripDataSignature="AMtx7mhwpOBYli8Xen4iLu1HeDwpOExV3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0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07" Type="http://schemas.openxmlformats.org/officeDocument/2006/relationships/font" Target="fonts/font21.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6.fntdata"/><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customschemas.google.com/relationships/presentationmetadata" Target="meta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7.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20.fntdata"/><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105"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fcf1c9e0e0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fcf1c9e0e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fcf1c9e0e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fcf1c9e0e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fcf1c9e0e0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gfcf1c9e0e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0095e81ede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g10095e81ed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0095e81ede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g10095e81ed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0095e81ed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g10095e81ed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10095e81ede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g10095e81ed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0095e81ede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g10095e81ede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10095e81ede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g10095e81ed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0095e81ede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g10095e81ed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0095e81ede_0_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g10095e81ede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0095e81ede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g10095e81ede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0095e81ede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g10095e81ede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5" name="Google Shape;47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10095e81ede_0_1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4" name="Google Shape;484;g10095e81ede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0095e81ede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g10095e81ede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10095e81ede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10095e81ede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5" name="Google Shape;52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0095e81ede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g10095e81ede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0" name="Google Shape;54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8" name="Google Shape;54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7" name="Google Shape;557;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5" name="Google Shape;56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7" name="Google Shape;57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10095e81ede_0_1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g10095e81ede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10095e81ede_0_2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4" name="Google Shape;594;g10095e81ede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4" name="Google Shape;604;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fa2dc849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gfa2dc849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9" name="Google Shape;629;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fa2dc849d1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gfa2dc849d1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fa2dc849d1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4" name="Google Shape;654;gfa2dc849d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fa2dc849d1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gfa2dc849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2" name="Google Shape;67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fa2dc849d1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fa2dc849d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6" name="Google Shape;716;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100fff2b384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100fff2b38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100fff2b384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100fff2b38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10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00"/>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0"/>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9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94"/>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95"/>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9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95"/>
          <p:cNvSpPr/>
          <p:nvPr/>
        </p:nvSpPr>
        <p:spPr>
          <a:xfrm>
            <a:off x="0" y="666750"/>
            <a:ext cx="9144000" cy="45719"/>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 name="Google Shape;29;p95"/>
          <p:cNvPicPr preferRelativeResize="0"/>
          <p:nvPr/>
        </p:nvPicPr>
        <p:blipFill rotWithShape="1">
          <a:blip r:embed="rId2">
            <a:alphaModFix/>
          </a:blip>
          <a:srcRect/>
          <a:stretch/>
        </p:blipFill>
        <p:spPr>
          <a:xfrm>
            <a:off x="6934200" y="116292"/>
            <a:ext cx="1981200" cy="5125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96"/>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6"/>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3" name="Google Shape;33;p9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96"/>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6"/>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9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7"/>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9" name="Google Shape;39;p97"/>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9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97"/>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7"/>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9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98"/>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6" name="Google Shape;46;p98"/>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7" name="Google Shape;47;p98"/>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98"/>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9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98"/>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8"/>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101"/>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01"/>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5" name="Google Shape;55;p101"/>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6" name="Google Shape;56;p10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01"/>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1"/>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102"/>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02"/>
          <p:cNvSpPr>
            <a:spLocks noGrp="1"/>
          </p:cNvSpPr>
          <p:nvPr>
            <p:ph type="pic" idx="2"/>
          </p:nvPr>
        </p:nvSpPr>
        <p:spPr>
          <a:xfrm>
            <a:off x="1792288" y="459581"/>
            <a:ext cx="5486400" cy="3086100"/>
          </a:xfrm>
          <a:prstGeom prst="rect">
            <a:avLst/>
          </a:prstGeom>
          <a:noFill/>
          <a:ln>
            <a:noFill/>
          </a:ln>
        </p:spPr>
      </p:sp>
      <p:sp>
        <p:nvSpPr>
          <p:cNvPr id="62" name="Google Shape;62;p102"/>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3" name="Google Shape;63;p10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2"/>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2"/>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10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3"/>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9" name="Google Shape;69;p10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3"/>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3"/>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104"/>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04"/>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0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04"/>
          <p:cNvSpPr txBox="1">
            <a:spLocks noGrp="1"/>
          </p:cNvSpPr>
          <p:nvPr>
            <p:ph type="ftr" idx="11"/>
          </p:nvPr>
        </p:nvSpPr>
        <p:spPr>
          <a:xfrm>
            <a:off x="3810000" y="4869656"/>
            <a:ext cx="2895600" cy="273844"/>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4"/>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3"/>
          <p:cNvSpPr/>
          <p:nvPr/>
        </p:nvSpPr>
        <p:spPr>
          <a:xfrm>
            <a:off x="0" y="4888706"/>
            <a:ext cx="9144000" cy="25479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9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93"/>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93"/>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93"/>
          <p:cNvSpPr txBox="1"/>
          <p:nvPr/>
        </p:nvSpPr>
        <p:spPr>
          <a:xfrm>
            <a:off x="0" y="4869656"/>
            <a:ext cx="3886200" cy="27384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Calibri"/>
                <a:ea typeface="Calibri"/>
                <a:cs typeface="Calibri"/>
                <a:sym typeface="Calibri"/>
              </a:rPr>
              <a:t>© 20</a:t>
            </a:r>
            <a:r>
              <a:rPr lang="en-US" sz="1000" b="1">
                <a:solidFill>
                  <a:schemeClr val="lt1"/>
                </a:solidFill>
                <a:latin typeface="Calibri"/>
                <a:ea typeface="Calibri"/>
                <a:cs typeface="Calibri"/>
                <a:sym typeface="Calibri"/>
              </a:rPr>
              <a:t>26</a:t>
            </a:r>
            <a:r>
              <a:rPr lang="en-US" sz="1000" b="1" i="0" u="none" strike="noStrike" cap="none">
                <a:solidFill>
                  <a:schemeClr val="lt1"/>
                </a:solidFill>
                <a:latin typeface="Calibri"/>
                <a:ea typeface="Calibri"/>
                <a:cs typeface="Calibri"/>
                <a:sym typeface="Calibri"/>
              </a:rPr>
              <a:t>  DataMites™. All Rights Reserved | www.datamites.com</a:t>
            </a:r>
            <a:endParaRPr sz="1000" b="1" i="0" u="none" strike="noStrike" cap="none">
              <a:solidFill>
                <a:schemeClr val="lt1"/>
              </a:solidFill>
              <a:latin typeface="Calibri"/>
              <a:ea typeface="Calibri"/>
              <a:cs typeface="Calibri"/>
              <a:sym typeface="Calibri"/>
            </a:endParaRPr>
          </a:p>
        </p:txBody>
      </p:sp>
      <p:sp>
        <p:nvSpPr>
          <p:cNvPr id="15" name="Google Shape;15;p93"/>
          <p:cNvSpPr txBox="1">
            <a:spLocks noGrp="1"/>
          </p:cNvSpPr>
          <p:nvPr>
            <p:ph type="ftr" idx="11"/>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gi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6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2.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8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8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grpSp>
        <p:nvGrpSpPr>
          <p:cNvPr id="82" name="Google Shape;82;p4"/>
          <p:cNvGrpSpPr/>
          <p:nvPr/>
        </p:nvGrpSpPr>
        <p:grpSpPr>
          <a:xfrm>
            <a:off x="6934200" y="2452469"/>
            <a:ext cx="2061216" cy="2144273"/>
            <a:chOff x="13912850" y="3370998"/>
            <a:chExt cx="4294200" cy="4467235"/>
          </a:xfrm>
        </p:grpSpPr>
        <p:sp>
          <p:nvSpPr>
            <p:cNvPr id="83" name="Google Shape;83;p4"/>
            <p:cNvSpPr/>
            <p:nvPr/>
          </p:nvSpPr>
          <p:spPr>
            <a:xfrm>
              <a:off x="14731458" y="5067300"/>
              <a:ext cx="2720534" cy="2770933"/>
            </a:xfrm>
            <a:custGeom>
              <a:avLst/>
              <a:gdLst/>
              <a:ahLst/>
              <a:cxnLst/>
              <a:rect l="l" t="t" r="r" b="b"/>
              <a:pathLst>
                <a:path w="3348108" h="3348108" extrusionOk="0">
                  <a:moveTo>
                    <a:pt x="0" y="0"/>
                  </a:moveTo>
                  <a:lnTo>
                    <a:pt x="3348108" y="0"/>
                  </a:lnTo>
                  <a:lnTo>
                    <a:pt x="3348108" y="3348108"/>
                  </a:lnTo>
                  <a:lnTo>
                    <a:pt x="0" y="33481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672" b="0" i="0" u="none" strike="noStrike" cap="none">
                <a:solidFill>
                  <a:srgbClr val="000000"/>
                </a:solidFill>
                <a:latin typeface="Arial"/>
                <a:ea typeface="Arial"/>
                <a:cs typeface="Arial"/>
                <a:sym typeface="Arial"/>
              </a:endParaRPr>
            </a:p>
          </p:txBody>
        </p:sp>
        <p:sp>
          <p:nvSpPr>
            <p:cNvPr id="84" name="Google Shape;84;p4"/>
            <p:cNvSpPr txBox="1"/>
            <p:nvPr/>
          </p:nvSpPr>
          <p:spPr>
            <a:xfrm>
              <a:off x="13912850" y="3370998"/>
              <a:ext cx="4294200" cy="1693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592" b="1" i="0" u="none" strike="noStrike" cap="none">
                  <a:solidFill>
                    <a:srgbClr val="0070C0"/>
                  </a:solidFill>
                  <a:latin typeface="Arial"/>
                  <a:ea typeface="Arial"/>
                  <a:cs typeface="Arial"/>
                  <a:sym typeface="Arial"/>
                </a:rPr>
                <a:t>Refer &amp; Earn</a:t>
              </a:r>
              <a:endParaRPr>
                <a:solidFill>
                  <a:srgbClr val="0070C0"/>
                </a:solidFill>
              </a:endParaRPr>
            </a:p>
            <a:p>
              <a:pPr marL="0" marR="0" lvl="0" indent="0" algn="ctr" rtl="0">
                <a:lnSpc>
                  <a:spcPct val="100000"/>
                </a:lnSpc>
                <a:spcBef>
                  <a:spcPts val="0"/>
                </a:spcBef>
                <a:spcAft>
                  <a:spcPts val="0"/>
                </a:spcAft>
                <a:buNone/>
              </a:pPr>
              <a:r>
                <a:rPr lang="en-US" sz="1344" b="1" i="0" u="none" strike="noStrike" cap="none">
                  <a:solidFill>
                    <a:srgbClr val="0070C0"/>
                  </a:solidFill>
                  <a:latin typeface="Arial"/>
                  <a:ea typeface="Arial"/>
                  <a:cs typeface="Arial"/>
                  <a:sym typeface="Arial"/>
                </a:rPr>
                <a:t>up to ₹ 5,000/- per referral </a:t>
              </a:r>
              <a:endParaRPr>
                <a:solidFill>
                  <a:srgbClr val="0070C0"/>
                </a:solidFill>
              </a:endParaRPr>
            </a:p>
          </p:txBody>
        </p:sp>
      </p:grpSp>
      <p:sp>
        <p:nvSpPr>
          <p:cNvPr id="85" name="Google Shape;85;p4"/>
          <p:cNvSpPr txBox="1"/>
          <p:nvPr/>
        </p:nvSpPr>
        <p:spPr>
          <a:xfrm>
            <a:off x="1156743" y="1664775"/>
            <a:ext cx="58743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800" b="0" i="0" u="none" strike="noStrike" cap="none">
                <a:solidFill>
                  <a:srgbClr val="000000"/>
                </a:solidFill>
                <a:latin typeface="Arial"/>
                <a:ea typeface="Arial"/>
                <a:cs typeface="Arial"/>
                <a:sym typeface="Arial"/>
              </a:rPr>
              <a:t>Statistics Essentials</a:t>
            </a:r>
            <a:endParaRPr/>
          </a:p>
        </p:txBody>
      </p:sp>
      <p:pic>
        <p:nvPicPr>
          <p:cNvPr id="86" name="Google Shape;86;p4"/>
          <p:cNvPicPr preferRelativeResize="0"/>
          <p:nvPr/>
        </p:nvPicPr>
        <p:blipFill rotWithShape="1">
          <a:blip r:embed="rId4">
            <a:alphaModFix/>
          </a:blip>
          <a:srcRect/>
          <a:stretch/>
        </p:blipFill>
        <p:spPr>
          <a:xfrm>
            <a:off x="6934200" y="116292"/>
            <a:ext cx="1981200" cy="5125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2" descr="Image result for machine learning robot"/>
          <p:cNvPicPr preferRelativeResize="0"/>
          <p:nvPr/>
        </p:nvPicPr>
        <p:blipFill rotWithShape="1">
          <a:blip r:embed="rId3">
            <a:alphaModFix/>
          </a:blip>
          <a:srcRect/>
          <a:stretch/>
        </p:blipFill>
        <p:spPr>
          <a:xfrm>
            <a:off x="0" y="856000"/>
            <a:ext cx="4495800" cy="3371850"/>
          </a:xfrm>
          <a:prstGeom prst="rect">
            <a:avLst/>
          </a:prstGeom>
          <a:noFill/>
          <a:ln>
            <a:noFill/>
          </a:ln>
        </p:spPr>
      </p:pic>
      <p:sp>
        <p:nvSpPr>
          <p:cNvPr id="92" name="Google Shape;92;p2"/>
          <p:cNvSpPr txBox="1">
            <a:spLocks noGrp="1"/>
          </p:cNvSpPr>
          <p:nvPr>
            <p:ph type="ctrTitle"/>
          </p:nvPr>
        </p:nvSpPr>
        <p:spPr>
          <a:xfrm>
            <a:off x="3733800" y="1047750"/>
            <a:ext cx="4876800" cy="110251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Overview of Statistics </a:t>
            </a:r>
            <a:endParaRPr/>
          </a:p>
        </p:txBody>
      </p:sp>
      <p:sp>
        <p:nvSpPr>
          <p:cNvPr id="93" name="Google Shape;93;p2"/>
          <p:cNvSpPr txBox="1">
            <a:spLocks noGrp="1"/>
          </p:cNvSpPr>
          <p:nvPr>
            <p:ph type="subTitle" idx="1"/>
          </p:nvPr>
        </p:nvSpPr>
        <p:spPr>
          <a:xfrm>
            <a:off x="3924300" y="2271594"/>
            <a:ext cx="4495800" cy="131445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Module - 1</a:t>
            </a:r>
            <a:endParaRPr/>
          </a:p>
        </p:txBody>
      </p:sp>
      <p:sp>
        <p:nvSpPr>
          <p:cNvPr id="94" name="Google Shape;94;p2"/>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a:t>
            </a:fld>
            <a:endParaRPr/>
          </a:p>
        </p:txBody>
      </p:sp>
      <p:sp>
        <p:nvSpPr>
          <p:cNvPr id="95" name="Google Shape;95;p2"/>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Statistics for Data</a:t>
            </a:r>
            <a:endParaRPr>
              <a:solidFill>
                <a:srgbClr val="0070C0"/>
              </a:solidFill>
            </a:endParaRPr>
          </a:p>
        </p:txBody>
      </p:sp>
      <p:sp>
        <p:nvSpPr>
          <p:cNvPr id="101" name="Google Shape;101;p3"/>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02" name="Google Shape;102;p3"/>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a:t>
            </a:fld>
            <a:endParaRPr/>
          </a:p>
        </p:txBody>
      </p:sp>
      <p:sp>
        <p:nvSpPr>
          <p:cNvPr id="103" name="Google Shape;103;p3"/>
          <p:cNvSpPr txBox="1"/>
          <p:nvPr/>
        </p:nvSpPr>
        <p:spPr>
          <a:xfrm>
            <a:off x="76200" y="950722"/>
            <a:ext cx="8763000" cy="36324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      The science of collecting, describing, and interpreting data is popularly known as Statistical leveraging in Data Science.</a:t>
            </a:r>
            <a:endParaRPr sz="2000" b="0" i="0" u="none" strike="noStrike" cap="none">
              <a:solidFill>
                <a:schemeClr val="dk1"/>
              </a:solidFill>
              <a:latin typeface="Calibri"/>
              <a:ea typeface="Calibri"/>
              <a:cs typeface="Calibri"/>
              <a:sym typeface="Calibri"/>
            </a:endParaRPr>
          </a:p>
        </p:txBody>
      </p:sp>
      <p:pic>
        <p:nvPicPr>
          <p:cNvPr id="104" name="Google Shape;104;p3" descr="C:\Users\Jojo\Documents\2013\funny\514_400x400_Framed.jpg"/>
          <p:cNvPicPr preferRelativeResize="0"/>
          <p:nvPr/>
        </p:nvPicPr>
        <p:blipFill rotWithShape="1">
          <a:blip r:embed="rId3">
            <a:alphaModFix/>
          </a:blip>
          <a:srcRect/>
          <a:stretch/>
        </p:blipFill>
        <p:spPr>
          <a:xfrm>
            <a:off x="304800" y="1657350"/>
            <a:ext cx="2676525" cy="2676525"/>
          </a:xfrm>
          <a:prstGeom prst="rect">
            <a:avLst/>
          </a:prstGeom>
          <a:noFill/>
          <a:ln>
            <a:noFill/>
          </a:ln>
        </p:spPr>
      </p:pic>
      <p:sp>
        <p:nvSpPr>
          <p:cNvPr id="105" name="Google Shape;105;p3"/>
          <p:cNvSpPr/>
          <p:nvPr/>
        </p:nvSpPr>
        <p:spPr>
          <a:xfrm>
            <a:off x="3200400" y="1941314"/>
            <a:ext cx="5943600" cy="21544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70C0"/>
                </a:solidFill>
                <a:latin typeface="Calibri"/>
                <a:ea typeface="Calibri"/>
                <a:cs typeface="Calibri"/>
                <a:sym typeface="Calibri"/>
              </a:rPr>
              <a:t>Two areas of Statistics: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70C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E36C09"/>
                </a:solidFill>
                <a:latin typeface="Calibri"/>
                <a:ea typeface="Calibri"/>
                <a:cs typeface="Calibri"/>
                <a:sym typeface="Calibri"/>
              </a:rPr>
              <a:t>Descriptive statistics </a:t>
            </a:r>
            <a:r>
              <a:rPr lang="en-US" sz="1800" b="0" i="0" u="none" strike="noStrike" cap="none">
                <a:solidFill>
                  <a:srgbClr val="E36C09"/>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Methods of organizing, summarizing, and presenting data in an informative way</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E36C09"/>
                </a:solidFill>
                <a:latin typeface="Calibri"/>
                <a:ea typeface="Calibri"/>
                <a:cs typeface="Calibri"/>
                <a:sym typeface="Calibri"/>
              </a:rPr>
              <a:t>Inferential statistics </a:t>
            </a:r>
            <a:r>
              <a:rPr lang="en-US" sz="1800" b="0" i="0" u="none" strike="noStrike" cap="none">
                <a:solidFill>
                  <a:srgbClr val="E36C09"/>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The methods used to determine something about a population on the basis of a sample</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hlink"/>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body" idx="1"/>
          </p:nvPr>
        </p:nvSpPr>
        <p:spPr>
          <a:xfrm>
            <a:off x="0" y="819150"/>
            <a:ext cx="90678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None/>
            </a:pPr>
            <a:r>
              <a:rPr lang="en-US" sz="2000" b="1"/>
              <a:t>      </a:t>
            </a:r>
            <a:r>
              <a:rPr lang="en-US" sz="2000" b="1">
                <a:solidFill>
                  <a:srgbClr val="0070C0"/>
                </a:solidFill>
              </a:rPr>
              <a:t>Descriptive statistics</a:t>
            </a:r>
            <a:r>
              <a:rPr lang="en-US" sz="2000">
                <a:solidFill>
                  <a:srgbClr val="0070C0"/>
                </a:solidFill>
              </a:rPr>
              <a:t> </a:t>
            </a:r>
            <a:r>
              <a:rPr lang="en-US" sz="2000"/>
              <a:t>are methods for organizing and summarizing data.  </a:t>
            </a:r>
            <a:endParaRPr/>
          </a:p>
          <a:p>
            <a:pPr marL="342900" lvl="0" indent="-342900" algn="l" rtl="0">
              <a:lnSpc>
                <a:spcPct val="90000"/>
              </a:lnSpc>
              <a:spcBef>
                <a:spcPts val="400"/>
              </a:spcBef>
              <a:spcAft>
                <a:spcPts val="0"/>
              </a:spcAft>
              <a:buClr>
                <a:schemeClr val="dk1"/>
              </a:buClr>
              <a:buSzPts val="2000"/>
              <a:buNone/>
            </a:pPr>
            <a:r>
              <a:rPr lang="en-US" sz="2000"/>
              <a:t>      For example, tables or graphs are used to organize data, and descriptive values such as the average score are used to summarize data.  </a:t>
            </a:r>
            <a:endParaRPr/>
          </a:p>
          <a:p>
            <a:pPr marL="342900" lvl="0" indent="-342900" algn="l" rtl="0">
              <a:lnSpc>
                <a:spcPct val="90000"/>
              </a:lnSpc>
              <a:spcBef>
                <a:spcPts val="400"/>
              </a:spcBef>
              <a:spcAft>
                <a:spcPts val="0"/>
              </a:spcAft>
              <a:buClr>
                <a:schemeClr val="dk1"/>
              </a:buClr>
              <a:buSzPts val="2000"/>
              <a:buNone/>
            </a:pPr>
            <a:r>
              <a:rPr lang="en-US" sz="2000"/>
              <a:t>      A descriptive value for a population is called a </a:t>
            </a:r>
            <a:r>
              <a:rPr lang="en-US" sz="2000" b="1">
                <a:solidFill>
                  <a:srgbClr val="E36C09"/>
                </a:solidFill>
              </a:rPr>
              <a:t>parameter</a:t>
            </a:r>
            <a:r>
              <a:rPr lang="en-US" sz="2000"/>
              <a:t> and a descriptive value for a sample is called a </a:t>
            </a:r>
            <a:r>
              <a:rPr lang="en-US" sz="2000" b="1">
                <a:solidFill>
                  <a:srgbClr val="E36C09"/>
                </a:solidFill>
              </a:rPr>
              <a:t>statistic</a:t>
            </a:r>
            <a:r>
              <a:rPr lang="en-US" sz="2000">
                <a:solidFill>
                  <a:srgbClr val="E36C09"/>
                </a:solidFill>
              </a:rPr>
              <a:t>. </a:t>
            </a:r>
            <a:endParaRPr/>
          </a:p>
          <a:p>
            <a:pPr marL="342900" lvl="0" indent="-139700" algn="l" rtl="0">
              <a:lnSpc>
                <a:spcPct val="100000"/>
              </a:lnSpc>
              <a:spcBef>
                <a:spcPts val="640"/>
              </a:spcBef>
              <a:spcAft>
                <a:spcPts val="0"/>
              </a:spcAft>
              <a:buClr>
                <a:schemeClr val="dk1"/>
              </a:buClr>
              <a:buSzPts val="3200"/>
              <a:buNone/>
            </a:pPr>
            <a:endParaRPr/>
          </a:p>
        </p:txBody>
      </p:sp>
      <p:sp>
        <p:nvSpPr>
          <p:cNvPr id="111" name="Google Shape;111;p5"/>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Descriptive Statistics</a:t>
            </a:r>
            <a:endParaRPr/>
          </a:p>
        </p:txBody>
      </p:sp>
      <p:sp>
        <p:nvSpPr>
          <p:cNvPr id="112" name="Google Shape;112;p5"/>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sp>
        <p:nvSpPr>
          <p:cNvPr id="113" name="Google Shape;113;p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a:t>
            </a:fld>
            <a:endParaRPr/>
          </a:p>
        </p:txBody>
      </p:sp>
      <p:sp>
        <p:nvSpPr>
          <p:cNvPr id="114" name="Google Shape;114;p5"/>
          <p:cNvSpPr/>
          <p:nvPr/>
        </p:nvSpPr>
        <p:spPr>
          <a:xfrm>
            <a:off x="914400" y="2343150"/>
            <a:ext cx="4572000" cy="2372957"/>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Collect data</a:t>
            </a:r>
            <a:endParaRPr sz="1400" b="0" i="0" u="none" strike="noStrike" cap="none">
              <a:solidFill>
                <a:srgbClr val="000000"/>
              </a:solidFill>
              <a:latin typeface="Arial"/>
              <a:ea typeface="Arial"/>
              <a:cs typeface="Arial"/>
              <a:sym typeface="Arial"/>
            </a:endParaRPr>
          </a:p>
          <a:p>
            <a:pPr marL="457200" marR="0" lvl="1" indent="0" algn="l" rtl="0">
              <a:lnSpc>
                <a:spcPct val="13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e.g., Survey</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Present data</a:t>
            </a:r>
            <a:endParaRPr sz="1400" b="0" i="0" u="none" strike="noStrike" cap="none">
              <a:solidFill>
                <a:srgbClr val="000000"/>
              </a:solidFill>
              <a:latin typeface="Arial"/>
              <a:ea typeface="Arial"/>
              <a:cs typeface="Arial"/>
              <a:sym typeface="Arial"/>
            </a:endParaRPr>
          </a:p>
          <a:p>
            <a:pPr marL="457200" marR="0" lvl="1" indent="0" algn="l" rtl="0">
              <a:lnSpc>
                <a:spcPct val="13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e.g., Tables and graphs</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Summarize data</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e.g., Sample mean = </a:t>
            </a:r>
            <a:endParaRPr sz="1400" b="0" i="0" u="none" strike="noStrike" cap="none">
              <a:solidFill>
                <a:srgbClr val="000000"/>
              </a:solidFill>
              <a:latin typeface="Arial"/>
              <a:ea typeface="Arial"/>
              <a:cs typeface="Arial"/>
              <a:sym typeface="Arial"/>
            </a:endParaRPr>
          </a:p>
        </p:txBody>
      </p:sp>
      <p:graphicFrame>
        <p:nvGraphicFramePr>
          <p:cNvPr id="115" name="Google Shape;115;p5"/>
          <p:cNvGraphicFramePr/>
          <p:nvPr/>
        </p:nvGraphicFramePr>
        <p:xfrm>
          <a:off x="2971800" y="4095750"/>
          <a:ext cx="762000" cy="785173"/>
        </p:xfrm>
        <a:graphic>
          <a:graphicData uri="http://schemas.openxmlformats.org/presentationml/2006/ole">
            <mc:AlternateContent xmlns:mc="http://schemas.openxmlformats.org/markup-compatibility/2006">
              <mc:Choice xmlns:v="urn:schemas-microsoft-com:vml" Requires="v">
                <p:oleObj r:id="rId3" imgW="762000" imgH="785173" progId="">
                  <p:embed/>
                </p:oleObj>
              </mc:Choice>
              <mc:Fallback>
                <p:oleObj r:id="rId3" imgW="762000" imgH="785173" progId="">
                  <p:embed/>
                  <p:pic>
                    <p:nvPicPr>
                      <p:cNvPr id="115" name="Google Shape;115;p5"/>
                      <p:cNvPicPr preferRelativeResize="0"/>
                      <p:nvPr/>
                    </p:nvPicPr>
                    <p:blipFill rotWithShape="1">
                      <a:blip r:embed="rId4">
                        <a:alphaModFix/>
                      </a:blip>
                      <a:srcRect/>
                      <a:stretch/>
                    </p:blipFill>
                    <p:spPr>
                      <a:xfrm>
                        <a:off x="2971800" y="4095750"/>
                        <a:ext cx="762000" cy="785173"/>
                      </a:xfrm>
                      <a:prstGeom prst="rect">
                        <a:avLst/>
                      </a:prstGeom>
                      <a:noFill/>
                      <a:ln>
                        <a:noFill/>
                      </a:ln>
                    </p:spPr>
                  </p:pic>
                </p:oleObj>
              </mc:Fallback>
            </mc:AlternateContent>
          </a:graphicData>
        </a:graphic>
      </p:graphicFrame>
      <p:cxnSp>
        <p:nvCxnSpPr>
          <p:cNvPr id="116" name="Google Shape;116;p5"/>
          <p:cNvCxnSpPr/>
          <p:nvPr/>
        </p:nvCxnSpPr>
        <p:spPr>
          <a:xfrm>
            <a:off x="7010400" y="3678238"/>
            <a:ext cx="1588" cy="990600"/>
          </a:xfrm>
          <a:prstGeom prst="straightConnector1">
            <a:avLst/>
          </a:prstGeom>
          <a:noFill/>
          <a:ln w="9525" cap="flat" cmpd="sng">
            <a:solidFill>
              <a:schemeClr val="dk1"/>
            </a:solidFill>
            <a:prstDash val="solid"/>
            <a:miter lim="800000"/>
            <a:headEnd type="none" w="sm" len="sm"/>
            <a:tailEnd type="none" w="sm" len="sm"/>
          </a:ln>
        </p:spPr>
      </p:cxnSp>
      <p:cxnSp>
        <p:nvCxnSpPr>
          <p:cNvPr id="117" name="Google Shape;117;p5"/>
          <p:cNvCxnSpPr/>
          <p:nvPr/>
        </p:nvCxnSpPr>
        <p:spPr>
          <a:xfrm>
            <a:off x="7010400" y="4668838"/>
            <a:ext cx="1600200" cy="1587"/>
          </a:xfrm>
          <a:prstGeom prst="straightConnector1">
            <a:avLst/>
          </a:prstGeom>
          <a:noFill/>
          <a:ln w="9525" cap="flat" cmpd="sng">
            <a:solidFill>
              <a:schemeClr val="dk1"/>
            </a:solidFill>
            <a:prstDash val="solid"/>
            <a:miter lim="800000"/>
            <a:headEnd type="none" w="sm" len="sm"/>
            <a:tailEnd type="none" w="sm" len="sm"/>
          </a:ln>
        </p:spPr>
      </p:cxnSp>
      <p:sp>
        <p:nvSpPr>
          <p:cNvPr id="118" name="Google Shape;118;p5"/>
          <p:cNvSpPr/>
          <p:nvPr/>
        </p:nvSpPr>
        <p:spPr>
          <a:xfrm>
            <a:off x="7239000" y="4211638"/>
            <a:ext cx="152400" cy="457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19" name="Google Shape;119;p5"/>
          <p:cNvSpPr/>
          <p:nvPr/>
        </p:nvSpPr>
        <p:spPr>
          <a:xfrm>
            <a:off x="7391400" y="4287838"/>
            <a:ext cx="152400" cy="381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0" name="Google Shape;120;p5"/>
          <p:cNvSpPr/>
          <p:nvPr/>
        </p:nvSpPr>
        <p:spPr>
          <a:xfrm>
            <a:off x="7543800" y="3983038"/>
            <a:ext cx="152400" cy="6858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1" name="Google Shape;121;p5"/>
          <p:cNvSpPr/>
          <p:nvPr/>
        </p:nvSpPr>
        <p:spPr>
          <a:xfrm>
            <a:off x="7696200" y="4059238"/>
            <a:ext cx="152400" cy="609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2" name="Google Shape;122;p5"/>
          <p:cNvSpPr/>
          <p:nvPr/>
        </p:nvSpPr>
        <p:spPr>
          <a:xfrm>
            <a:off x="7848600" y="4211638"/>
            <a:ext cx="152400" cy="457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3" name="Google Shape;123;p5"/>
          <p:cNvSpPr/>
          <p:nvPr/>
        </p:nvSpPr>
        <p:spPr>
          <a:xfrm>
            <a:off x="8001000" y="4440238"/>
            <a:ext cx="152400" cy="228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4" name="Google Shape;124;p5"/>
          <p:cNvSpPr/>
          <p:nvPr/>
        </p:nvSpPr>
        <p:spPr>
          <a:xfrm>
            <a:off x="7086600" y="4440238"/>
            <a:ext cx="152400" cy="228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sp>
        <p:nvSpPr>
          <p:cNvPr id="125" name="Google Shape;125;p5"/>
          <p:cNvSpPr/>
          <p:nvPr/>
        </p:nvSpPr>
        <p:spPr>
          <a:xfrm>
            <a:off x="8153400" y="4516438"/>
            <a:ext cx="152400" cy="1524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ibre Baskerville"/>
              <a:ea typeface="Libre Baskerville"/>
              <a:cs typeface="Libre Baskerville"/>
              <a:sym typeface="Libre Baskerville"/>
            </a:endParaRPr>
          </a:p>
        </p:txBody>
      </p:sp>
      <p:grpSp>
        <p:nvGrpSpPr>
          <p:cNvPr id="126" name="Google Shape;126;p5"/>
          <p:cNvGrpSpPr/>
          <p:nvPr/>
        </p:nvGrpSpPr>
        <p:grpSpPr>
          <a:xfrm>
            <a:off x="3429000" y="2419350"/>
            <a:ext cx="990600" cy="962025"/>
            <a:chOff x="4114800" y="2114550"/>
            <a:chExt cx="990600" cy="962025"/>
          </a:xfrm>
        </p:grpSpPr>
        <p:pic>
          <p:nvPicPr>
            <p:cNvPr id="127" name="Google Shape;127;p5" descr="j0283537"/>
            <p:cNvPicPr preferRelativeResize="0"/>
            <p:nvPr/>
          </p:nvPicPr>
          <p:blipFill rotWithShape="1">
            <a:blip r:embed="rId5">
              <a:alphaModFix/>
            </a:blip>
            <a:srcRect/>
            <a:stretch/>
          </p:blipFill>
          <p:spPr>
            <a:xfrm>
              <a:off x="4114800" y="2114550"/>
              <a:ext cx="990600" cy="962025"/>
            </a:xfrm>
            <a:prstGeom prst="rect">
              <a:avLst/>
            </a:prstGeom>
            <a:noFill/>
            <a:ln>
              <a:noFill/>
            </a:ln>
          </p:spPr>
        </p:pic>
        <p:pic>
          <p:nvPicPr>
            <p:cNvPr id="128" name="Google Shape;128;p5" descr="check"/>
            <p:cNvPicPr preferRelativeResize="0"/>
            <p:nvPr/>
          </p:nvPicPr>
          <p:blipFill rotWithShape="1">
            <a:blip r:embed="rId6">
              <a:alphaModFix/>
            </a:blip>
            <a:srcRect/>
            <a:stretch/>
          </p:blipFill>
          <p:spPr>
            <a:xfrm>
              <a:off x="4648200" y="2743200"/>
              <a:ext cx="142875" cy="142875"/>
            </a:xfrm>
            <a:prstGeom prst="rect">
              <a:avLst/>
            </a:prstGeom>
            <a:noFill/>
            <a:ln>
              <a:noFill/>
            </a:ln>
          </p:spPr>
        </p:pic>
        <p:pic>
          <p:nvPicPr>
            <p:cNvPr id="129" name="Google Shape;129;p5" descr="check"/>
            <p:cNvPicPr preferRelativeResize="0"/>
            <p:nvPr/>
          </p:nvPicPr>
          <p:blipFill rotWithShape="1">
            <a:blip r:embed="rId6">
              <a:alphaModFix/>
            </a:blip>
            <a:srcRect/>
            <a:stretch/>
          </p:blipFill>
          <p:spPr>
            <a:xfrm>
              <a:off x="4724400" y="2895600"/>
              <a:ext cx="142875" cy="142875"/>
            </a:xfrm>
            <a:prstGeom prst="rect">
              <a:avLst/>
            </a:prstGeom>
            <a:noFill/>
            <a:ln>
              <a:noFill/>
            </a:ln>
          </p:spPr>
        </p:pic>
        <p:pic>
          <p:nvPicPr>
            <p:cNvPr id="130" name="Google Shape;130;p5" descr="check"/>
            <p:cNvPicPr preferRelativeResize="0"/>
            <p:nvPr/>
          </p:nvPicPr>
          <p:blipFill rotWithShape="1">
            <a:blip r:embed="rId6">
              <a:alphaModFix/>
            </a:blip>
            <a:srcRect/>
            <a:stretch/>
          </p:blipFill>
          <p:spPr>
            <a:xfrm>
              <a:off x="4572000" y="2590800"/>
              <a:ext cx="142875" cy="142875"/>
            </a:xfrm>
            <a:prstGeom prst="rect">
              <a:avLst/>
            </a:prstGeom>
            <a:noFill/>
            <a:ln>
              <a:noFill/>
            </a:ln>
          </p:spPr>
        </p:pic>
      </p:grpSp>
      <p:graphicFrame>
        <p:nvGraphicFramePr>
          <p:cNvPr id="131" name="Google Shape;131;p5"/>
          <p:cNvGraphicFramePr/>
          <p:nvPr/>
        </p:nvGraphicFramePr>
        <p:xfrm>
          <a:off x="4876800" y="3257550"/>
          <a:ext cx="1803400" cy="1274762"/>
        </p:xfrm>
        <a:graphic>
          <a:graphicData uri="http://schemas.openxmlformats.org/presentationml/2006/ole">
            <mc:AlternateContent xmlns:mc="http://schemas.openxmlformats.org/markup-compatibility/2006">
              <mc:Choice xmlns:v="urn:schemas-microsoft-com:vml" Requires="v">
                <p:oleObj r:id="rId7" imgW="1803400" imgH="1274762" progId="">
                  <p:embed/>
                </p:oleObj>
              </mc:Choice>
              <mc:Fallback>
                <p:oleObj r:id="rId7" imgW="1803400" imgH="1274762" progId="">
                  <p:embed/>
                  <p:pic>
                    <p:nvPicPr>
                      <p:cNvPr id="131" name="Google Shape;131;p5"/>
                      <p:cNvPicPr preferRelativeResize="0"/>
                      <p:nvPr/>
                    </p:nvPicPr>
                    <p:blipFill rotWithShape="1">
                      <a:blip r:embed="rId8">
                        <a:alphaModFix/>
                      </a:blip>
                      <a:srcRect/>
                      <a:stretch/>
                    </p:blipFill>
                    <p:spPr>
                      <a:xfrm>
                        <a:off x="4876800" y="3257550"/>
                        <a:ext cx="1803400" cy="1274762"/>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6"/>
          <p:cNvPicPr preferRelativeResize="0"/>
          <p:nvPr/>
        </p:nvPicPr>
        <p:blipFill rotWithShape="1">
          <a:blip r:embed="rId3">
            <a:alphaModFix/>
          </a:blip>
          <a:srcRect/>
          <a:stretch/>
        </p:blipFill>
        <p:spPr>
          <a:xfrm>
            <a:off x="6172200" y="2190750"/>
            <a:ext cx="3124200" cy="3048000"/>
          </a:xfrm>
          <a:prstGeom prst="rect">
            <a:avLst/>
          </a:prstGeom>
          <a:noFill/>
          <a:ln>
            <a:noFill/>
          </a:ln>
        </p:spPr>
      </p:pic>
      <p:sp>
        <p:nvSpPr>
          <p:cNvPr id="137" name="Google Shape;137;p6"/>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Inferential Statistics</a:t>
            </a:r>
            <a:endParaRPr/>
          </a:p>
        </p:txBody>
      </p:sp>
      <p:sp>
        <p:nvSpPr>
          <p:cNvPr id="138" name="Google Shape;138;p6"/>
          <p:cNvSpPr txBox="1">
            <a:spLocks noGrp="1"/>
          </p:cNvSpPr>
          <p:nvPr>
            <p:ph type="body" idx="1"/>
          </p:nvPr>
        </p:nvSpPr>
        <p:spPr>
          <a:xfrm>
            <a:off x="304800" y="819150"/>
            <a:ext cx="88392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0070C0"/>
              </a:buClr>
              <a:buSzPts val="1800"/>
              <a:buChar char="•"/>
            </a:pPr>
            <a:r>
              <a:rPr lang="en-US" sz="1800" b="1">
                <a:solidFill>
                  <a:srgbClr val="0070C0"/>
                </a:solidFill>
              </a:rPr>
              <a:t>Inferential statistics</a:t>
            </a:r>
            <a:r>
              <a:rPr lang="en-US" sz="1800">
                <a:solidFill>
                  <a:srgbClr val="0070C0"/>
                </a:solidFill>
              </a:rPr>
              <a:t> </a:t>
            </a:r>
            <a:r>
              <a:rPr lang="en-US" sz="1800"/>
              <a:t>are methods for using sample data to make general conclusions (inferences) about populations.  </a:t>
            </a:r>
            <a:endParaRPr/>
          </a:p>
          <a:p>
            <a:pPr marL="342900" lvl="0" indent="-342900" algn="l" rtl="0">
              <a:lnSpc>
                <a:spcPct val="100000"/>
              </a:lnSpc>
              <a:spcBef>
                <a:spcPts val="360"/>
              </a:spcBef>
              <a:spcAft>
                <a:spcPts val="0"/>
              </a:spcAft>
              <a:buClr>
                <a:schemeClr val="dk1"/>
              </a:buClr>
              <a:buSzPts val="1800"/>
              <a:buChar char="•"/>
            </a:pPr>
            <a:r>
              <a:rPr lang="en-US" sz="1800"/>
              <a:t>Because a sample is typically only a part of the whole population, sample data provide only limited information about the population.  As a result, sample statistics are generally imperfect representatives of the corresponding population parameters. </a:t>
            </a:r>
            <a:endParaRPr/>
          </a:p>
          <a:p>
            <a:pPr marL="342900" lvl="0" indent="-139700" algn="l" rtl="0">
              <a:lnSpc>
                <a:spcPct val="100000"/>
              </a:lnSpc>
              <a:spcBef>
                <a:spcPts val="640"/>
              </a:spcBef>
              <a:spcAft>
                <a:spcPts val="0"/>
              </a:spcAft>
              <a:buClr>
                <a:schemeClr val="dk1"/>
              </a:buClr>
              <a:buSzPts val="3200"/>
              <a:buNone/>
            </a:pPr>
            <a:endParaRPr/>
          </a:p>
        </p:txBody>
      </p:sp>
      <p:sp>
        <p:nvSpPr>
          <p:cNvPr id="139" name="Google Shape;139;p6"/>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40" name="Google Shape;140;p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a:t>
            </a:fld>
            <a:endParaRPr/>
          </a:p>
        </p:txBody>
      </p:sp>
      <p:sp>
        <p:nvSpPr>
          <p:cNvPr id="141" name="Google Shape;141;p6"/>
          <p:cNvSpPr txBox="1"/>
          <p:nvPr/>
        </p:nvSpPr>
        <p:spPr>
          <a:xfrm>
            <a:off x="349475" y="2346600"/>
            <a:ext cx="5867400" cy="22755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1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Estimation</a:t>
            </a:r>
            <a:endParaRPr sz="1400" b="0" i="0" u="none" strike="noStrike" cap="none">
              <a:solidFill>
                <a:srgbClr val="000000"/>
              </a:solidFill>
              <a:latin typeface="Arial"/>
              <a:ea typeface="Arial"/>
              <a:cs typeface="Arial"/>
              <a:sym typeface="Arial"/>
            </a:endParaRPr>
          </a:p>
          <a:p>
            <a:pPr marL="742950" marR="0" lvl="1" indent="-285750" algn="l" rtl="0">
              <a:lnSpc>
                <a:spcPct val="11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e.g., Estimate the population mean weight using the sample mean weight</a:t>
            </a:r>
            <a:endParaRPr sz="1400" b="0" i="0" u="none" strike="noStrike" cap="none">
              <a:solidFill>
                <a:srgbClr val="000000"/>
              </a:solidFill>
              <a:latin typeface="Arial"/>
              <a:ea typeface="Arial"/>
              <a:cs typeface="Arial"/>
              <a:sym typeface="Arial"/>
            </a:endParaRPr>
          </a:p>
          <a:p>
            <a:pPr marL="342900" marR="0" lvl="0" indent="-342900" algn="l" rtl="0">
              <a:lnSpc>
                <a:spcPct val="11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Hypothesis testing</a:t>
            </a:r>
            <a:endParaRPr sz="1400" b="0" i="0" u="none" strike="noStrike" cap="none">
              <a:solidFill>
                <a:srgbClr val="000000"/>
              </a:solidFill>
              <a:latin typeface="Arial"/>
              <a:ea typeface="Arial"/>
              <a:cs typeface="Arial"/>
              <a:sym typeface="Arial"/>
            </a:endParaRPr>
          </a:p>
          <a:p>
            <a:pPr marL="742950" marR="0" lvl="1" indent="-285750" algn="l" rtl="0">
              <a:lnSpc>
                <a:spcPct val="11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e.g., Test the claim that the population mean weight is 70 kg</a:t>
            </a:r>
            <a:endParaRPr sz="1400" b="0" i="0" u="none" strike="noStrike" cap="none">
              <a:solidFill>
                <a:srgbClr val="000000"/>
              </a:solidFill>
              <a:latin typeface="Arial"/>
              <a:ea typeface="Arial"/>
              <a:cs typeface="Arial"/>
              <a:sym typeface="Arial"/>
            </a:endParaRPr>
          </a:p>
        </p:txBody>
      </p:sp>
      <p:sp>
        <p:nvSpPr>
          <p:cNvPr id="142" name="Google Shape;142;p6"/>
          <p:cNvSpPr/>
          <p:nvPr/>
        </p:nvSpPr>
        <p:spPr>
          <a:xfrm>
            <a:off x="0" y="4608505"/>
            <a:ext cx="9144000" cy="272895"/>
          </a:xfrm>
          <a:prstGeom prst="rect">
            <a:avLst/>
          </a:prstGeom>
          <a:solidFill>
            <a:srgbClr val="CBDDF7"/>
          </a:solidFill>
          <a:ln>
            <a:noFill/>
          </a:ln>
        </p:spPr>
        <p:txBody>
          <a:bodyPr spcFirstLastPara="1" wrap="square" lIns="90475" tIns="44450" rIns="90475" bIns="44450" anchor="t" anchorCtr="0">
            <a:spAutoFit/>
          </a:bodyPr>
          <a:lstStyle/>
          <a:p>
            <a:pPr marL="0" marR="0" lvl="0" indent="0" algn="ctr" rtl="0">
              <a:lnSpc>
                <a:spcPct val="80000"/>
              </a:lnSpc>
              <a:spcBef>
                <a:spcPts val="0"/>
              </a:spcBef>
              <a:spcAft>
                <a:spcPts val="0"/>
              </a:spcAft>
              <a:buClr>
                <a:srgbClr val="000000"/>
              </a:buClr>
              <a:buSzPts val="1400"/>
              <a:buFont typeface="Arial"/>
              <a:buNone/>
            </a:pPr>
            <a:r>
              <a:rPr lang="en-US" sz="1400" b="1" i="0" u="none" strike="noStrike" cap="none">
                <a:solidFill>
                  <a:srgbClr val="0070C0"/>
                </a:solidFill>
                <a:latin typeface="Libre Baskerville"/>
                <a:ea typeface="Libre Baskerville"/>
                <a:cs typeface="Libre Baskerville"/>
                <a:sym typeface="Libre Baskerville"/>
              </a:rPr>
              <a:t>Inference</a:t>
            </a:r>
            <a:r>
              <a:rPr lang="en-US" sz="1400" b="1" i="0" u="none" strike="noStrike" cap="none">
                <a:solidFill>
                  <a:schemeClr val="dk1"/>
                </a:solidFill>
                <a:latin typeface="Libre Baskerville"/>
                <a:ea typeface="Libre Baskerville"/>
                <a:cs typeface="Libre Baskerville"/>
                <a:sym typeface="Libre Baskerville"/>
              </a:rPr>
              <a:t> is the process of drawing conclusions or making decisions about a </a:t>
            </a:r>
            <a:r>
              <a:rPr lang="en-US" sz="1400" b="1" i="0" u="none" strike="noStrike" cap="none">
                <a:solidFill>
                  <a:srgbClr val="E36C09"/>
                </a:solidFill>
                <a:latin typeface="Libre Baskerville"/>
                <a:ea typeface="Libre Baskerville"/>
                <a:cs typeface="Libre Baskerville"/>
                <a:sym typeface="Libre Baskerville"/>
              </a:rPr>
              <a:t>population</a:t>
            </a:r>
            <a:r>
              <a:rPr lang="en-US" sz="1400" b="1" i="0" u="none" strike="noStrike" cap="none">
                <a:solidFill>
                  <a:schemeClr val="dk1"/>
                </a:solidFill>
                <a:latin typeface="Libre Baskerville"/>
                <a:ea typeface="Libre Baskerville"/>
                <a:cs typeface="Libre Baskerville"/>
                <a:sym typeface="Libre Baskerville"/>
              </a:rPr>
              <a:t> based on </a:t>
            </a:r>
            <a:r>
              <a:rPr lang="en-US" sz="1400" b="1" i="0" u="none" strike="noStrike" cap="none">
                <a:solidFill>
                  <a:srgbClr val="E36C09"/>
                </a:solidFill>
                <a:latin typeface="Libre Baskerville"/>
                <a:ea typeface="Libre Baskerville"/>
                <a:cs typeface="Libre Baskerville"/>
                <a:sym typeface="Libre Baskerville"/>
              </a:rPr>
              <a:t>sample</a:t>
            </a:r>
            <a:r>
              <a:rPr lang="en-US" sz="1400" b="1" i="0" u="none" strike="noStrike" cap="none">
                <a:solidFill>
                  <a:schemeClr val="dk1"/>
                </a:solidFill>
                <a:latin typeface="Libre Baskerville"/>
                <a:ea typeface="Libre Baskerville"/>
                <a:cs typeface="Libre Baskerville"/>
                <a:sym typeface="Libre Baskerville"/>
              </a:rPr>
              <a:t> results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txBox="1">
            <a:spLocks noGrp="1"/>
          </p:cNvSpPr>
          <p:nvPr>
            <p:ph type="title"/>
          </p:nvPr>
        </p:nvSpPr>
        <p:spPr>
          <a:xfrm>
            <a:off x="457200" y="133350"/>
            <a:ext cx="5791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Definitions of Basic Terms</a:t>
            </a:r>
            <a:endParaRPr/>
          </a:p>
        </p:txBody>
      </p:sp>
      <p:sp>
        <p:nvSpPr>
          <p:cNvPr id="148" name="Google Shape;148;p7"/>
          <p:cNvSpPr txBox="1">
            <a:spLocks noGrp="1"/>
          </p:cNvSpPr>
          <p:nvPr>
            <p:ph type="body" idx="1"/>
          </p:nvPr>
        </p:nvSpPr>
        <p:spPr>
          <a:xfrm>
            <a:off x="304800" y="819150"/>
            <a:ext cx="8610600" cy="33944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70C0"/>
              </a:buClr>
              <a:buSzPts val="1800"/>
              <a:buFont typeface="Calibri"/>
              <a:buNone/>
            </a:pPr>
            <a:r>
              <a:rPr lang="en-US" sz="1800" b="1">
                <a:solidFill>
                  <a:srgbClr val="0070C0"/>
                </a:solidFill>
              </a:rPr>
              <a:t>Population</a:t>
            </a:r>
            <a:r>
              <a:rPr lang="en-US" sz="1800">
                <a:solidFill>
                  <a:srgbClr val="0070C0"/>
                </a:solidFill>
              </a:rPr>
              <a:t>:</a:t>
            </a:r>
            <a:r>
              <a:rPr lang="en-US" sz="1800"/>
              <a:t> A collection, or set, of individuals or objects or events whose properties are to be analyzed.</a:t>
            </a:r>
            <a:endParaRPr sz="1800"/>
          </a:p>
          <a:p>
            <a:pPr marL="0" lvl="0" indent="0" algn="l" rtl="0">
              <a:lnSpc>
                <a:spcPct val="100000"/>
              </a:lnSpc>
              <a:spcBef>
                <a:spcPts val="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chemeClr val="dk1"/>
              </a:buClr>
              <a:buSzPts val="1800"/>
              <a:buFont typeface="Calibri"/>
              <a:buNone/>
            </a:pPr>
            <a:r>
              <a:rPr lang="en-US" sz="1800"/>
              <a:t>Two kinds of populations: </a:t>
            </a:r>
            <a:r>
              <a:rPr lang="en-US" sz="1800" i="1">
                <a:solidFill>
                  <a:srgbClr val="E36C09"/>
                </a:solidFill>
              </a:rPr>
              <a:t>finite</a:t>
            </a:r>
            <a:r>
              <a:rPr lang="en-US" sz="1800">
                <a:solidFill>
                  <a:srgbClr val="E36C09"/>
                </a:solidFill>
              </a:rPr>
              <a:t> </a:t>
            </a:r>
            <a:r>
              <a:rPr lang="en-US" sz="1800"/>
              <a:t>or </a:t>
            </a:r>
            <a:r>
              <a:rPr lang="en-US" sz="1800" i="1">
                <a:solidFill>
                  <a:srgbClr val="E36C09"/>
                </a:solidFill>
              </a:rPr>
              <a:t>infinite</a:t>
            </a:r>
            <a:r>
              <a:rPr lang="en-US" sz="1800">
                <a:solidFill>
                  <a:srgbClr val="E36C09"/>
                </a:solidFill>
              </a:rPr>
              <a:t>.</a:t>
            </a:r>
            <a:endParaRPr/>
          </a:p>
          <a:p>
            <a:pPr marL="0" lvl="0" indent="0" algn="l" rtl="0">
              <a:lnSpc>
                <a:spcPct val="100000"/>
              </a:lnSpc>
              <a:spcBef>
                <a:spcPts val="200"/>
              </a:spcBef>
              <a:spcAft>
                <a:spcPts val="0"/>
              </a:spcAft>
              <a:buClr>
                <a:schemeClr val="dk1"/>
              </a:buClr>
              <a:buSzPts val="1000"/>
              <a:buFont typeface="Calibri"/>
              <a:buNone/>
            </a:pPr>
            <a:endParaRPr sz="1000">
              <a:solidFill>
                <a:srgbClr val="E36C09"/>
              </a:solidFill>
            </a:endParaRPr>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Sample</a:t>
            </a:r>
            <a:r>
              <a:rPr lang="en-US" sz="1800">
                <a:solidFill>
                  <a:srgbClr val="0070C0"/>
                </a:solidFill>
              </a:rPr>
              <a:t>: </a:t>
            </a:r>
            <a:r>
              <a:rPr lang="en-US" sz="1800"/>
              <a:t>A subset of the population.</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Variable</a:t>
            </a:r>
            <a:r>
              <a:rPr lang="en-US" sz="1800">
                <a:solidFill>
                  <a:srgbClr val="0070C0"/>
                </a:solidFill>
              </a:rPr>
              <a:t>: </a:t>
            </a:r>
            <a:r>
              <a:rPr lang="en-US" sz="1800"/>
              <a:t>A characteristic about each individual element of a population or sample.</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Data (singular)</a:t>
            </a:r>
            <a:r>
              <a:rPr lang="en-US" sz="1800">
                <a:solidFill>
                  <a:srgbClr val="0070C0"/>
                </a:solidFill>
              </a:rPr>
              <a:t>: </a:t>
            </a:r>
            <a:r>
              <a:rPr lang="en-US" sz="1800"/>
              <a:t>The value of the variable associated with one element of a population or sample.  This value may be a number, a word, or a symbol.</a:t>
            </a:r>
            <a:endParaRPr/>
          </a:p>
          <a:p>
            <a:pPr marL="0" lvl="0" indent="0" algn="l" rtl="0">
              <a:lnSpc>
                <a:spcPct val="100000"/>
              </a:lnSpc>
              <a:spcBef>
                <a:spcPts val="360"/>
              </a:spcBef>
              <a:spcAft>
                <a:spcPts val="0"/>
              </a:spcAft>
              <a:buClr>
                <a:srgbClr val="0070C0"/>
              </a:buClr>
              <a:buSzPts val="1800"/>
              <a:buFont typeface="Calibri"/>
              <a:buNone/>
            </a:pPr>
            <a:endParaRPr/>
          </a:p>
          <a:p>
            <a:pPr marL="0" lvl="0" indent="0" algn="l" rtl="0">
              <a:lnSpc>
                <a:spcPct val="100000"/>
              </a:lnSpc>
              <a:spcBef>
                <a:spcPts val="320"/>
              </a:spcBef>
              <a:spcAft>
                <a:spcPts val="0"/>
              </a:spcAft>
              <a:buClr>
                <a:schemeClr val="dk1"/>
              </a:buClr>
              <a:buSzPts val="1600"/>
              <a:buFont typeface="Calibri"/>
              <a:buNone/>
            </a:pPr>
            <a:endParaRPr sz="1600"/>
          </a:p>
        </p:txBody>
      </p:sp>
      <p:sp>
        <p:nvSpPr>
          <p:cNvPr id="149" name="Google Shape;149;p7"/>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50" name="Google Shape;150;p7"/>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fcf1c9e0e0_0_8"/>
          <p:cNvSpPr txBox="1">
            <a:spLocks noGrp="1"/>
          </p:cNvSpPr>
          <p:nvPr>
            <p:ph type="body" idx="1"/>
          </p:nvPr>
        </p:nvSpPr>
        <p:spPr>
          <a:xfrm>
            <a:off x="304800" y="819150"/>
            <a:ext cx="8610600" cy="3852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Data (plural)</a:t>
            </a:r>
            <a:r>
              <a:rPr lang="en-US" sz="1800">
                <a:solidFill>
                  <a:srgbClr val="0070C0"/>
                </a:solidFill>
              </a:rPr>
              <a:t>: </a:t>
            </a:r>
            <a:r>
              <a:rPr lang="en-US" sz="1800"/>
              <a:t>The set of values collected for the variable from each of the elements belonging to the sample.</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Random Variable</a:t>
            </a:r>
            <a:r>
              <a:rPr lang="en-US" sz="1800">
                <a:solidFill>
                  <a:srgbClr val="0070C0"/>
                </a:solidFill>
              </a:rPr>
              <a:t>: </a:t>
            </a:r>
            <a:r>
              <a:rPr lang="en-US" sz="1800"/>
              <a:t>Placeholder to store values - a number, string, or object that may vary</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Experiment</a:t>
            </a:r>
            <a:r>
              <a:rPr lang="en-US" sz="1800">
                <a:solidFill>
                  <a:srgbClr val="0070C0"/>
                </a:solidFill>
              </a:rPr>
              <a:t>: </a:t>
            </a:r>
            <a:r>
              <a:rPr lang="en-US" sz="1800"/>
              <a:t>A planned activity whose results yield a set of data.</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Parameter</a:t>
            </a:r>
            <a:r>
              <a:rPr lang="en-US" sz="1800">
                <a:solidFill>
                  <a:srgbClr val="0070C0"/>
                </a:solidFill>
              </a:rPr>
              <a:t>: </a:t>
            </a:r>
            <a:r>
              <a:rPr lang="en-US" sz="1800"/>
              <a:t>A numerical value summarizing all the data of an entire population.</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r>
              <a:rPr lang="en-US" sz="1800" b="1">
                <a:solidFill>
                  <a:srgbClr val="0070C0"/>
                </a:solidFill>
              </a:rPr>
              <a:t>Statistic</a:t>
            </a:r>
            <a:r>
              <a:rPr lang="en-US" sz="1800">
                <a:solidFill>
                  <a:srgbClr val="0070C0"/>
                </a:solidFill>
              </a:rPr>
              <a:t>: </a:t>
            </a:r>
            <a:r>
              <a:rPr lang="en-US" sz="1800"/>
              <a:t>A numerical value summarizing the sample data.</a:t>
            </a: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60"/>
              </a:spcBef>
              <a:spcAft>
                <a:spcPts val="0"/>
              </a:spcAft>
              <a:buClr>
                <a:srgbClr val="0070C0"/>
              </a:buClr>
              <a:buSzPts val="1800"/>
              <a:buFont typeface="Calibri"/>
              <a:buNone/>
            </a:pPr>
            <a:endParaRPr sz="1800"/>
          </a:p>
          <a:p>
            <a:pPr marL="0" lvl="0" indent="0" algn="l" rtl="0">
              <a:lnSpc>
                <a:spcPct val="100000"/>
              </a:lnSpc>
              <a:spcBef>
                <a:spcPts val="320"/>
              </a:spcBef>
              <a:spcAft>
                <a:spcPts val="0"/>
              </a:spcAft>
              <a:buClr>
                <a:schemeClr val="dk1"/>
              </a:buClr>
              <a:buSzPts val="1600"/>
              <a:buFont typeface="Calibri"/>
              <a:buNone/>
            </a:pPr>
            <a:endParaRPr sz="1600"/>
          </a:p>
        </p:txBody>
      </p:sp>
      <p:sp>
        <p:nvSpPr>
          <p:cNvPr id="156" name="Google Shape;156;gfcf1c9e0e0_0_8"/>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57" name="Google Shape;157;gfcf1c9e0e0_0_8"/>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a:t>
            </a:fld>
            <a:endParaRPr/>
          </a:p>
        </p:txBody>
      </p:sp>
      <p:sp>
        <p:nvSpPr>
          <p:cNvPr id="158" name="Google Shape;158;gfcf1c9e0e0_0_8"/>
          <p:cNvSpPr txBox="1">
            <a:spLocks noGrp="1"/>
          </p:cNvSpPr>
          <p:nvPr>
            <p:ph type="title"/>
          </p:nvPr>
        </p:nvSpPr>
        <p:spPr>
          <a:xfrm>
            <a:off x="457200" y="133350"/>
            <a:ext cx="5791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Definitions of Basic Terms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Examples</a:t>
            </a:r>
            <a:endParaRPr>
              <a:solidFill>
                <a:srgbClr val="538CD5"/>
              </a:solidFill>
            </a:endParaRPr>
          </a:p>
        </p:txBody>
      </p:sp>
      <p:sp>
        <p:nvSpPr>
          <p:cNvPr id="164" name="Google Shape;164;p8"/>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3200"/>
              <a:buNone/>
            </a:pPr>
            <a:endParaRPr/>
          </a:p>
        </p:txBody>
      </p:sp>
      <p:sp>
        <p:nvSpPr>
          <p:cNvPr id="165" name="Google Shape;165;p8"/>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66" name="Google Shape;166;p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8</a:t>
            </a:fld>
            <a:endParaRPr/>
          </a:p>
        </p:txBody>
      </p:sp>
      <p:pic>
        <p:nvPicPr>
          <p:cNvPr id="167" name="Google Shape;167;p8"/>
          <p:cNvPicPr preferRelativeResize="0"/>
          <p:nvPr/>
        </p:nvPicPr>
        <p:blipFill rotWithShape="1">
          <a:blip r:embed="rId3">
            <a:alphaModFix/>
          </a:blip>
          <a:srcRect t="10651" b="10651"/>
          <a:stretch/>
        </p:blipFill>
        <p:spPr>
          <a:xfrm>
            <a:off x="-4011" y="686394"/>
            <a:ext cx="9144000" cy="40457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0"/>
          <p:cNvSpPr txBox="1">
            <a:spLocks noGrp="1"/>
          </p:cNvSpPr>
          <p:nvPr>
            <p:ph type="title"/>
          </p:nvPr>
        </p:nvSpPr>
        <p:spPr>
          <a:xfrm>
            <a:off x="457200" y="133350"/>
            <a:ext cx="41148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Types of Data</a:t>
            </a:r>
            <a:endParaRPr>
              <a:solidFill>
                <a:srgbClr val="538CD5"/>
              </a:solidFill>
            </a:endParaRPr>
          </a:p>
        </p:txBody>
      </p:sp>
      <p:sp>
        <p:nvSpPr>
          <p:cNvPr id="173" name="Google Shape;173;p10"/>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sp>
        <p:nvSpPr>
          <p:cNvPr id="174" name="Google Shape;174;p10"/>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9</a:t>
            </a:fld>
            <a:endParaRPr/>
          </a:p>
        </p:txBody>
      </p:sp>
      <p:pic>
        <p:nvPicPr>
          <p:cNvPr id="175" name="Google Shape;175;p10" descr="Image result for nominal data types"/>
          <p:cNvPicPr preferRelativeResize="0"/>
          <p:nvPr/>
        </p:nvPicPr>
        <p:blipFill rotWithShape="1">
          <a:blip r:embed="rId3">
            <a:alphaModFix/>
          </a:blip>
          <a:srcRect/>
          <a:stretch/>
        </p:blipFill>
        <p:spPr>
          <a:xfrm>
            <a:off x="774677" y="895350"/>
            <a:ext cx="6692923" cy="3733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Examples of variables</a:t>
            </a:r>
            <a:endParaRPr>
              <a:solidFill>
                <a:srgbClr val="538CD5"/>
              </a:solidFill>
            </a:endParaRPr>
          </a:p>
        </p:txBody>
      </p:sp>
      <p:sp>
        <p:nvSpPr>
          <p:cNvPr id="181" name="Google Shape;181;p11"/>
          <p:cNvSpPr txBox="1">
            <a:spLocks noGrp="1"/>
          </p:cNvSpPr>
          <p:nvPr>
            <p:ph type="body" idx="1"/>
          </p:nvPr>
        </p:nvSpPr>
        <p:spPr>
          <a:xfrm>
            <a:off x="457200" y="1047750"/>
            <a:ext cx="8686800" cy="339447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Clr>
                <a:srgbClr val="E36C09"/>
              </a:buClr>
              <a:buSzPct val="100000"/>
              <a:buFont typeface="Calibri"/>
              <a:buNone/>
            </a:pPr>
            <a:r>
              <a:rPr lang="en-US" sz="2200" i="1">
                <a:solidFill>
                  <a:srgbClr val="E36C09"/>
                </a:solidFill>
              </a:rPr>
              <a:t>Example</a:t>
            </a:r>
            <a:r>
              <a:rPr lang="en-US" sz="2200">
                <a:solidFill>
                  <a:srgbClr val="E36C09"/>
                </a:solidFill>
              </a:rPr>
              <a:t>: </a:t>
            </a:r>
            <a:r>
              <a:rPr lang="en-US" sz="2200"/>
              <a:t>Identify each of the following as examples of qualitative or numerical variables:</a:t>
            </a:r>
            <a:endParaRPr/>
          </a:p>
          <a:p>
            <a:pPr marL="0" lvl="0" indent="0" algn="l" rtl="0">
              <a:lnSpc>
                <a:spcPct val="100000"/>
              </a:lnSpc>
              <a:spcBef>
                <a:spcPts val="407"/>
              </a:spcBef>
              <a:spcAft>
                <a:spcPts val="0"/>
              </a:spcAft>
              <a:buClr>
                <a:schemeClr val="dk1"/>
              </a:buClr>
              <a:buSzPct val="100000"/>
              <a:buFont typeface="Calibri"/>
              <a:buNone/>
            </a:pPr>
            <a:r>
              <a:rPr lang="en-US" sz="2200"/>
              <a:t>1.	The temperature in Barrow, Alaska at 12:00 pm on any</a:t>
            </a:r>
            <a:endParaRPr/>
          </a:p>
          <a:p>
            <a:pPr marL="0" lvl="0" indent="0" algn="l" rtl="0">
              <a:lnSpc>
                <a:spcPct val="100000"/>
              </a:lnSpc>
              <a:spcBef>
                <a:spcPts val="407"/>
              </a:spcBef>
              <a:spcAft>
                <a:spcPts val="0"/>
              </a:spcAft>
              <a:buClr>
                <a:schemeClr val="dk1"/>
              </a:buClr>
              <a:buSzPct val="100000"/>
              <a:buFont typeface="Calibri"/>
              <a:buNone/>
            </a:pPr>
            <a:r>
              <a:rPr lang="en-US" sz="2200"/>
              <a:t>	given day.</a:t>
            </a:r>
            <a:endParaRPr/>
          </a:p>
          <a:p>
            <a:pPr marL="0" lvl="0" indent="0" algn="l" rtl="0">
              <a:lnSpc>
                <a:spcPct val="100000"/>
              </a:lnSpc>
              <a:spcBef>
                <a:spcPts val="407"/>
              </a:spcBef>
              <a:spcAft>
                <a:spcPts val="0"/>
              </a:spcAft>
              <a:buClr>
                <a:schemeClr val="dk1"/>
              </a:buClr>
              <a:buSzPct val="100000"/>
              <a:buFont typeface="Calibri"/>
              <a:buNone/>
            </a:pPr>
            <a:r>
              <a:rPr lang="en-US" sz="2200"/>
              <a:t>2.	The model of automobile.</a:t>
            </a:r>
            <a:endParaRPr/>
          </a:p>
          <a:p>
            <a:pPr marL="0" lvl="0" indent="0" algn="l" rtl="0">
              <a:lnSpc>
                <a:spcPct val="100000"/>
              </a:lnSpc>
              <a:spcBef>
                <a:spcPts val="407"/>
              </a:spcBef>
              <a:spcAft>
                <a:spcPts val="0"/>
              </a:spcAft>
              <a:buClr>
                <a:schemeClr val="dk1"/>
              </a:buClr>
              <a:buSzPct val="100000"/>
              <a:buFont typeface="Calibri"/>
              <a:buNone/>
            </a:pPr>
            <a:r>
              <a:rPr lang="en-US" sz="2200"/>
              <a:t>3.	Whether or not a 6 volt lantern battery is defective.</a:t>
            </a:r>
            <a:endParaRPr/>
          </a:p>
          <a:p>
            <a:pPr marL="0" lvl="0" indent="0" algn="l" rtl="0">
              <a:lnSpc>
                <a:spcPct val="100000"/>
              </a:lnSpc>
              <a:spcBef>
                <a:spcPts val="407"/>
              </a:spcBef>
              <a:spcAft>
                <a:spcPts val="0"/>
              </a:spcAft>
              <a:buClr>
                <a:schemeClr val="dk1"/>
              </a:buClr>
              <a:buSzPct val="100000"/>
              <a:buFont typeface="Calibri"/>
              <a:buNone/>
            </a:pPr>
            <a:r>
              <a:rPr lang="en-US" sz="2200"/>
              <a:t>4.	The weight of a lead pencil.</a:t>
            </a:r>
            <a:endParaRPr/>
          </a:p>
          <a:p>
            <a:pPr marL="0" lvl="0" indent="0" algn="l" rtl="0">
              <a:lnSpc>
                <a:spcPct val="100000"/>
              </a:lnSpc>
              <a:spcBef>
                <a:spcPts val="407"/>
              </a:spcBef>
              <a:spcAft>
                <a:spcPts val="0"/>
              </a:spcAft>
              <a:buClr>
                <a:schemeClr val="dk1"/>
              </a:buClr>
              <a:buSzPct val="100000"/>
              <a:buFont typeface="Calibri"/>
              <a:buNone/>
            </a:pPr>
            <a:r>
              <a:rPr lang="en-US" sz="2200"/>
              <a:t>5.	The length of time billed for a long distance telephone call.</a:t>
            </a:r>
            <a:endParaRPr/>
          </a:p>
          <a:p>
            <a:pPr marL="0" lvl="0" indent="0" algn="l" rtl="0">
              <a:lnSpc>
                <a:spcPct val="100000"/>
              </a:lnSpc>
              <a:spcBef>
                <a:spcPts val="407"/>
              </a:spcBef>
              <a:spcAft>
                <a:spcPts val="0"/>
              </a:spcAft>
              <a:buClr>
                <a:schemeClr val="dk1"/>
              </a:buClr>
              <a:buSzPct val="100000"/>
              <a:buFont typeface="Calibri"/>
              <a:buNone/>
            </a:pPr>
            <a:r>
              <a:rPr lang="en-US" sz="2200"/>
              <a:t>6.	The brand of cereal children eat for breakfast.</a:t>
            </a:r>
            <a:endParaRPr/>
          </a:p>
          <a:p>
            <a:pPr marL="0" lvl="0" indent="0" algn="l" rtl="0">
              <a:lnSpc>
                <a:spcPct val="100000"/>
              </a:lnSpc>
              <a:spcBef>
                <a:spcPts val="407"/>
              </a:spcBef>
              <a:spcAft>
                <a:spcPts val="0"/>
              </a:spcAft>
              <a:buClr>
                <a:schemeClr val="dk1"/>
              </a:buClr>
              <a:buSzPct val="100000"/>
              <a:buFont typeface="Calibri"/>
              <a:buNone/>
            </a:pPr>
            <a:r>
              <a:rPr lang="en-US" sz="2200"/>
              <a:t>7.	The type of book taken out of the library by an adult.</a:t>
            </a:r>
            <a:endParaRPr/>
          </a:p>
          <a:p>
            <a:pPr marL="342900" lvl="0" indent="-154940" algn="l" rtl="0">
              <a:lnSpc>
                <a:spcPct val="100000"/>
              </a:lnSpc>
              <a:spcBef>
                <a:spcPts val="592"/>
              </a:spcBef>
              <a:spcAft>
                <a:spcPts val="0"/>
              </a:spcAft>
              <a:buClr>
                <a:schemeClr val="dk1"/>
              </a:buClr>
              <a:buSzPct val="100000"/>
              <a:buNone/>
            </a:pPr>
            <a:endParaRPr/>
          </a:p>
        </p:txBody>
      </p:sp>
      <p:sp>
        <p:nvSpPr>
          <p:cNvPr id="182" name="Google Shape;182;p11"/>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83" name="Google Shape;183;p1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Examples of variables…</a:t>
            </a:r>
            <a:endParaRPr>
              <a:solidFill>
                <a:srgbClr val="538CD5"/>
              </a:solidFill>
            </a:endParaRPr>
          </a:p>
        </p:txBody>
      </p:sp>
      <p:sp>
        <p:nvSpPr>
          <p:cNvPr id="189" name="Google Shape;189;p12"/>
          <p:cNvSpPr txBox="1">
            <a:spLocks noGrp="1"/>
          </p:cNvSpPr>
          <p:nvPr>
            <p:ph type="body" idx="1"/>
          </p:nvPr>
        </p:nvSpPr>
        <p:spPr>
          <a:xfrm>
            <a:off x="457200" y="1047750"/>
            <a:ext cx="8229600" cy="3394472"/>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rgbClr val="E36C09"/>
              </a:buClr>
              <a:buSzPct val="100000"/>
              <a:buFont typeface="Calibri"/>
              <a:buNone/>
            </a:pPr>
            <a:r>
              <a:rPr lang="en-US" sz="2000" i="1">
                <a:solidFill>
                  <a:srgbClr val="E36C09"/>
                </a:solidFill>
              </a:rPr>
              <a:t>Example</a:t>
            </a:r>
            <a:r>
              <a:rPr lang="en-US" sz="2000">
                <a:solidFill>
                  <a:srgbClr val="E36C09"/>
                </a:solidFill>
              </a:rPr>
              <a:t>: </a:t>
            </a:r>
            <a:r>
              <a:rPr lang="en-US" sz="2000"/>
              <a:t>Identify each of the following as examples of</a:t>
            </a:r>
            <a:endParaRPr/>
          </a:p>
          <a:p>
            <a:pPr marL="457200" lvl="0" indent="-457200" algn="l" rtl="0">
              <a:lnSpc>
                <a:spcPct val="100000"/>
              </a:lnSpc>
              <a:spcBef>
                <a:spcPts val="370"/>
              </a:spcBef>
              <a:spcAft>
                <a:spcPts val="0"/>
              </a:spcAft>
              <a:buClr>
                <a:schemeClr val="dk1"/>
              </a:buClr>
              <a:buSzPct val="100000"/>
              <a:buFont typeface="Calibri"/>
              <a:buAutoNum type="arabicParenBoth"/>
            </a:pPr>
            <a:r>
              <a:rPr lang="en-US" sz="2000"/>
              <a:t>nominal, (2) ordinal, (3) discrete, or (4) continuous variables:</a:t>
            </a:r>
            <a:endParaRPr/>
          </a:p>
          <a:p>
            <a:pPr marL="457200" lvl="0" indent="-457200" algn="l" rtl="0">
              <a:lnSpc>
                <a:spcPct val="100000"/>
              </a:lnSpc>
              <a:spcBef>
                <a:spcPts val="370"/>
              </a:spcBef>
              <a:spcAft>
                <a:spcPts val="0"/>
              </a:spcAft>
              <a:buClr>
                <a:schemeClr val="dk1"/>
              </a:buClr>
              <a:buSzPct val="100000"/>
              <a:buNone/>
            </a:pPr>
            <a:endParaRPr sz="2000"/>
          </a:p>
          <a:p>
            <a:pPr marL="457200" lvl="0" indent="-457200" algn="l" rtl="0">
              <a:lnSpc>
                <a:spcPct val="100000"/>
              </a:lnSpc>
              <a:spcBef>
                <a:spcPts val="370"/>
              </a:spcBef>
              <a:spcAft>
                <a:spcPts val="0"/>
              </a:spcAft>
              <a:buClr>
                <a:schemeClr val="dk1"/>
              </a:buClr>
              <a:buSzPct val="100000"/>
              <a:buChar char="•"/>
            </a:pPr>
            <a:r>
              <a:rPr lang="en-US" sz="2000"/>
              <a:t>The length of time until a pain reliever begins to work.</a:t>
            </a:r>
            <a:endParaRPr/>
          </a:p>
          <a:p>
            <a:pPr marL="457200" lvl="0" indent="-457200" algn="l" rtl="0">
              <a:lnSpc>
                <a:spcPct val="100000"/>
              </a:lnSpc>
              <a:spcBef>
                <a:spcPts val="370"/>
              </a:spcBef>
              <a:spcAft>
                <a:spcPts val="0"/>
              </a:spcAft>
              <a:buClr>
                <a:schemeClr val="dk1"/>
              </a:buClr>
              <a:buSzPct val="100000"/>
              <a:buChar char="•"/>
            </a:pPr>
            <a:r>
              <a:rPr lang="en-US" sz="2000"/>
              <a:t>The number of chocolate chips in a cookie.</a:t>
            </a:r>
            <a:endParaRPr/>
          </a:p>
          <a:p>
            <a:pPr marL="457200" lvl="0" indent="-457200" algn="l" rtl="0">
              <a:lnSpc>
                <a:spcPct val="100000"/>
              </a:lnSpc>
              <a:spcBef>
                <a:spcPts val="370"/>
              </a:spcBef>
              <a:spcAft>
                <a:spcPts val="0"/>
              </a:spcAft>
              <a:buClr>
                <a:schemeClr val="dk1"/>
              </a:buClr>
              <a:buSzPct val="100000"/>
              <a:buChar char="•"/>
            </a:pPr>
            <a:r>
              <a:rPr lang="en-US" sz="2000"/>
              <a:t>The number of colors used in a statistics textbook.</a:t>
            </a:r>
            <a:endParaRPr/>
          </a:p>
          <a:p>
            <a:pPr marL="457200" lvl="0" indent="-457200" algn="l" rtl="0">
              <a:lnSpc>
                <a:spcPct val="100000"/>
              </a:lnSpc>
              <a:spcBef>
                <a:spcPts val="370"/>
              </a:spcBef>
              <a:spcAft>
                <a:spcPts val="0"/>
              </a:spcAft>
              <a:buClr>
                <a:schemeClr val="dk1"/>
              </a:buClr>
              <a:buSzPct val="100000"/>
              <a:buChar char="•"/>
            </a:pPr>
            <a:r>
              <a:rPr lang="en-US" sz="2000"/>
              <a:t>The brand of refrigerator in a home.</a:t>
            </a:r>
            <a:endParaRPr/>
          </a:p>
          <a:p>
            <a:pPr marL="457200" lvl="0" indent="-457200" algn="l" rtl="0">
              <a:lnSpc>
                <a:spcPct val="100000"/>
              </a:lnSpc>
              <a:spcBef>
                <a:spcPts val="370"/>
              </a:spcBef>
              <a:spcAft>
                <a:spcPts val="0"/>
              </a:spcAft>
              <a:buClr>
                <a:schemeClr val="dk1"/>
              </a:buClr>
              <a:buSzPct val="100000"/>
              <a:buChar char="•"/>
            </a:pPr>
            <a:r>
              <a:rPr lang="en-US" sz="2000"/>
              <a:t>The overall satisfaction rating of a new car.</a:t>
            </a:r>
            <a:endParaRPr/>
          </a:p>
          <a:p>
            <a:pPr marL="457200" lvl="0" indent="-457200" algn="l" rtl="0">
              <a:lnSpc>
                <a:spcPct val="100000"/>
              </a:lnSpc>
              <a:spcBef>
                <a:spcPts val="370"/>
              </a:spcBef>
              <a:spcAft>
                <a:spcPts val="0"/>
              </a:spcAft>
              <a:buClr>
                <a:schemeClr val="dk1"/>
              </a:buClr>
              <a:buSzPct val="100000"/>
              <a:buChar char="•"/>
            </a:pPr>
            <a:r>
              <a:rPr lang="en-US" sz="2000"/>
              <a:t>The number of files on a computer’s hard disk.</a:t>
            </a:r>
            <a:endParaRPr/>
          </a:p>
          <a:p>
            <a:pPr marL="457200" lvl="0" indent="-457200" algn="l" rtl="0">
              <a:lnSpc>
                <a:spcPct val="100000"/>
              </a:lnSpc>
              <a:spcBef>
                <a:spcPts val="370"/>
              </a:spcBef>
              <a:spcAft>
                <a:spcPts val="0"/>
              </a:spcAft>
              <a:buClr>
                <a:schemeClr val="dk1"/>
              </a:buClr>
              <a:buSzPct val="100000"/>
              <a:buChar char="•"/>
            </a:pPr>
            <a:r>
              <a:rPr lang="en-US" sz="2000"/>
              <a:t>The pH level of the water in a swimming pool.</a:t>
            </a:r>
            <a:endParaRPr/>
          </a:p>
          <a:p>
            <a:pPr marL="457200" lvl="0" indent="-457200" algn="l" rtl="0">
              <a:lnSpc>
                <a:spcPct val="100000"/>
              </a:lnSpc>
              <a:spcBef>
                <a:spcPts val="370"/>
              </a:spcBef>
              <a:spcAft>
                <a:spcPts val="0"/>
              </a:spcAft>
              <a:buClr>
                <a:schemeClr val="dk1"/>
              </a:buClr>
              <a:buSzPct val="100000"/>
              <a:buChar char="•"/>
            </a:pPr>
            <a:r>
              <a:rPr lang="en-US" sz="2000"/>
              <a:t>The number of staples in a stapler.</a:t>
            </a:r>
            <a:endParaRPr/>
          </a:p>
          <a:p>
            <a:pPr marL="342900" lvl="0" indent="-154940" algn="l" rtl="0">
              <a:lnSpc>
                <a:spcPct val="100000"/>
              </a:lnSpc>
              <a:spcBef>
                <a:spcPts val="592"/>
              </a:spcBef>
              <a:spcAft>
                <a:spcPts val="0"/>
              </a:spcAft>
              <a:buClr>
                <a:schemeClr val="dk1"/>
              </a:buClr>
              <a:buSzPct val="100000"/>
              <a:buNone/>
            </a:pPr>
            <a:endParaRPr/>
          </a:p>
        </p:txBody>
      </p:sp>
      <p:sp>
        <p:nvSpPr>
          <p:cNvPr id="190" name="Google Shape;190;p12"/>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191" name="Google Shape;191;p12"/>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14" descr="Image result for machine learning robot"/>
          <p:cNvPicPr preferRelativeResize="0"/>
          <p:nvPr/>
        </p:nvPicPr>
        <p:blipFill rotWithShape="1">
          <a:blip r:embed="rId3">
            <a:alphaModFix/>
          </a:blip>
          <a:srcRect/>
          <a:stretch/>
        </p:blipFill>
        <p:spPr>
          <a:xfrm>
            <a:off x="0" y="856000"/>
            <a:ext cx="4495800" cy="3371850"/>
          </a:xfrm>
          <a:prstGeom prst="rect">
            <a:avLst/>
          </a:prstGeom>
          <a:noFill/>
          <a:ln>
            <a:noFill/>
          </a:ln>
        </p:spPr>
      </p:pic>
      <p:sp>
        <p:nvSpPr>
          <p:cNvPr id="197" name="Google Shape;197;p14"/>
          <p:cNvSpPr txBox="1">
            <a:spLocks noGrp="1"/>
          </p:cNvSpPr>
          <p:nvPr>
            <p:ph type="ctrTitle"/>
          </p:nvPr>
        </p:nvSpPr>
        <p:spPr>
          <a:xfrm>
            <a:off x="3733800" y="1047750"/>
            <a:ext cx="4876800" cy="110251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Harnessing Data</a:t>
            </a:r>
            <a:endParaRPr/>
          </a:p>
        </p:txBody>
      </p:sp>
      <p:sp>
        <p:nvSpPr>
          <p:cNvPr id="198" name="Google Shape;198;p14"/>
          <p:cNvSpPr txBox="1">
            <a:spLocks noGrp="1"/>
          </p:cNvSpPr>
          <p:nvPr>
            <p:ph type="subTitle" idx="1"/>
          </p:nvPr>
        </p:nvSpPr>
        <p:spPr>
          <a:xfrm>
            <a:off x="3924300" y="2271594"/>
            <a:ext cx="4495800" cy="131445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Module - 2</a:t>
            </a:r>
            <a:endParaRPr/>
          </a:p>
        </p:txBody>
      </p:sp>
      <p:sp>
        <p:nvSpPr>
          <p:cNvPr id="199" name="Google Shape;199;p14"/>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12</a:t>
            </a:fld>
            <a:endParaRPr/>
          </a:p>
        </p:txBody>
      </p:sp>
      <p:sp>
        <p:nvSpPr>
          <p:cNvPr id="200" name="Google Shape;200;p14"/>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5"/>
          <p:cNvSpPr txBox="1">
            <a:spLocks noGrp="1"/>
          </p:cNvSpPr>
          <p:nvPr>
            <p:ph type="title"/>
          </p:nvPr>
        </p:nvSpPr>
        <p:spPr>
          <a:xfrm>
            <a:off x="126125" y="53802"/>
            <a:ext cx="6841800" cy="10158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Clr>
                <a:srgbClr val="0070C0"/>
              </a:buClr>
              <a:buSzPts val="3200"/>
              <a:buFont typeface="Calibri"/>
              <a:buNone/>
            </a:pPr>
            <a:r>
              <a:rPr lang="en-US" sz="2800">
                <a:solidFill>
                  <a:srgbClr val="0070C0"/>
                </a:solidFill>
              </a:rPr>
              <a:t>Steps Involved In Descriptive Statistics</a:t>
            </a:r>
            <a:endParaRPr sz="2800">
              <a:solidFill>
                <a:srgbClr val="0070C0"/>
              </a:solidFill>
            </a:endParaRPr>
          </a:p>
          <a:p>
            <a:pPr marL="0" lvl="0" indent="0" algn="ctr" rtl="0">
              <a:lnSpc>
                <a:spcPct val="100000"/>
              </a:lnSpc>
              <a:spcBef>
                <a:spcPts val="0"/>
              </a:spcBef>
              <a:spcAft>
                <a:spcPts val="0"/>
              </a:spcAft>
              <a:buClr>
                <a:srgbClr val="0070C0"/>
              </a:buClr>
              <a:buSzPts val="3200"/>
              <a:buFont typeface="Calibri"/>
              <a:buNone/>
            </a:pPr>
            <a:endParaRPr>
              <a:solidFill>
                <a:srgbClr val="0070C0"/>
              </a:solidFill>
            </a:endParaRPr>
          </a:p>
        </p:txBody>
      </p:sp>
      <p:sp>
        <p:nvSpPr>
          <p:cNvPr id="206" name="Google Shape;206;p15"/>
          <p:cNvSpPr txBox="1">
            <a:spLocks noGrp="1"/>
          </p:cNvSpPr>
          <p:nvPr>
            <p:ph type="body" idx="1"/>
          </p:nvPr>
        </p:nvSpPr>
        <p:spPr>
          <a:xfrm>
            <a:off x="457200" y="1047750"/>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407"/>
              </a:spcBef>
              <a:spcAft>
                <a:spcPts val="0"/>
              </a:spcAft>
              <a:buSzPts val="2700"/>
              <a:buChar char="•"/>
            </a:pPr>
            <a:r>
              <a:rPr lang="en-US" sz="2100"/>
              <a:t>Collecting the data</a:t>
            </a:r>
            <a:endParaRPr sz="2100"/>
          </a:p>
          <a:p>
            <a:pPr marL="0" lvl="0" indent="0" algn="l" rtl="0">
              <a:lnSpc>
                <a:spcPct val="90000"/>
              </a:lnSpc>
              <a:spcBef>
                <a:spcPts val="407"/>
              </a:spcBef>
              <a:spcAft>
                <a:spcPts val="0"/>
              </a:spcAft>
              <a:buSzPts val="1800"/>
              <a:buNone/>
            </a:pPr>
            <a:endParaRPr sz="2100"/>
          </a:p>
          <a:p>
            <a:pPr marL="342900" lvl="0" indent="-342900" algn="l" rtl="0">
              <a:lnSpc>
                <a:spcPct val="90000"/>
              </a:lnSpc>
              <a:spcBef>
                <a:spcPts val="407"/>
              </a:spcBef>
              <a:spcAft>
                <a:spcPts val="0"/>
              </a:spcAft>
              <a:buSzPts val="2700"/>
              <a:buChar char="•"/>
            </a:pPr>
            <a:r>
              <a:rPr lang="en-US" sz="2100"/>
              <a:t>Presenting the data → Visualization using BI or Python</a:t>
            </a:r>
            <a:endParaRPr sz="2100"/>
          </a:p>
          <a:p>
            <a:pPr marL="0" lvl="0" indent="0" algn="l" rtl="0">
              <a:lnSpc>
                <a:spcPct val="90000"/>
              </a:lnSpc>
              <a:spcBef>
                <a:spcPts val="407"/>
              </a:spcBef>
              <a:spcAft>
                <a:spcPts val="0"/>
              </a:spcAft>
              <a:buSzPts val="1800"/>
              <a:buNone/>
            </a:pPr>
            <a:endParaRPr sz="2100"/>
          </a:p>
          <a:p>
            <a:pPr marL="342900" lvl="0" indent="-342900" algn="l" rtl="0">
              <a:lnSpc>
                <a:spcPct val="90000"/>
              </a:lnSpc>
              <a:spcBef>
                <a:spcPts val="407"/>
              </a:spcBef>
              <a:spcAft>
                <a:spcPts val="0"/>
              </a:spcAft>
              <a:buSzPts val="2700"/>
              <a:buChar char="•"/>
            </a:pPr>
            <a:r>
              <a:rPr lang="en-US" sz="2100"/>
              <a:t>Summarizing the data → EDA (Module 3)</a:t>
            </a:r>
            <a:endParaRPr sz="2700"/>
          </a:p>
          <a:p>
            <a:pPr marL="342900" lvl="0" indent="-139700" algn="l" rtl="0">
              <a:lnSpc>
                <a:spcPct val="100000"/>
              </a:lnSpc>
              <a:spcBef>
                <a:spcPts val="640"/>
              </a:spcBef>
              <a:spcAft>
                <a:spcPts val="0"/>
              </a:spcAft>
              <a:buClr>
                <a:schemeClr val="dk1"/>
              </a:buClr>
              <a:buSzPts val="3200"/>
              <a:buNone/>
            </a:pPr>
            <a:endParaRPr/>
          </a:p>
        </p:txBody>
      </p:sp>
      <p:sp>
        <p:nvSpPr>
          <p:cNvPr id="207" name="Google Shape;207;p15"/>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sp>
        <p:nvSpPr>
          <p:cNvPr id="208" name="Google Shape;208;p1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fcf1c9e0e0_0_1"/>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Making sense of the data</a:t>
            </a:r>
            <a:endParaRPr/>
          </a:p>
        </p:txBody>
      </p:sp>
      <p:sp>
        <p:nvSpPr>
          <p:cNvPr id="214" name="Google Shape;214;gfcf1c9e0e0_0_1"/>
          <p:cNvSpPr txBox="1">
            <a:spLocks noGrp="1"/>
          </p:cNvSpPr>
          <p:nvPr>
            <p:ph type="body" idx="1"/>
          </p:nvPr>
        </p:nvSpPr>
        <p:spPr>
          <a:xfrm>
            <a:off x="457200" y="1047750"/>
            <a:ext cx="8229600" cy="33945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000"/>
              <a:buNone/>
            </a:pPr>
            <a:r>
              <a:rPr lang="en-US" sz="2000"/>
              <a:t>A sample drawn from a population should have characteristics similar to the population.</a:t>
            </a:r>
            <a:endParaRPr/>
          </a:p>
          <a:p>
            <a:pPr marL="0" lvl="0" indent="0" algn="just" rtl="0">
              <a:lnSpc>
                <a:spcPct val="100000"/>
              </a:lnSpc>
              <a:spcBef>
                <a:spcPts val="0"/>
              </a:spcBef>
              <a:spcAft>
                <a:spcPts val="0"/>
              </a:spcAft>
              <a:buClr>
                <a:schemeClr val="dk1"/>
              </a:buClr>
              <a:buSzPts val="2000"/>
              <a:buNone/>
            </a:pPr>
            <a:endParaRPr sz="2000"/>
          </a:p>
          <a:p>
            <a:pPr marL="114300" lvl="0" indent="0" algn="l" rtl="0">
              <a:lnSpc>
                <a:spcPct val="100000"/>
              </a:lnSpc>
              <a:spcBef>
                <a:spcPts val="400"/>
              </a:spcBef>
              <a:spcAft>
                <a:spcPts val="0"/>
              </a:spcAft>
              <a:buSzPts val="1800"/>
              <a:buNone/>
            </a:pPr>
            <a:r>
              <a:rPr lang="en-US" sz="1800" b="0" i="0" u="none" strike="noStrike">
                <a:solidFill>
                  <a:srgbClr val="000000"/>
                </a:solidFill>
                <a:latin typeface="Calibri"/>
                <a:ea typeface="Calibri"/>
                <a:cs typeface="Calibri"/>
                <a:sym typeface="Calibri"/>
              </a:rPr>
              <a:t>Sampling can be:</a:t>
            </a:r>
            <a:endParaRPr b="0"/>
          </a:p>
          <a:p>
            <a:pPr marL="457200" lvl="0" indent="-342900" algn="l" rtl="0">
              <a:lnSpc>
                <a:spcPct val="100000"/>
              </a:lnSpc>
              <a:spcBef>
                <a:spcPts val="400"/>
              </a:spcBef>
              <a:spcAft>
                <a:spcPts val="0"/>
              </a:spcAft>
              <a:buSzPts val="1800"/>
              <a:buFont typeface="Arial"/>
              <a:buChar char="•"/>
            </a:pPr>
            <a:r>
              <a:rPr lang="en-US" sz="1800" b="1" i="0" u="none" strike="noStrike">
                <a:solidFill>
                  <a:srgbClr val="E36C09"/>
                </a:solidFill>
                <a:latin typeface="Calibri"/>
                <a:ea typeface="Calibri"/>
                <a:cs typeface="Calibri"/>
                <a:sym typeface="Calibri"/>
              </a:rPr>
              <a:t>with replacement</a:t>
            </a:r>
            <a:r>
              <a:rPr lang="en-US" sz="1800" b="0" i="0" u="none" strike="noStrike">
                <a:solidFill>
                  <a:srgbClr val="E36C09"/>
                </a:solidFill>
                <a:latin typeface="Calibri"/>
                <a:ea typeface="Calibri"/>
                <a:cs typeface="Calibri"/>
                <a:sym typeface="Calibri"/>
              </a:rPr>
              <a:t>: </a:t>
            </a:r>
            <a:r>
              <a:rPr lang="en-US" sz="1800" b="0" i="0" u="none" strike="noStrike">
                <a:solidFill>
                  <a:srgbClr val="000000"/>
                </a:solidFill>
                <a:latin typeface="Calibri"/>
                <a:ea typeface="Calibri"/>
                <a:cs typeface="Calibri"/>
                <a:sym typeface="Calibri"/>
              </a:rPr>
              <a:t>a member of the population may be chosen more than once</a:t>
            </a:r>
            <a:endParaRPr sz="1800" b="1" i="0" u="none" strike="noStrike">
              <a:solidFill>
                <a:srgbClr val="E36C09"/>
              </a:solidFill>
              <a:latin typeface="Arial"/>
              <a:ea typeface="Arial"/>
              <a:cs typeface="Arial"/>
              <a:sym typeface="Arial"/>
            </a:endParaRPr>
          </a:p>
          <a:p>
            <a:pPr marL="457200" lvl="0" indent="-342900" algn="l" rtl="0">
              <a:lnSpc>
                <a:spcPct val="100000"/>
              </a:lnSpc>
              <a:spcBef>
                <a:spcPts val="400"/>
              </a:spcBef>
              <a:spcAft>
                <a:spcPts val="0"/>
              </a:spcAft>
              <a:buSzPts val="1800"/>
              <a:buFont typeface="Arial"/>
              <a:buChar char="•"/>
            </a:pPr>
            <a:r>
              <a:rPr lang="en-US" sz="1800" b="0" i="0" u="none" strike="noStrike">
                <a:solidFill>
                  <a:srgbClr val="000000"/>
                </a:solidFill>
                <a:latin typeface="Calibri"/>
                <a:ea typeface="Calibri"/>
                <a:cs typeface="Calibri"/>
                <a:sym typeface="Calibri"/>
              </a:rPr>
              <a:t> </a:t>
            </a:r>
            <a:r>
              <a:rPr lang="en-US" sz="1800" b="1" i="0" u="none" strike="noStrike">
                <a:solidFill>
                  <a:srgbClr val="E36C09"/>
                </a:solidFill>
                <a:latin typeface="Calibri"/>
                <a:ea typeface="Calibri"/>
                <a:cs typeface="Calibri"/>
                <a:sym typeface="Calibri"/>
              </a:rPr>
              <a:t>without replacement</a:t>
            </a:r>
            <a:r>
              <a:rPr lang="en-US" sz="1800" b="0" i="0" u="none" strike="noStrike">
                <a:solidFill>
                  <a:srgbClr val="E36C09"/>
                </a:solidFill>
                <a:latin typeface="Calibri"/>
                <a:ea typeface="Calibri"/>
                <a:cs typeface="Calibri"/>
                <a:sym typeface="Calibri"/>
              </a:rPr>
              <a:t>: </a:t>
            </a:r>
            <a:r>
              <a:rPr lang="en-US" sz="1800" b="0" i="0" u="none" strike="noStrike">
                <a:solidFill>
                  <a:srgbClr val="000000"/>
                </a:solidFill>
                <a:latin typeface="Calibri"/>
                <a:ea typeface="Calibri"/>
                <a:cs typeface="Calibri"/>
                <a:sym typeface="Calibri"/>
              </a:rPr>
              <a:t>a member of the population may be chosen only once (lottery ticket)</a:t>
            </a:r>
            <a:endParaRPr sz="1800" b="0" i="0" u="none" strike="noStrike">
              <a:solidFill>
                <a:srgbClr val="000000"/>
              </a:solidFill>
              <a:latin typeface="Arial"/>
              <a:ea typeface="Arial"/>
              <a:cs typeface="Arial"/>
              <a:sym typeface="Arial"/>
            </a:endParaRPr>
          </a:p>
          <a:p>
            <a:pPr marL="0" lvl="0" indent="0" algn="just" rtl="0">
              <a:lnSpc>
                <a:spcPct val="100000"/>
              </a:lnSpc>
              <a:spcBef>
                <a:spcPts val="0"/>
              </a:spcBef>
              <a:spcAft>
                <a:spcPts val="0"/>
              </a:spcAft>
              <a:buClr>
                <a:schemeClr val="dk1"/>
              </a:buClr>
              <a:buSzPts val="2000"/>
              <a:buNone/>
            </a:pPr>
            <a:endParaRPr/>
          </a:p>
        </p:txBody>
      </p:sp>
      <p:sp>
        <p:nvSpPr>
          <p:cNvPr id="215" name="Google Shape;215;gfcf1c9e0e0_0_1"/>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16" name="Google Shape;216;gfcf1c9e0e0_0_1"/>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Collecting The Data</a:t>
            </a:r>
            <a:endParaRPr/>
          </a:p>
        </p:txBody>
      </p:sp>
      <p:sp>
        <p:nvSpPr>
          <p:cNvPr id="222" name="Google Shape;222;p21"/>
          <p:cNvSpPr txBox="1">
            <a:spLocks noGrp="1"/>
          </p:cNvSpPr>
          <p:nvPr>
            <p:ph type="body" idx="1"/>
          </p:nvPr>
        </p:nvSpPr>
        <p:spPr>
          <a:xfrm>
            <a:off x="98100" y="784850"/>
            <a:ext cx="8817300" cy="41766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407"/>
              </a:spcBef>
              <a:spcAft>
                <a:spcPts val="0"/>
              </a:spcAft>
              <a:buClr>
                <a:schemeClr val="dk1"/>
              </a:buClr>
              <a:buSzPts val="1100"/>
              <a:buFont typeface="Arial"/>
              <a:buNone/>
            </a:pPr>
            <a:r>
              <a:rPr lang="en-US" sz="1983" b="1">
                <a:solidFill>
                  <a:schemeClr val="accent6"/>
                </a:solidFill>
              </a:rPr>
              <a:t>Step1:-</a:t>
            </a:r>
            <a:r>
              <a:rPr lang="en-US" sz="1983"/>
              <a:t>Define the object or aim of the experiment.</a:t>
            </a:r>
            <a:endParaRPr sz="1983"/>
          </a:p>
          <a:p>
            <a:pPr marL="0" lvl="0" indent="0" algn="l" rtl="0">
              <a:lnSpc>
                <a:spcPct val="90000"/>
              </a:lnSpc>
              <a:spcBef>
                <a:spcPts val="407"/>
              </a:spcBef>
              <a:spcAft>
                <a:spcPts val="0"/>
              </a:spcAft>
              <a:buClr>
                <a:schemeClr val="dk1"/>
              </a:buClr>
              <a:buSzPts val="1100"/>
              <a:buNone/>
            </a:pPr>
            <a:r>
              <a:rPr lang="en-US" sz="1983"/>
              <a:t>                       i.e  Estimate the average life of electronic component</a:t>
            </a:r>
            <a:endParaRPr sz="1983"/>
          </a:p>
          <a:p>
            <a:pPr marL="0" lvl="0" indent="0" algn="l" rtl="0">
              <a:lnSpc>
                <a:spcPct val="90000"/>
              </a:lnSpc>
              <a:spcBef>
                <a:spcPts val="407"/>
              </a:spcBef>
              <a:spcAft>
                <a:spcPts val="0"/>
              </a:spcAft>
              <a:buClr>
                <a:schemeClr val="dk1"/>
              </a:buClr>
              <a:buSzPts val="1100"/>
              <a:buFont typeface="Arial"/>
              <a:buNone/>
            </a:pPr>
            <a:endParaRPr sz="1983"/>
          </a:p>
          <a:p>
            <a:pPr marL="0" lvl="0" indent="0" algn="l" rtl="0">
              <a:lnSpc>
                <a:spcPct val="90000"/>
              </a:lnSpc>
              <a:spcBef>
                <a:spcPts val="407"/>
              </a:spcBef>
              <a:spcAft>
                <a:spcPts val="0"/>
              </a:spcAft>
              <a:buClr>
                <a:schemeClr val="dk1"/>
              </a:buClr>
              <a:buSzPts val="1100"/>
              <a:buNone/>
            </a:pPr>
            <a:endParaRPr sz="1983" b="1"/>
          </a:p>
          <a:p>
            <a:pPr marL="0" lvl="0" indent="0" algn="l" rtl="0">
              <a:lnSpc>
                <a:spcPct val="90000"/>
              </a:lnSpc>
              <a:spcBef>
                <a:spcPts val="407"/>
              </a:spcBef>
              <a:spcAft>
                <a:spcPts val="0"/>
              </a:spcAft>
              <a:buClr>
                <a:schemeClr val="dk1"/>
              </a:buClr>
              <a:buSzPts val="1100"/>
              <a:buFont typeface="Arial"/>
              <a:buNone/>
            </a:pPr>
            <a:r>
              <a:rPr lang="en-US" sz="1983" b="1">
                <a:solidFill>
                  <a:schemeClr val="accent6"/>
                </a:solidFill>
              </a:rPr>
              <a:t>Step2:-</a:t>
            </a:r>
            <a:r>
              <a:rPr lang="en-US" sz="1983"/>
              <a:t>Define the variable and population of interest.</a:t>
            </a:r>
            <a:endParaRPr sz="1983"/>
          </a:p>
          <a:p>
            <a:pPr marL="0" lvl="0" indent="0" algn="l" rtl="0">
              <a:lnSpc>
                <a:spcPct val="90000"/>
              </a:lnSpc>
              <a:spcBef>
                <a:spcPts val="407"/>
              </a:spcBef>
              <a:spcAft>
                <a:spcPts val="0"/>
              </a:spcAft>
              <a:buClr>
                <a:schemeClr val="dk1"/>
              </a:buClr>
              <a:buSzPts val="1100"/>
              <a:buNone/>
            </a:pPr>
            <a:r>
              <a:rPr lang="en-US" sz="1983"/>
              <a:t>                        i.e usage,power rating,battery life etc</a:t>
            </a:r>
            <a:endParaRPr sz="1983"/>
          </a:p>
          <a:p>
            <a:pPr marL="0" lvl="0" indent="0" algn="l" rtl="0">
              <a:lnSpc>
                <a:spcPct val="90000"/>
              </a:lnSpc>
              <a:spcBef>
                <a:spcPts val="407"/>
              </a:spcBef>
              <a:spcAft>
                <a:spcPts val="0"/>
              </a:spcAft>
              <a:buClr>
                <a:schemeClr val="dk1"/>
              </a:buClr>
              <a:buSzPts val="1100"/>
              <a:buNone/>
            </a:pPr>
            <a:endParaRPr sz="1983" b="1"/>
          </a:p>
          <a:p>
            <a:pPr marL="0" lvl="0" indent="0" algn="l" rtl="0">
              <a:lnSpc>
                <a:spcPct val="90000"/>
              </a:lnSpc>
              <a:spcBef>
                <a:spcPts val="407"/>
              </a:spcBef>
              <a:spcAft>
                <a:spcPts val="0"/>
              </a:spcAft>
              <a:buClr>
                <a:schemeClr val="dk1"/>
              </a:buClr>
              <a:buSzPts val="1100"/>
              <a:buNone/>
            </a:pPr>
            <a:endParaRPr sz="1983" b="1"/>
          </a:p>
          <a:p>
            <a:pPr marL="0" lvl="0" indent="0" algn="l" rtl="0">
              <a:lnSpc>
                <a:spcPct val="90000"/>
              </a:lnSpc>
              <a:spcBef>
                <a:spcPts val="407"/>
              </a:spcBef>
              <a:spcAft>
                <a:spcPts val="0"/>
              </a:spcAft>
              <a:buClr>
                <a:schemeClr val="dk1"/>
              </a:buClr>
              <a:buSzPts val="1100"/>
              <a:buFont typeface="Arial"/>
              <a:buNone/>
            </a:pPr>
            <a:r>
              <a:rPr lang="en-US" sz="1983" b="1">
                <a:solidFill>
                  <a:schemeClr val="accent6"/>
                </a:solidFill>
              </a:rPr>
              <a:t>Step3:</a:t>
            </a:r>
            <a:r>
              <a:rPr lang="en-US" sz="1983" b="1"/>
              <a:t>-</a:t>
            </a:r>
            <a:r>
              <a:rPr lang="en-US" sz="1983"/>
              <a:t>Defining the data collection scheme and data measuring scheme.</a:t>
            </a:r>
            <a:endParaRPr sz="1983"/>
          </a:p>
          <a:p>
            <a:pPr marL="0" lvl="0" indent="0" algn="l" rtl="0">
              <a:lnSpc>
                <a:spcPct val="90000"/>
              </a:lnSpc>
              <a:spcBef>
                <a:spcPts val="407"/>
              </a:spcBef>
              <a:spcAft>
                <a:spcPts val="0"/>
              </a:spcAft>
              <a:buClr>
                <a:schemeClr val="dk1"/>
              </a:buClr>
              <a:buSzPts val="1100"/>
              <a:buFont typeface="Arial"/>
              <a:buNone/>
            </a:pPr>
            <a:r>
              <a:rPr lang="en-US" sz="1983"/>
              <a:t>                         i.e sampling procedure,sample size,data measuring device.</a:t>
            </a:r>
            <a:endParaRPr sz="1983"/>
          </a:p>
          <a:p>
            <a:pPr marL="0" lvl="0" indent="0" algn="l" rtl="0">
              <a:lnSpc>
                <a:spcPct val="90000"/>
              </a:lnSpc>
              <a:spcBef>
                <a:spcPts val="407"/>
              </a:spcBef>
              <a:spcAft>
                <a:spcPts val="0"/>
              </a:spcAft>
              <a:buClr>
                <a:schemeClr val="dk1"/>
              </a:buClr>
              <a:buSzPts val="1100"/>
              <a:buNone/>
            </a:pPr>
            <a:endParaRPr sz="1983" b="1"/>
          </a:p>
          <a:p>
            <a:pPr marL="0" lvl="0" indent="0" algn="l" rtl="0">
              <a:lnSpc>
                <a:spcPct val="90000"/>
              </a:lnSpc>
              <a:spcBef>
                <a:spcPts val="407"/>
              </a:spcBef>
              <a:spcAft>
                <a:spcPts val="0"/>
              </a:spcAft>
              <a:buClr>
                <a:schemeClr val="dk1"/>
              </a:buClr>
              <a:buSzPts val="1100"/>
              <a:buNone/>
            </a:pPr>
            <a:endParaRPr sz="1983" b="1"/>
          </a:p>
          <a:p>
            <a:pPr marL="0" lvl="0" indent="0" algn="l" rtl="0">
              <a:lnSpc>
                <a:spcPct val="90000"/>
              </a:lnSpc>
              <a:spcBef>
                <a:spcPts val="407"/>
              </a:spcBef>
              <a:spcAft>
                <a:spcPts val="0"/>
              </a:spcAft>
              <a:buClr>
                <a:schemeClr val="dk1"/>
              </a:buClr>
              <a:buSzPts val="1100"/>
              <a:buFont typeface="Arial"/>
              <a:buNone/>
            </a:pPr>
            <a:r>
              <a:rPr lang="en-US" sz="1983" b="1">
                <a:solidFill>
                  <a:schemeClr val="accent6"/>
                </a:solidFill>
              </a:rPr>
              <a:t>Step4:-</a:t>
            </a:r>
            <a:r>
              <a:rPr lang="en-US" sz="1983"/>
              <a:t>Defining the appropriate descriptive and inferential analysis techniques</a:t>
            </a:r>
            <a:r>
              <a:rPr lang="en-US" sz="1983" b="1"/>
              <a:t>  </a:t>
            </a:r>
            <a:r>
              <a:rPr lang="en-US" sz="1400" b="1"/>
              <a:t>         </a:t>
            </a:r>
            <a:endParaRPr sz="1400" b="1"/>
          </a:p>
          <a:p>
            <a:pPr marL="342900" lvl="0" indent="-215900" algn="l" rtl="0">
              <a:lnSpc>
                <a:spcPct val="100000"/>
              </a:lnSpc>
              <a:spcBef>
                <a:spcPts val="400"/>
              </a:spcBef>
              <a:spcAft>
                <a:spcPts val="0"/>
              </a:spcAft>
              <a:buClr>
                <a:schemeClr val="dk1"/>
              </a:buClr>
              <a:buSzPts val="3200"/>
              <a:buNone/>
            </a:pPr>
            <a:endParaRPr/>
          </a:p>
        </p:txBody>
      </p:sp>
      <p:sp>
        <p:nvSpPr>
          <p:cNvPr id="223" name="Google Shape;223;p21"/>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24" name="Google Shape;224;p2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3"/>
          <p:cNvSpPr txBox="1">
            <a:spLocks noGrp="1"/>
          </p:cNvSpPr>
          <p:nvPr>
            <p:ph type="title"/>
          </p:nvPr>
        </p:nvSpPr>
        <p:spPr>
          <a:xfrm>
            <a:off x="94200" y="75375"/>
            <a:ext cx="6801600" cy="555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407"/>
              </a:spcBef>
              <a:spcAft>
                <a:spcPts val="0"/>
              </a:spcAft>
              <a:buSzPts val="3200"/>
              <a:buNone/>
            </a:pPr>
            <a:r>
              <a:rPr lang="en-US" sz="3600">
                <a:solidFill>
                  <a:srgbClr val="538CD5"/>
                </a:solidFill>
              </a:rPr>
              <a:t>Methods Used To Collect Data</a:t>
            </a:r>
            <a:endParaRPr sz="5400">
              <a:solidFill>
                <a:srgbClr val="538CD5"/>
              </a:solidFill>
            </a:endParaRPr>
          </a:p>
        </p:txBody>
      </p:sp>
      <p:sp>
        <p:nvSpPr>
          <p:cNvPr id="230" name="Google Shape;230;p13"/>
          <p:cNvSpPr txBox="1">
            <a:spLocks noGrp="1"/>
          </p:cNvSpPr>
          <p:nvPr>
            <p:ph type="body" idx="1"/>
          </p:nvPr>
        </p:nvSpPr>
        <p:spPr>
          <a:xfrm>
            <a:off x="381000" y="971550"/>
            <a:ext cx="8686800" cy="3879000"/>
          </a:xfrm>
          <a:prstGeom prst="rect">
            <a:avLst/>
          </a:prstGeom>
          <a:noFill/>
          <a:ln>
            <a:noFill/>
          </a:ln>
        </p:spPr>
        <p:txBody>
          <a:bodyPr spcFirstLastPara="1" wrap="square" lIns="91425" tIns="45700" rIns="91425" bIns="45700" anchor="t" anchorCtr="0">
            <a:normAutofit/>
          </a:bodyPr>
          <a:lstStyle/>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Experiment:</a:t>
            </a:r>
            <a:r>
              <a:rPr lang="en-US" sz="1400">
                <a:latin typeface="Arial"/>
                <a:ea typeface="Arial"/>
                <a:cs typeface="Arial"/>
                <a:sym typeface="Arial"/>
              </a:rPr>
              <a:t> The investigator controls or modifies the environment and observes the effect on the variable under study.</a:t>
            </a:r>
            <a:endParaRPr sz="1400">
              <a:latin typeface="Arial"/>
              <a:ea typeface="Arial"/>
              <a:cs typeface="Arial"/>
              <a:sym typeface="Arial"/>
            </a:endParaRPr>
          </a:p>
          <a:p>
            <a:pPr marL="457200" lvl="0" indent="0" algn="l" rtl="0">
              <a:lnSpc>
                <a:spcPct val="115000"/>
              </a:lnSpc>
              <a:spcBef>
                <a:spcPts val="0"/>
              </a:spcBef>
              <a:spcAft>
                <a:spcPts val="0"/>
              </a:spcAft>
              <a:buClr>
                <a:schemeClr val="dk1"/>
              </a:buClr>
              <a:buSzPts val="1100"/>
              <a:buFont typeface="Arial"/>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Survey</a:t>
            </a:r>
            <a:r>
              <a:rPr lang="en-US" sz="1400">
                <a:solidFill>
                  <a:schemeClr val="accent6"/>
                </a:solidFill>
                <a:latin typeface="Arial"/>
                <a:ea typeface="Arial"/>
                <a:cs typeface="Arial"/>
                <a:sym typeface="Arial"/>
              </a:rPr>
              <a:t>: </a:t>
            </a:r>
            <a:r>
              <a:rPr lang="en-US" sz="1400">
                <a:latin typeface="Arial"/>
                <a:ea typeface="Arial"/>
                <a:cs typeface="Arial"/>
                <a:sym typeface="Arial"/>
              </a:rPr>
              <a:t>Data are obtained by sampling some of the population of interest.  The investigator does not modify the environment.</a:t>
            </a:r>
            <a:endParaRPr sz="14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Census:</a:t>
            </a:r>
            <a:r>
              <a:rPr lang="en-US" sz="1400">
                <a:solidFill>
                  <a:schemeClr val="accent6"/>
                </a:solidFill>
                <a:latin typeface="Arial"/>
                <a:ea typeface="Arial"/>
                <a:cs typeface="Arial"/>
                <a:sym typeface="Arial"/>
              </a:rPr>
              <a:t> </a:t>
            </a:r>
            <a:r>
              <a:rPr lang="en-US" sz="1400">
                <a:latin typeface="Arial"/>
                <a:ea typeface="Arial"/>
                <a:cs typeface="Arial"/>
                <a:sym typeface="Arial"/>
              </a:rPr>
              <a:t>A 100% survey.  Every element of the population is listed.  Seldom used: difficult and time-consuming to compile, and expensive.</a:t>
            </a:r>
            <a:endParaRPr sz="14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400" b="1">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Judgment Samples:</a:t>
            </a:r>
            <a:r>
              <a:rPr lang="en-US" sz="1400">
                <a:solidFill>
                  <a:schemeClr val="accent6"/>
                </a:solidFill>
                <a:latin typeface="Arial"/>
                <a:ea typeface="Arial"/>
                <a:cs typeface="Arial"/>
                <a:sym typeface="Arial"/>
              </a:rPr>
              <a:t> </a:t>
            </a:r>
            <a:r>
              <a:rPr lang="en-US" sz="1400">
                <a:latin typeface="Arial"/>
                <a:ea typeface="Arial"/>
                <a:cs typeface="Arial"/>
                <a:sym typeface="Arial"/>
              </a:rPr>
              <a:t>It is a non-probability sampling technique in which the sample members are chosen only on the basis of the researcher's knowledge and judgment.</a:t>
            </a: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Probability Samples:</a:t>
            </a:r>
            <a:r>
              <a:rPr lang="en-US" sz="1400" b="1">
                <a:latin typeface="Arial"/>
                <a:ea typeface="Arial"/>
                <a:cs typeface="Arial"/>
                <a:sym typeface="Arial"/>
              </a:rPr>
              <a:t> </a:t>
            </a:r>
            <a:r>
              <a:rPr lang="en-US" sz="1400">
                <a:latin typeface="Arial"/>
                <a:ea typeface="Arial"/>
                <a:cs typeface="Arial"/>
                <a:sym typeface="Arial"/>
              </a:rPr>
              <a:t>Samples in which the elements to be selected are drawn on the basis of probability.  Each element in a population has a certain probability of being selected as part of the sample.</a:t>
            </a:r>
            <a:endParaRPr/>
          </a:p>
        </p:txBody>
      </p:sp>
      <p:sp>
        <p:nvSpPr>
          <p:cNvPr id="231" name="Google Shape;231;p13"/>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32" name="Google Shape;232;p13"/>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fcf1c9e0e0_0_22"/>
          <p:cNvSpPr txBox="1">
            <a:spLocks noGrp="1"/>
          </p:cNvSpPr>
          <p:nvPr>
            <p:ph type="title"/>
          </p:nvPr>
        </p:nvSpPr>
        <p:spPr>
          <a:xfrm>
            <a:off x="94200" y="75375"/>
            <a:ext cx="6801600" cy="555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407"/>
              </a:spcBef>
              <a:spcAft>
                <a:spcPts val="0"/>
              </a:spcAft>
              <a:buSzPts val="3200"/>
              <a:buNone/>
            </a:pPr>
            <a:r>
              <a:rPr lang="en-US" sz="3600">
                <a:solidFill>
                  <a:srgbClr val="538CD5"/>
                </a:solidFill>
              </a:rPr>
              <a:t>Types Of Sampling</a:t>
            </a:r>
            <a:endParaRPr sz="5400">
              <a:solidFill>
                <a:srgbClr val="538CD5"/>
              </a:solidFill>
            </a:endParaRPr>
          </a:p>
        </p:txBody>
      </p:sp>
      <p:sp>
        <p:nvSpPr>
          <p:cNvPr id="238" name="Google Shape;238;gfcf1c9e0e0_0_22"/>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FOR DATA SCIENCE</a:t>
            </a:r>
            <a:endParaRPr/>
          </a:p>
        </p:txBody>
      </p:sp>
      <p:sp>
        <p:nvSpPr>
          <p:cNvPr id="239" name="Google Shape;239;gfcf1c9e0e0_0_22"/>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17</a:t>
            </a:fld>
            <a:endParaRPr/>
          </a:p>
        </p:txBody>
      </p:sp>
      <p:pic>
        <p:nvPicPr>
          <p:cNvPr id="240" name="Google Shape;240;gfcf1c9e0e0_0_22" descr="E:\OFFICE WORKS\PPT files\datamites\DS Statistics\Untitled-2.png"/>
          <p:cNvPicPr preferRelativeResize="0"/>
          <p:nvPr/>
        </p:nvPicPr>
        <p:blipFill rotWithShape="1">
          <a:blip r:embed="rId3">
            <a:alphaModFix/>
          </a:blip>
          <a:srcRect/>
          <a:stretch/>
        </p:blipFill>
        <p:spPr>
          <a:xfrm>
            <a:off x="447262" y="835079"/>
            <a:ext cx="8251644" cy="43183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9"/>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Probability Sampling</a:t>
            </a:r>
            <a:endParaRPr/>
          </a:p>
        </p:txBody>
      </p:sp>
      <p:sp>
        <p:nvSpPr>
          <p:cNvPr id="246" name="Google Shape;246;p19"/>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47" name="Google Shape;247;p19"/>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18</a:t>
            </a:fld>
            <a:endParaRPr/>
          </a:p>
        </p:txBody>
      </p:sp>
      <p:sp>
        <p:nvSpPr>
          <p:cNvPr id="248" name="Google Shape;248;p19"/>
          <p:cNvSpPr txBox="1">
            <a:spLocks noGrp="1"/>
          </p:cNvSpPr>
          <p:nvPr>
            <p:ph type="body" idx="1"/>
          </p:nvPr>
        </p:nvSpPr>
        <p:spPr>
          <a:xfrm>
            <a:off x="152400" y="819575"/>
            <a:ext cx="8991600" cy="3919500"/>
          </a:xfrm>
          <a:prstGeom prst="rect">
            <a:avLst/>
          </a:prstGeom>
          <a:noFill/>
          <a:ln>
            <a:noFill/>
          </a:ln>
        </p:spPr>
        <p:txBody>
          <a:bodyPr spcFirstLastPara="1" wrap="square" lIns="91425" tIns="45700" rIns="91425" bIns="45700" anchor="t" anchorCtr="0">
            <a:normAutofit lnSpcReduction="10000"/>
          </a:bodyPr>
          <a:lstStyle/>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1. Simple Random sampling</a:t>
            </a:r>
            <a:r>
              <a:rPr lang="en-US" sz="1400" b="1">
                <a:latin typeface="Arial"/>
                <a:ea typeface="Arial"/>
                <a:cs typeface="Arial"/>
                <a:sym typeface="Arial"/>
              </a:rPr>
              <a:t> </a:t>
            </a:r>
            <a:r>
              <a:rPr lang="en-US" sz="1400">
                <a:latin typeface="Arial"/>
                <a:ea typeface="Arial"/>
                <a:cs typeface="Arial"/>
                <a:sym typeface="Arial"/>
              </a:rPr>
              <a:t>:-each sample of the same size has an equal chance of being selected.</a:t>
            </a: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2. Stratified Sampling</a:t>
            </a:r>
            <a:r>
              <a:rPr lang="en-US" sz="1400">
                <a:solidFill>
                  <a:schemeClr val="accent6"/>
                </a:solidFill>
                <a:latin typeface="Arial"/>
                <a:ea typeface="Arial"/>
                <a:cs typeface="Arial"/>
                <a:sym typeface="Arial"/>
              </a:rPr>
              <a:t> </a:t>
            </a:r>
            <a:r>
              <a:rPr lang="en-US" sz="1400">
                <a:latin typeface="Arial"/>
                <a:ea typeface="Arial"/>
                <a:cs typeface="Arial"/>
                <a:sym typeface="Arial"/>
              </a:rPr>
              <a:t>:-divide the population into groups called strata and then take a sample from each stratum.</a:t>
            </a: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3. Cluster sampling</a:t>
            </a:r>
            <a:r>
              <a:rPr lang="en-US" sz="1400">
                <a:latin typeface="Arial"/>
                <a:ea typeface="Arial"/>
                <a:cs typeface="Arial"/>
                <a:sym typeface="Arial"/>
              </a:rPr>
              <a:t> :-divide the population into strata and then randomly select some of the strata. All the members from these strata are in the cluster sample.</a:t>
            </a: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0" lvl="0" indent="0" algn="l" rtl="0">
              <a:lnSpc>
                <a:spcPct val="115000"/>
              </a:lnSpc>
              <a:spcBef>
                <a:spcPts val="0"/>
              </a:spcBef>
              <a:spcAft>
                <a:spcPts val="0"/>
              </a:spcAft>
              <a:buSzPts val="1800"/>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4. Systematic sampling</a:t>
            </a:r>
            <a:r>
              <a:rPr lang="en-US" sz="1400">
                <a:solidFill>
                  <a:schemeClr val="accent6"/>
                </a:solidFill>
                <a:latin typeface="Arial"/>
                <a:ea typeface="Arial"/>
                <a:cs typeface="Arial"/>
                <a:sym typeface="Arial"/>
              </a:rPr>
              <a:t> </a:t>
            </a:r>
            <a:r>
              <a:rPr lang="en-US" sz="1400">
                <a:latin typeface="Arial"/>
                <a:ea typeface="Arial"/>
                <a:cs typeface="Arial"/>
                <a:sym typeface="Arial"/>
              </a:rPr>
              <a:t>:-randomly select a starting point and take every n-th piece of data from a listing of the population.</a:t>
            </a:r>
            <a:endParaRPr/>
          </a:p>
          <a:p>
            <a:pPr marL="139700" lvl="0" indent="0" algn="l" rtl="0">
              <a:lnSpc>
                <a:spcPct val="115000"/>
              </a:lnSpc>
              <a:spcBef>
                <a:spcPts val="0"/>
              </a:spcBef>
              <a:spcAft>
                <a:spcPts val="0"/>
              </a:spcAft>
              <a:buSzPts val="1400"/>
              <a:buNone/>
            </a:pPr>
            <a:endParaRPr sz="1400">
              <a:latin typeface="Arial"/>
              <a:ea typeface="Arial"/>
              <a:cs typeface="Arial"/>
              <a:sym typeface="Arial"/>
            </a:endParaRPr>
          </a:p>
          <a:p>
            <a:pPr marL="139700" lvl="0" indent="0" algn="l" rtl="0">
              <a:lnSpc>
                <a:spcPct val="115000"/>
              </a:lnSpc>
              <a:spcBef>
                <a:spcPts val="0"/>
              </a:spcBef>
              <a:spcAft>
                <a:spcPts val="0"/>
              </a:spcAft>
              <a:buSzPts val="1400"/>
              <a:buNone/>
            </a:pPr>
            <a:r>
              <a:rPr lang="en-US" sz="1400" b="1">
                <a:solidFill>
                  <a:schemeClr val="accent6"/>
                </a:solidFill>
                <a:latin typeface="Arial"/>
                <a:ea typeface="Arial"/>
                <a:cs typeface="Arial"/>
                <a:sym typeface="Arial"/>
              </a:rPr>
              <a:t>5. Multistage Random </a:t>
            </a:r>
            <a:r>
              <a:rPr lang="en-US" sz="1400">
                <a:latin typeface="Arial"/>
                <a:ea typeface="Arial"/>
                <a:cs typeface="Arial"/>
                <a:sym typeface="Arial"/>
              </a:rPr>
              <a:t>:- </a:t>
            </a:r>
            <a:r>
              <a:rPr lang="en-US" sz="1400" b="0" i="0">
                <a:solidFill>
                  <a:schemeClr val="dk1"/>
                </a:solidFill>
                <a:latin typeface="Arial"/>
                <a:ea typeface="Arial"/>
                <a:cs typeface="Arial"/>
                <a:sym typeface="Arial"/>
              </a:rPr>
              <a:t>divide the population into clusters and select some clusters at the first stage. At each subsequent stage, you further divide up those selected clusters into smaller clusters, and repeat the process until you get the desired sample size.</a:t>
            </a:r>
            <a:endParaRPr sz="1400">
              <a:solidFill>
                <a:schemeClr val="dk1"/>
              </a:solidFill>
              <a:latin typeface="Arial"/>
              <a:ea typeface="Arial"/>
              <a:cs typeface="Arial"/>
              <a:sym typeface="Arial"/>
            </a:endParaRPr>
          </a:p>
          <a:p>
            <a:pPr marL="0" lvl="0" indent="0" algn="l" rtl="0">
              <a:lnSpc>
                <a:spcPct val="100000"/>
              </a:lnSpc>
              <a:spcBef>
                <a:spcPts val="320"/>
              </a:spcBef>
              <a:spcAft>
                <a:spcPts val="0"/>
              </a:spcAft>
              <a:buSzPts val="18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Sampling Example</a:t>
            </a:r>
            <a:endParaRPr/>
          </a:p>
        </p:txBody>
      </p:sp>
      <p:sp>
        <p:nvSpPr>
          <p:cNvPr id="254" name="Google Shape;254;p18"/>
          <p:cNvSpPr txBox="1">
            <a:spLocks noGrp="1"/>
          </p:cNvSpPr>
          <p:nvPr>
            <p:ph type="body" idx="1"/>
          </p:nvPr>
        </p:nvSpPr>
        <p:spPr>
          <a:xfrm>
            <a:off x="381000" y="1047750"/>
            <a:ext cx="84582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E36C09"/>
              </a:buClr>
              <a:buSzPts val="1900"/>
              <a:buFont typeface="Calibri"/>
              <a:buNone/>
            </a:pPr>
            <a:r>
              <a:rPr lang="en-US" sz="1900" i="1">
                <a:solidFill>
                  <a:srgbClr val="E36C09"/>
                </a:solidFill>
              </a:rPr>
              <a:t>Example</a:t>
            </a:r>
            <a:r>
              <a:rPr lang="en-US" sz="1900">
                <a:solidFill>
                  <a:srgbClr val="E36C09"/>
                </a:solidFill>
              </a:rPr>
              <a:t>: </a:t>
            </a:r>
            <a:r>
              <a:rPr lang="en-US" sz="1900"/>
              <a:t>An employer is interested in the time it takes each employee to commute to work each morning.  A random sample of 35 employees will be selected and their commuting time will be recorded.</a:t>
            </a:r>
            <a:endParaRPr/>
          </a:p>
          <a:p>
            <a:pPr marL="0" lvl="0" indent="0" algn="l" rtl="0">
              <a:lnSpc>
                <a:spcPct val="100000"/>
              </a:lnSpc>
              <a:spcBef>
                <a:spcPts val="380"/>
              </a:spcBef>
              <a:spcAft>
                <a:spcPts val="0"/>
              </a:spcAft>
              <a:buClr>
                <a:schemeClr val="dk1"/>
              </a:buClr>
              <a:buSzPts val="1900"/>
              <a:buFont typeface="Calibri"/>
              <a:buNone/>
            </a:pPr>
            <a:endParaRPr sz="1900"/>
          </a:p>
          <a:p>
            <a:pPr marL="0" lvl="0" indent="0" algn="l" rtl="0">
              <a:lnSpc>
                <a:spcPct val="100000"/>
              </a:lnSpc>
              <a:spcBef>
                <a:spcPts val="380"/>
              </a:spcBef>
              <a:spcAft>
                <a:spcPts val="0"/>
              </a:spcAft>
              <a:buClr>
                <a:schemeClr val="dk1"/>
              </a:buClr>
              <a:buSzPts val="1900"/>
              <a:buFont typeface="Calibri"/>
              <a:buNone/>
            </a:pPr>
            <a:r>
              <a:rPr lang="en-US" sz="1900"/>
              <a:t>There are 2712 employees.</a:t>
            </a:r>
            <a:endParaRPr/>
          </a:p>
          <a:p>
            <a:pPr marL="0" lvl="0" indent="0" algn="l" rtl="0">
              <a:lnSpc>
                <a:spcPct val="100000"/>
              </a:lnSpc>
              <a:spcBef>
                <a:spcPts val="200"/>
              </a:spcBef>
              <a:spcAft>
                <a:spcPts val="0"/>
              </a:spcAft>
              <a:buClr>
                <a:schemeClr val="dk1"/>
              </a:buClr>
              <a:buSzPts val="1000"/>
              <a:buFont typeface="Calibri"/>
              <a:buNone/>
            </a:pPr>
            <a:endParaRPr sz="1000"/>
          </a:p>
          <a:p>
            <a:pPr marL="0" lvl="0" indent="0" algn="l" rtl="0">
              <a:lnSpc>
                <a:spcPct val="100000"/>
              </a:lnSpc>
              <a:spcBef>
                <a:spcPts val="380"/>
              </a:spcBef>
              <a:spcAft>
                <a:spcPts val="0"/>
              </a:spcAft>
              <a:buClr>
                <a:schemeClr val="dk1"/>
              </a:buClr>
              <a:buSzPts val="1900"/>
              <a:buFont typeface="Calibri"/>
              <a:buNone/>
            </a:pPr>
            <a:r>
              <a:rPr lang="en-US" sz="1900"/>
              <a:t>Each employee is numbered: 0001, 0002, 0003, etc. up to 2712.</a:t>
            </a:r>
            <a:endParaRPr/>
          </a:p>
          <a:p>
            <a:pPr marL="0" lvl="0" indent="0" algn="l" rtl="0">
              <a:lnSpc>
                <a:spcPct val="100000"/>
              </a:lnSpc>
              <a:spcBef>
                <a:spcPts val="380"/>
              </a:spcBef>
              <a:spcAft>
                <a:spcPts val="0"/>
              </a:spcAft>
              <a:buClr>
                <a:schemeClr val="dk1"/>
              </a:buClr>
              <a:buSzPts val="1900"/>
              <a:buFont typeface="Calibri"/>
              <a:buNone/>
            </a:pPr>
            <a:r>
              <a:rPr lang="en-US" sz="1900"/>
              <a:t>Using four-digit random numbers, a sample is identified: 1315, 0987, 1125, etc.</a:t>
            </a:r>
            <a:endParaRPr/>
          </a:p>
          <a:p>
            <a:pPr marL="342900" lvl="0" indent="-139700" algn="l" rtl="0">
              <a:lnSpc>
                <a:spcPct val="100000"/>
              </a:lnSpc>
              <a:spcBef>
                <a:spcPts val="640"/>
              </a:spcBef>
              <a:spcAft>
                <a:spcPts val="0"/>
              </a:spcAft>
              <a:buClr>
                <a:schemeClr val="dk1"/>
              </a:buClr>
              <a:buSzPts val="3200"/>
              <a:buNone/>
            </a:pPr>
            <a:endParaRPr/>
          </a:p>
        </p:txBody>
      </p:sp>
      <p:sp>
        <p:nvSpPr>
          <p:cNvPr id="255" name="Google Shape;255;p18"/>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56" name="Google Shape;256;p1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22" descr="01f02"/>
          <p:cNvPicPr preferRelativeResize="0"/>
          <p:nvPr/>
        </p:nvPicPr>
        <p:blipFill rotWithShape="1">
          <a:blip r:embed="rId3">
            <a:alphaModFix/>
          </a:blip>
          <a:srcRect/>
          <a:stretch/>
        </p:blipFill>
        <p:spPr>
          <a:xfrm>
            <a:off x="4800600" y="819150"/>
            <a:ext cx="4158737" cy="3937000"/>
          </a:xfrm>
          <a:prstGeom prst="rect">
            <a:avLst/>
          </a:prstGeom>
          <a:noFill/>
          <a:ln>
            <a:noFill/>
          </a:ln>
        </p:spPr>
      </p:pic>
      <p:sp>
        <p:nvSpPr>
          <p:cNvPr id="262" name="Google Shape;262;p22"/>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Sampling Error</a:t>
            </a:r>
            <a:endParaRPr/>
          </a:p>
        </p:txBody>
      </p:sp>
      <p:sp>
        <p:nvSpPr>
          <p:cNvPr id="263" name="Google Shape;263;p22"/>
          <p:cNvSpPr txBox="1">
            <a:spLocks noGrp="1"/>
          </p:cNvSpPr>
          <p:nvPr>
            <p:ph type="body" idx="1"/>
          </p:nvPr>
        </p:nvSpPr>
        <p:spPr>
          <a:xfrm>
            <a:off x="152400" y="819150"/>
            <a:ext cx="5562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n-US" sz="2000"/>
              <a:t>The discrepancy between a sample statistic and its population parameter is called </a:t>
            </a:r>
            <a:r>
              <a:rPr lang="en-US" sz="2000" b="1">
                <a:solidFill>
                  <a:srgbClr val="E36C09"/>
                </a:solidFill>
              </a:rPr>
              <a:t>sampling error</a:t>
            </a:r>
            <a:r>
              <a:rPr lang="en-US" sz="2000">
                <a:solidFill>
                  <a:srgbClr val="E36C09"/>
                </a:solidFill>
              </a:rPr>
              <a:t>. </a:t>
            </a:r>
            <a:endParaRPr/>
          </a:p>
          <a:p>
            <a:pPr marL="342900" lvl="0" indent="-342900" algn="l" rtl="0">
              <a:lnSpc>
                <a:spcPct val="100000"/>
              </a:lnSpc>
              <a:spcBef>
                <a:spcPts val="400"/>
              </a:spcBef>
              <a:spcAft>
                <a:spcPts val="0"/>
              </a:spcAft>
              <a:buClr>
                <a:schemeClr val="dk1"/>
              </a:buClr>
              <a:buSzPts val="2000"/>
              <a:buChar char="•"/>
            </a:pPr>
            <a:r>
              <a:rPr lang="en-US" sz="2000"/>
              <a:t>Defining and measuring sampling error is a large part of inferential statistics</a:t>
            </a:r>
            <a:endParaRPr/>
          </a:p>
        </p:txBody>
      </p:sp>
      <p:sp>
        <p:nvSpPr>
          <p:cNvPr id="264" name="Google Shape;264;p22"/>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65" name="Google Shape;265;p22"/>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20</a:t>
            </a:fld>
            <a:endParaRPr/>
          </a:p>
        </p:txBody>
      </p:sp>
      <p:sp>
        <p:nvSpPr>
          <p:cNvPr id="266" name="Google Shape;266;p22"/>
          <p:cNvSpPr/>
          <p:nvPr/>
        </p:nvSpPr>
        <p:spPr>
          <a:xfrm>
            <a:off x="152400" y="2724150"/>
            <a:ext cx="4572000"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alibri"/>
                <a:ea typeface="Calibri"/>
                <a:cs typeface="Calibri"/>
                <a:sym typeface="Calibri"/>
              </a:rPr>
              <a:t>Figure 1.2</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Calibri"/>
                <a:ea typeface="Calibri"/>
                <a:cs typeface="Calibri"/>
                <a:sym typeface="Calibri"/>
              </a:rPr>
              <a:t>A demonstration of sampling error. Two samples are selected from the same population. Notice that the sample statistics are different from one sample to another, and all of the sample statistics are different from the corresponding population parameters. The natural differences that exist, by chance, between a sample statistic and a population parameter are called </a:t>
            </a:r>
            <a:r>
              <a:rPr lang="en-US" sz="1400" b="0" i="0" u="none" strike="noStrike" cap="none">
                <a:solidFill>
                  <a:srgbClr val="E36C09"/>
                </a:solidFill>
                <a:latin typeface="Calibri"/>
                <a:ea typeface="Calibri"/>
                <a:cs typeface="Calibri"/>
                <a:sym typeface="Calibri"/>
              </a:rPr>
              <a:t>sampling error.</a:t>
            </a:r>
            <a:endParaRPr sz="1400" b="0" i="0" u="none" strike="noStrike" cap="none">
              <a:solidFill>
                <a:srgbClr val="E36C09"/>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24" descr="Image result for machine learning robot"/>
          <p:cNvPicPr preferRelativeResize="0"/>
          <p:nvPr/>
        </p:nvPicPr>
        <p:blipFill rotWithShape="1">
          <a:blip r:embed="rId3">
            <a:alphaModFix/>
          </a:blip>
          <a:srcRect/>
          <a:stretch/>
        </p:blipFill>
        <p:spPr>
          <a:xfrm>
            <a:off x="0" y="856000"/>
            <a:ext cx="4495800" cy="3371850"/>
          </a:xfrm>
          <a:prstGeom prst="rect">
            <a:avLst/>
          </a:prstGeom>
          <a:noFill/>
          <a:ln>
            <a:noFill/>
          </a:ln>
        </p:spPr>
      </p:pic>
      <p:sp>
        <p:nvSpPr>
          <p:cNvPr id="272" name="Google Shape;272;p24"/>
          <p:cNvSpPr txBox="1">
            <a:spLocks noGrp="1"/>
          </p:cNvSpPr>
          <p:nvPr>
            <p:ph type="ctrTitle"/>
          </p:nvPr>
        </p:nvSpPr>
        <p:spPr>
          <a:xfrm>
            <a:off x="3733800" y="1047750"/>
            <a:ext cx="4876800" cy="110251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Exploratory Analysis</a:t>
            </a:r>
            <a:endParaRPr/>
          </a:p>
        </p:txBody>
      </p:sp>
      <p:sp>
        <p:nvSpPr>
          <p:cNvPr id="273" name="Google Shape;273;p24"/>
          <p:cNvSpPr txBox="1">
            <a:spLocks noGrp="1"/>
          </p:cNvSpPr>
          <p:nvPr>
            <p:ph type="subTitle" idx="1"/>
          </p:nvPr>
        </p:nvSpPr>
        <p:spPr>
          <a:xfrm>
            <a:off x="3924300" y="2271594"/>
            <a:ext cx="4495800" cy="131445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Module - 3</a:t>
            </a:r>
            <a:endParaRPr/>
          </a:p>
        </p:txBody>
      </p:sp>
      <p:sp>
        <p:nvSpPr>
          <p:cNvPr id="274" name="Google Shape;274;p24"/>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21</a:t>
            </a:fld>
            <a:endParaRPr/>
          </a:p>
        </p:txBody>
      </p:sp>
      <p:sp>
        <p:nvSpPr>
          <p:cNvPr id="275" name="Google Shape;275;p24"/>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solidFill>
                  <a:srgbClr val="538CD5"/>
                </a:solidFill>
              </a:rPr>
              <a:t>Measures of Central Tendencies</a:t>
            </a:r>
            <a:endParaRPr>
              <a:solidFill>
                <a:srgbClr val="538CD5"/>
              </a:solidFill>
            </a:endParaRPr>
          </a:p>
        </p:txBody>
      </p:sp>
      <p:sp>
        <p:nvSpPr>
          <p:cNvPr id="281" name="Google Shape;281;p25"/>
          <p:cNvSpPr txBox="1">
            <a:spLocks noGrp="1"/>
          </p:cNvSpPr>
          <p:nvPr>
            <p:ph type="sldNum" idx="12"/>
          </p:nvPr>
        </p:nvSpPr>
        <p:spPr>
          <a:xfrm>
            <a:off x="8458200" y="4850600"/>
            <a:ext cx="533400" cy="27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000"/>
              <a:buNone/>
            </a:pPr>
            <a:r>
              <a:rPr lang="en-US"/>
              <a:t>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0"/>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0070C0"/>
                </a:solidFill>
              </a:rPr>
              <a:t>Central Tendency</a:t>
            </a:r>
            <a:endParaRPr/>
          </a:p>
        </p:txBody>
      </p:sp>
      <p:sp>
        <p:nvSpPr>
          <p:cNvPr id="287" name="Google Shape;287;p20"/>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360"/>
              </a:spcBef>
              <a:spcAft>
                <a:spcPts val="0"/>
              </a:spcAft>
              <a:buSzPts val="1800"/>
              <a:buNone/>
            </a:pPr>
            <a:r>
              <a:rPr lang="en-US"/>
              <a:t>The property of data being concentrated in the centre.</a:t>
            </a:r>
            <a:endParaRPr/>
          </a:p>
        </p:txBody>
      </p:sp>
      <p:sp>
        <p:nvSpPr>
          <p:cNvPr id="288" name="Google Shape;288;p20"/>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6"/>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alibri"/>
              <a:buNone/>
            </a:pPr>
            <a:r>
              <a:rPr lang="en-US" sz="2800">
                <a:solidFill>
                  <a:srgbClr val="538CD5"/>
                </a:solidFill>
              </a:rPr>
              <a:t>Measures of Central Tendency</a:t>
            </a:r>
            <a:r>
              <a:rPr lang="en-US" sz="2800"/>
              <a:t> </a:t>
            </a:r>
            <a:endParaRPr/>
          </a:p>
        </p:txBody>
      </p:sp>
      <p:sp>
        <p:nvSpPr>
          <p:cNvPr id="294" name="Google Shape;294;p26"/>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Mean</a:t>
            </a:r>
            <a:endParaRPr/>
          </a:p>
          <a:p>
            <a:pPr marL="342900" lvl="0" indent="-342900" algn="l" rtl="0">
              <a:lnSpc>
                <a:spcPct val="100000"/>
              </a:lnSpc>
              <a:spcBef>
                <a:spcPts val="640"/>
              </a:spcBef>
              <a:spcAft>
                <a:spcPts val="0"/>
              </a:spcAft>
              <a:buClr>
                <a:schemeClr val="dk1"/>
              </a:buClr>
              <a:buSzPts val="3200"/>
              <a:buChar char="•"/>
            </a:pPr>
            <a:r>
              <a:rPr lang="en-US"/>
              <a:t>Median</a:t>
            </a:r>
            <a:endParaRPr/>
          </a:p>
          <a:p>
            <a:pPr marL="342900" lvl="0" indent="-342900" algn="l" rtl="0">
              <a:lnSpc>
                <a:spcPct val="100000"/>
              </a:lnSpc>
              <a:spcBef>
                <a:spcPts val="640"/>
              </a:spcBef>
              <a:spcAft>
                <a:spcPts val="0"/>
              </a:spcAft>
              <a:buClr>
                <a:schemeClr val="dk1"/>
              </a:buClr>
              <a:buSzPts val="3200"/>
              <a:buChar char="•"/>
            </a:pPr>
            <a:r>
              <a:rPr lang="en-US"/>
              <a:t>Mode</a:t>
            </a:r>
            <a:endParaRPr/>
          </a:p>
        </p:txBody>
      </p:sp>
      <p:sp>
        <p:nvSpPr>
          <p:cNvPr id="295" name="Google Shape;295;p26"/>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296" name="Google Shape;296;p2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7"/>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Mean</a:t>
            </a:r>
            <a:endParaRPr>
              <a:solidFill>
                <a:srgbClr val="538CD5"/>
              </a:solidFill>
            </a:endParaRPr>
          </a:p>
        </p:txBody>
      </p:sp>
      <p:sp>
        <p:nvSpPr>
          <p:cNvPr id="302" name="Google Shape;302;p27"/>
          <p:cNvSpPr txBox="1">
            <a:spLocks noGrp="1"/>
          </p:cNvSpPr>
          <p:nvPr>
            <p:ph type="body" idx="1"/>
          </p:nvPr>
        </p:nvSpPr>
        <p:spPr>
          <a:xfrm>
            <a:off x="628650" y="1051166"/>
            <a:ext cx="7886700" cy="326350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2700"/>
              <a:buNone/>
            </a:pPr>
            <a:r>
              <a:rPr lang="en-US" sz="2700"/>
              <a:t>The mean is the average of all numbers and is sometimes called the arithmetic mean.</a:t>
            </a:r>
            <a:endParaRPr/>
          </a:p>
        </p:txBody>
      </p:sp>
      <p:sp>
        <p:nvSpPr>
          <p:cNvPr id="303" name="Google Shape;303;p27"/>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Median</a:t>
            </a:r>
            <a:endParaRPr>
              <a:solidFill>
                <a:srgbClr val="538CD5"/>
              </a:solidFill>
            </a:endParaRPr>
          </a:p>
        </p:txBody>
      </p:sp>
      <p:sp>
        <p:nvSpPr>
          <p:cNvPr id="309" name="Google Shape;309;p28"/>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2700"/>
              <a:buNone/>
            </a:pPr>
            <a:r>
              <a:rPr lang="en-US" sz="2700"/>
              <a:t>The statistical median is the middle number in a sequence of numbers. To find the median, organize each number in order by size; the number in the middle is the median</a:t>
            </a:r>
            <a:endParaRPr/>
          </a:p>
        </p:txBody>
      </p:sp>
      <p:sp>
        <p:nvSpPr>
          <p:cNvPr id="310" name="Google Shape;310;p2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9"/>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Mode</a:t>
            </a:r>
            <a:endParaRPr>
              <a:solidFill>
                <a:schemeClr val="accent1"/>
              </a:solidFill>
            </a:endParaRPr>
          </a:p>
        </p:txBody>
      </p:sp>
      <p:sp>
        <p:nvSpPr>
          <p:cNvPr id="316" name="Google Shape;316;p2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2700"/>
              <a:buNone/>
            </a:pPr>
            <a:r>
              <a:rPr lang="en-US" sz="2700"/>
              <a:t>The mode is the number that occurs most often within a set of numbers.</a:t>
            </a:r>
            <a:endParaRPr/>
          </a:p>
        </p:txBody>
      </p:sp>
      <p:sp>
        <p:nvSpPr>
          <p:cNvPr id="317" name="Google Shape;317;p29"/>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0"/>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11111"/>
              <a:buFont typeface="Calibri"/>
              <a:buNone/>
            </a:pPr>
            <a:r>
              <a:rPr lang="en-US">
                <a:solidFill>
                  <a:schemeClr val="accent1"/>
                </a:solidFill>
              </a:rPr>
              <a:t>Measure of Spread / Data Variability</a:t>
            </a:r>
            <a:endParaRPr>
              <a:solidFill>
                <a:schemeClr val="accent1"/>
              </a:solidFill>
            </a:endParaRPr>
          </a:p>
        </p:txBody>
      </p:sp>
      <p:sp>
        <p:nvSpPr>
          <p:cNvPr id="323" name="Google Shape;323;p30"/>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Range</a:t>
            </a:r>
            <a:endParaRPr>
              <a:solidFill>
                <a:schemeClr val="accent1"/>
              </a:solidFill>
            </a:endParaRPr>
          </a:p>
        </p:txBody>
      </p:sp>
      <p:sp>
        <p:nvSpPr>
          <p:cNvPr id="329" name="Google Shape;329;p31"/>
          <p:cNvSpPr txBox="1">
            <a:spLocks noGrp="1"/>
          </p:cNvSpPr>
          <p:nvPr>
            <p:ph type="body" idx="1"/>
          </p:nvPr>
        </p:nvSpPr>
        <p:spPr>
          <a:xfrm>
            <a:off x="767798" y="1279766"/>
            <a:ext cx="4102376" cy="326350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t>The range is the difference between the highest and lowest values within a set of numbers.</a:t>
            </a:r>
            <a:endParaRPr/>
          </a:p>
        </p:txBody>
      </p:sp>
      <p:sp>
        <p:nvSpPr>
          <p:cNvPr id="330" name="Google Shape;330;p3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29</a:t>
            </a:fld>
            <a:endParaRPr/>
          </a:p>
        </p:txBody>
      </p:sp>
      <p:pic>
        <p:nvPicPr>
          <p:cNvPr id="331" name="Google Shape;331;p31"/>
          <p:cNvPicPr preferRelativeResize="0"/>
          <p:nvPr/>
        </p:nvPicPr>
        <p:blipFill rotWithShape="1">
          <a:blip r:embed="rId3">
            <a:alphaModFix/>
          </a:blip>
          <a:srcRect/>
          <a:stretch/>
        </p:blipFill>
        <p:spPr>
          <a:xfrm>
            <a:off x="6312899" y="1084671"/>
            <a:ext cx="1733550" cy="316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10095e81ede_0_2"/>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sz="2500" b="1">
                <a:solidFill>
                  <a:srgbClr val="538CD5"/>
                </a:solidFill>
              </a:rPr>
              <a:t>Interquartile Range (IQR)Range</a:t>
            </a:r>
            <a:endParaRPr sz="2500" b="1">
              <a:solidFill>
                <a:srgbClr val="538CD5"/>
              </a:solidFill>
            </a:endParaRPr>
          </a:p>
        </p:txBody>
      </p:sp>
      <p:sp>
        <p:nvSpPr>
          <p:cNvPr id="337" name="Google Shape;337;g10095e81ede_0_2"/>
          <p:cNvSpPr txBox="1">
            <a:spLocks noGrp="1"/>
          </p:cNvSpPr>
          <p:nvPr>
            <p:ph type="body" idx="1"/>
          </p:nvPr>
        </p:nvSpPr>
        <p:spPr>
          <a:xfrm>
            <a:off x="767798" y="1279766"/>
            <a:ext cx="4102500" cy="32634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2400"/>
              <a:t>The interquartile range is the middle half of the data.</a:t>
            </a:r>
            <a:endParaRPr sz="2400"/>
          </a:p>
          <a:p>
            <a:pPr marL="0" lvl="0" indent="0" algn="l" rtl="0">
              <a:lnSpc>
                <a:spcPct val="115000"/>
              </a:lnSpc>
              <a:spcBef>
                <a:spcPts val="0"/>
              </a:spcBef>
              <a:spcAft>
                <a:spcPts val="0"/>
              </a:spcAft>
              <a:buClr>
                <a:schemeClr val="dk1"/>
              </a:buClr>
              <a:buSzPts val="1100"/>
              <a:buFont typeface="Arial"/>
              <a:buNone/>
            </a:pPr>
            <a:r>
              <a:rPr lang="en-US" sz="2400"/>
              <a:t>Mathematically the interquartile range includes the 50% of data points that fall between Q1 and Q3.</a:t>
            </a:r>
            <a:endParaRPr sz="4200"/>
          </a:p>
        </p:txBody>
      </p:sp>
      <p:sp>
        <p:nvSpPr>
          <p:cNvPr id="338" name="Google Shape;338;g10095e81ede_0_2"/>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30</a:t>
            </a:fld>
            <a:endParaRPr/>
          </a:p>
        </p:txBody>
      </p:sp>
      <p:pic>
        <p:nvPicPr>
          <p:cNvPr id="339" name="Google Shape;339;g10095e81ede_0_2" descr="http://my.ilstu.edu/~gjin/hsc204-hed/Module-5-Summary-Measure-2/Figure-3-8.png"/>
          <p:cNvPicPr preferRelativeResize="0"/>
          <p:nvPr/>
        </p:nvPicPr>
        <p:blipFill rotWithShape="1">
          <a:blip r:embed="rId3">
            <a:alphaModFix/>
          </a:blip>
          <a:srcRect/>
          <a:stretch/>
        </p:blipFill>
        <p:spPr>
          <a:xfrm>
            <a:off x="5486398" y="903100"/>
            <a:ext cx="3162300" cy="3638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2"/>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Variance(</a:t>
            </a:r>
            <a:r>
              <a:rPr lang="en-US" b="1">
                <a:solidFill>
                  <a:schemeClr val="accent1"/>
                </a:solidFill>
              </a:rPr>
              <a:t>σ</a:t>
            </a:r>
            <a:r>
              <a:rPr lang="en-US" b="1" baseline="30000">
                <a:solidFill>
                  <a:schemeClr val="accent1"/>
                </a:solidFill>
              </a:rPr>
              <a:t>2</a:t>
            </a:r>
            <a:r>
              <a:rPr lang="en-US" b="1">
                <a:solidFill>
                  <a:schemeClr val="accent1"/>
                </a:solidFill>
              </a:rPr>
              <a:t>)</a:t>
            </a:r>
            <a:endParaRPr>
              <a:solidFill>
                <a:schemeClr val="accent1"/>
              </a:solidFill>
            </a:endParaRPr>
          </a:p>
        </p:txBody>
      </p:sp>
      <p:sp>
        <p:nvSpPr>
          <p:cNvPr id="345" name="Google Shape;345;p32"/>
          <p:cNvSpPr txBox="1">
            <a:spLocks noGrp="1"/>
          </p:cNvSpPr>
          <p:nvPr>
            <p:ph type="body" idx="1"/>
          </p:nvPr>
        </p:nvSpPr>
        <p:spPr>
          <a:xfrm>
            <a:off x="628650" y="940000"/>
            <a:ext cx="3838500" cy="3263400"/>
          </a:xfrm>
          <a:prstGeom prst="rect">
            <a:avLst/>
          </a:prstGeom>
          <a:noFill/>
          <a:ln>
            <a:noFill/>
          </a:ln>
        </p:spPr>
        <p:txBody>
          <a:bodyPr spcFirstLastPara="1" wrap="square" lIns="91425" tIns="45700" rIns="91425" bIns="45700" anchor="t" anchorCtr="0">
            <a:normAutofit fontScale="85000" lnSpcReduction="20000"/>
          </a:bodyPr>
          <a:lstStyle/>
          <a:p>
            <a:pPr marL="457200" lvl="0" indent="-381511" algn="l" rtl="0">
              <a:lnSpc>
                <a:spcPct val="115000"/>
              </a:lnSpc>
              <a:spcBef>
                <a:spcPts val="0"/>
              </a:spcBef>
              <a:spcAft>
                <a:spcPts val="0"/>
              </a:spcAft>
              <a:buSzPct val="100000"/>
              <a:buChar char="•"/>
            </a:pPr>
            <a:r>
              <a:rPr lang="en-US" sz="2833"/>
              <a:t>Variance is the average squared difference of the values from the mean. </a:t>
            </a:r>
            <a:endParaRPr sz="2833"/>
          </a:p>
          <a:p>
            <a:pPr marL="457200" lvl="0" indent="-381511" algn="l" rtl="0">
              <a:lnSpc>
                <a:spcPct val="115000"/>
              </a:lnSpc>
              <a:spcBef>
                <a:spcPts val="0"/>
              </a:spcBef>
              <a:spcAft>
                <a:spcPts val="0"/>
              </a:spcAft>
              <a:buSzPct val="100000"/>
              <a:buChar char="•"/>
            </a:pPr>
            <a:r>
              <a:rPr lang="en-US" sz="2833"/>
              <a:t>Unlike previous measures of variability, the variance includes all values in the calculation by comparing each value to the mean.</a:t>
            </a:r>
            <a:endParaRPr sz="2833"/>
          </a:p>
          <a:p>
            <a:pPr marL="457200" lvl="0" indent="0" algn="l" rtl="0">
              <a:lnSpc>
                <a:spcPct val="100000"/>
              </a:lnSpc>
              <a:spcBef>
                <a:spcPts val="0"/>
              </a:spcBef>
              <a:spcAft>
                <a:spcPts val="0"/>
              </a:spcAft>
              <a:buNone/>
            </a:pPr>
            <a:endParaRPr/>
          </a:p>
        </p:txBody>
      </p:sp>
      <p:sp>
        <p:nvSpPr>
          <p:cNvPr id="346" name="Google Shape;346;p32"/>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31</a:t>
            </a:fld>
            <a:endParaRPr/>
          </a:p>
        </p:txBody>
      </p:sp>
      <p:pic>
        <p:nvPicPr>
          <p:cNvPr id="347" name="Google Shape;347;p32"/>
          <p:cNvPicPr preferRelativeResize="0"/>
          <p:nvPr/>
        </p:nvPicPr>
        <p:blipFill rotWithShape="1">
          <a:blip r:embed="rId3">
            <a:alphaModFix/>
          </a:blip>
          <a:srcRect/>
          <a:stretch/>
        </p:blipFill>
        <p:spPr>
          <a:xfrm>
            <a:off x="4676852" y="2456521"/>
            <a:ext cx="2486025" cy="1209675"/>
          </a:xfrm>
          <a:prstGeom prst="rect">
            <a:avLst/>
          </a:prstGeom>
          <a:noFill/>
          <a:ln>
            <a:noFill/>
          </a:ln>
        </p:spPr>
      </p:pic>
      <p:pic>
        <p:nvPicPr>
          <p:cNvPr id="348" name="Google Shape;348;p32"/>
          <p:cNvPicPr preferRelativeResize="0"/>
          <p:nvPr/>
        </p:nvPicPr>
        <p:blipFill rotWithShape="1">
          <a:blip r:embed="rId4">
            <a:alphaModFix/>
          </a:blip>
          <a:srcRect/>
          <a:stretch/>
        </p:blipFill>
        <p:spPr>
          <a:xfrm>
            <a:off x="4710189" y="943429"/>
            <a:ext cx="2419350" cy="971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3"/>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Standard Deviation (</a:t>
            </a:r>
            <a:r>
              <a:rPr lang="en-US" b="1">
                <a:solidFill>
                  <a:schemeClr val="accent1"/>
                </a:solidFill>
              </a:rPr>
              <a:t>σ)</a:t>
            </a:r>
            <a:endParaRPr>
              <a:solidFill>
                <a:schemeClr val="accent1"/>
              </a:solidFill>
            </a:endParaRPr>
          </a:p>
        </p:txBody>
      </p:sp>
      <p:sp>
        <p:nvSpPr>
          <p:cNvPr id="354" name="Google Shape;354;p33"/>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32</a:t>
            </a:fld>
            <a:endParaRPr/>
          </a:p>
        </p:txBody>
      </p:sp>
      <p:sp>
        <p:nvSpPr>
          <p:cNvPr id="355" name="Google Shape;355;p33"/>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pic>
        <p:nvPicPr>
          <p:cNvPr id="356" name="Google Shape;356;p33" title="std_dev_population_vs_sample_v2.png"/>
          <p:cNvPicPr preferRelativeResize="0"/>
          <p:nvPr/>
        </p:nvPicPr>
        <p:blipFill>
          <a:blip r:embed="rId3">
            <a:alphaModFix/>
          </a:blip>
          <a:stretch>
            <a:fillRect/>
          </a:stretch>
        </p:blipFill>
        <p:spPr>
          <a:xfrm>
            <a:off x="152400" y="746550"/>
            <a:ext cx="8395223" cy="395165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10095e81ede_0_3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Percentile</a:t>
            </a:r>
            <a:endParaRPr/>
          </a:p>
        </p:txBody>
      </p:sp>
      <p:sp>
        <p:nvSpPr>
          <p:cNvPr id="362" name="Google Shape;362;g10095e81ede_0_31"/>
          <p:cNvSpPr txBox="1">
            <a:spLocks noGrp="1"/>
          </p:cNvSpPr>
          <p:nvPr>
            <p:ph type="body" idx="1"/>
          </p:nvPr>
        </p:nvSpPr>
        <p:spPr>
          <a:xfrm>
            <a:off x="628650" y="893582"/>
            <a:ext cx="7886700" cy="1297168"/>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lnSpc>
                <a:spcPct val="100000"/>
              </a:lnSpc>
              <a:spcBef>
                <a:spcPts val="0"/>
              </a:spcBef>
              <a:spcAft>
                <a:spcPts val="0"/>
              </a:spcAft>
              <a:buClr>
                <a:schemeClr val="dk1"/>
              </a:buClr>
              <a:buSzPct val="100000"/>
              <a:buChar char="•"/>
            </a:pPr>
            <a:r>
              <a:rPr lang="en-US"/>
              <a:t>A percentile (or a centile) is a measure used in statistics indicating the value below which a given percentage of observations in a group of observations fall. </a:t>
            </a:r>
            <a:endParaRPr/>
          </a:p>
        </p:txBody>
      </p:sp>
      <p:pic>
        <p:nvPicPr>
          <p:cNvPr id="363" name="Google Shape;363;g10095e81ede_0_31" descr="https://upload.wikimedia.org/wikipedia/commons/thumb/8/8c/Standard_deviation_diagram.svg/325px-Standard_deviation_diagram.svg.png"/>
          <p:cNvPicPr preferRelativeResize="0"/>
          <p:nvPr/>
        </p:nvPicPr>
        <p:blipFill rotWithShape="1">
          <a:blip r:embed="rId3">
            <a:alphaModFix/>
          </a:blip>
          <a:srcRect/>
          <a:stretch/>
        </p:blipFill>
        <p:spPr>
          <a:xfrm>
            <a:off x="2049481" y="2293516"/>
            <a:ext cx="4351319" cy="2182354"/>
          </a:xfrm>
          <a:prstGeom prst="rect">
            <a:avLst/>
          </a:prstGeom>
          <a:noFill/>
          <a:ln>
            <a:noFill/>
          </a:ln>
        </p:spPr>
      </p:pic>
      <p:sp>
        <p:nvSpPr>
          <p:cNvPr id="364" name="Google Shape;364;g10095e81ede_0_3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33</a:t>
            </a:fld>
            <a:endParaRPr/>
          </a:p>
        </p:txBody>
      </p:sp>
      <p:sp>
        <p:nvSpPr>
          <p:cNvPr id="365" name="Google Shape;365;g10095e81ede_0_31"/>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10095e81ede_0_37"/>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chemeClr val="accent1"/>
                </a:solidFill>
              </a:rPr>
              <a:t>Distributions</a:t>
            </a:r>
            <a:endParaRPr>
              <a:solidFill>
                <a:schemeClr val="accent1"/>
              </a:solidFill>
            </a:endParaRPr>
          </a:p>
        </p:txBody>
      </p:sp>
      <p:sp>
        <p:nvSpPr>
          <p:cNvPr id="371" name="Google Shape;371;g10095e81ede_0_37"/>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34</a:t>
            </a:fld>
            <a:endParaRPr/>
          </a:p>
        </p:txBody>
      </p:sp>
      <p:sp>
        <p:nvSpPr>
          <p:cNvPr id="372" name="Google Shape;372;g10095e81ede_0_37"/>
          <p:cNvSpPr txBox="1"/>
          <p:nvPr/>
        </p:nvSpPr>
        <p:spPr>
          <a:xfrm>
            <a:off x="457200" y="854275"/>
            <a:ext cx="71157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The graphical representation of all observations is known as distributio</a:t>
            </a:r>
            <a:r>
              <a:rPr lang="en-US" sz="1400" b="0" i="0" u="none" strike="noStrike" cap="none">
                <a:solidFill>
                  <a:schemeClr val="dk1"/>
                </a:solidFill>
                <a:latin typeface="Calibri"/>
                <a:ea typeface="Calibri"/>
                <a:cs typeface="Calibri"/>
                <a:sym typeface="Calibri"/>
              </a:rPr>
              <a:t>n</a:t>
            </a:r>
            <a:endParaRPr sz="1400" b="0" i="0" u="none" strike="noStrike" cap="none">
              <a:solidFill>
                <a:srgbClr val="000000"/>
              </a:solidFill>
              <a:latin typeface="Arial"/>
              <a:ea typeface="Arial"/>
              <a:cs typeface="Arial"/>
              <a:sym typeface="Arial"/>
            </a:endParaRPr>
          </a:p>
        </p:txBody>
      </p:sp>
      <p:pic>
        <p:nvPicPr>
          <p:cNvPr id="373" name="Google Shape;373;g10095e81ede_0_37"/>
          <p:cNvPicPr preferRelativeResize="0"/>
          <p:nvPr/>
        </p:nvPicPr>
        <p:blipFill rotWithShape="1">
          <a:blip r:embed="rId3">
            <a:alphaModFix/>
          </a:blip>
          <a:srcRect/>
          <a:stretch/>
        </p:blipFill>
        <p:spPr>
          <a:xfrm>
            <a:off x="2543675" y="1368800"/>
            <a:ext cx="6447922" cy="3336425"/>
          </a:xfrm>
          <a:prstGeom prst="rect">
            <a:avLst/>
          </a:prstGeom>
          <a:noFill/>
          <a:ln>
            <a:noFill/>
          </a:ln>
        </p:spPr>
      </p:pic>
      <p:sp>
        <p:nvSpPr>
          <p:cNvPr id="374" name="Google Shape;374;g10095e81ede_0_37"/>
          <p:cNvSpPr txBox="1"/>
          <p:nvPr/>
        </p:nvSpPr>
        <p:spPr>
          <a:xfrm>
            <a:off x="2286000" y="2491340"/>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9"/>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Types Of Distributions</a:t>
            </a:r>
            <a:endParaRPr>
              <a:solidFill>
                <a:schemeClr val="accent1"/>
              </a:solidFill>
            </a:endParaRPr>
          </a:p>
        </p:txBody>
      </p:sp>
      <p:sp>
        <p:nvSpPr>
          <p:cNvPr id="380" name="Google Shape;380;p39"/>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35</a:t>
            </a:fld>
            <a:endParaRPr/>
          </a:p>
        </p:txBody>
      </p:sp>
      <p:pic>
        <p:nvPicPr>
          <p:cNvPr id="381" name="Google Shape;381;p39" descr="E:\OFFICE WORKS\PPT files\datamites\DS Statistics\image.png"/>
          <p:cNvPicPr preferRelativeResize="0"/>
          <p:nvPr/>
        </p:nvPicPr>
        <p:blipFill rotWithShape="1">
          <a:blip r:embed="rId3">
            <a:alphaModFix/>
          </a:blip>
          <a:srcRect/>
          <a:stretch/>
        </p:blipFill>
        <p:spPr>
          <a:xfrm>
            <a:off x="0" y="354791"/>
            <a:ext cx="8817586" cy="4614537"/>
          </a:xfrm>
          <a:prstGeom prst="rect">
            <a:avLst/>
          </a:prstGeom>
          <a:noFill/>
          <a:ln>
            <a:noFill/>
          </a:ln>
        </p:spPr>
      </p:pic>
      <p:sp>
        <p:nvSpPr>
          <p:cNvPr id="382" name="Google Shape;382;p39"/>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a:p>
            <a:pPr marL="0" lvl="0" indent="0" algn="ctr" rtl="0">
              <a:lnSpc>
                <a:spcPct val="100000"/>
              </a:lnSpc>
              <a:spcBef>
                <a:spcPts val="0"/>
              </a:spcBef>
              <a:spcAft>
                <a:spcPts val="0"/>
              </a:spcAft>
              <a:buSzPts val="14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10095e81ede_0_55"/>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Normal Distribution</a:t>
            </a:r>
            <a:endParaRPr>
              <a:solidFill>
                <a:schemeClr val="accent1"/>
              </a:solidFill>
            </a:endParaRPr>
          </a:p>
        </p:txBody>
      </p:sp>
      <p:sp>
        <p:nvSpPr>
          <p:cNvPr id="388" name="Google Shape;388;g10095e81ede_0_55"/>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36</a:t>
            </a:fld>
            <a:endParaRPr/>
          </a:p>
        </p:txBody>
      </p:sp>
      <p:sp>
        <p:nvSpPr>
          <p:cNvPr id="389" name="Google Shape;389;g10095e81ede_0_55"/>
          <p:cNvSpPr txBox="1"/>
          <p:nvPr/>
        </p:nvSpPr>
        <p:spPr>
          <a:xfrm>
            <a:off x="231375" y="916575"/>
            <a:ext cx="80445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111111"/>
                </a:solidFill>
                <a:highlight>
                  <a:srgbClr val="FFFFFF"/>
                </a:highlight>
                <a:latin typeface="Arial"/>
                <a:ea typeface="Arial"/>
                <a:cs typeface="Arial"/>
                <a:sym typeface="Arial"/>
              </a:rPr>
              <a:t>Normal distribution, also known as the Gaussian distribution, is a </a:t>
            </a:r>
            <a:r>
              <a:rPr lang="en-US" sz="1300" b="0" i="0" u="none" strike="noStrike" cap="none">
                <a:solidFill>
                  <a:srgbClr val="111111"/>
                </a:solidFill>
                <a:latin typeface="Arial"/>
                <a:ea typeface="Arial"/>
                <a:cs typeface="Arial"/>
                <a:sym typeface="Arial"/>
              </a:rPr>
              <a:t>probability distribution </a:t>
            </a:r>
            <a:r>
              <a:rPr lang="en-US" sz="1300" b="0" i="0" u="none" strike="noStrike" cap="none">
                <a:solidFill>
                  <a:srgbClr val="111111"/>
                </a:solidFill>
                <a:highlight>
                  <a:srgbClr val="FFFFFF"/>
                </a:highlight>
                <a:latin typeface="Arial"/>
                <a:ea typeface="Arial"/>
                <a:cs typeface="Arial"/>
                <a:sym typeface="Arial"/>
              </a:rPr>
              <a:t>that is symmetric about the mean, showing that data near the mean are more frequent in occurrence than data far from the mean.</a:t>
            </a:r>
            <a:endParaRPr sz="1400" b="0" i="0" u="none" strike="noStrike" cap="none">
              <a:solidFill>
                <a:srgbClr val="000000"/>
              </a:solidFill>
              <a:latin typeface="Arial"/>
              <a:ea typeface="Arial"/>
              <a:cs typeface="Arial"/>
              <a:sym typeface="Arial"/>
            </a:endParaRPr>
          </a:p>
        </p:txBody>
      </p:sp>
      <p:pic>
        <p:nvPicPr>
          <p:cNvPr id="390" name="Google Shape;390;g10095e81ede_0_55"/>
          <p:cNvPicPr preferRelativeResize="0"/>
          <p:nvPr/>
        </p:nvPicPr>
        <p:blipFill rotWithShape="1">
          <a:blip r:embed="rId3">
            <a:alphaModFix/>
          </a:blip>
          <a:srcRect/>
          <a:stretch/>
        </p:blipFill>
        <p:spPr>
          <a:xfrm>
            <a:off x="2661875" y="1907475"/>
            <a:ext cx="3691850" cy="1800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10095e81ede_0_67"/>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Properties Of Normal Distribution</a:t>
            </a:r>
            <a:endParaRPr>
              <a:solidFill>
                <a:schemeClr val="accent1"/>
              </a:solidFill>
            </a:endParaRPr>
          </a:p>
        </p:txBody>
      </p:sp>
      <p:sp>
        <p:nvSpPr>
          <p:cNvPr id="396" name="Google Shape;396;g10095e81ede_0_67"/>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37</a:t>
            </a:fld>
            <a:endParaRPr/>
          </a:p>
        </p:txBody>
      </p:sp>
      <p:sp>
        <p:nvSpPr>
          <p:cNvPr id="397" name="Google Shape;397;g10095e81ede_0_67"/>
          <p:cNvSpPr txBox="1"/>
          <p:nvPr/>
        </p:nvSpPr>
        <p:spPr>
          <a:xfrm>
            <a:off x="231375" y="916575"/>
            <a:ext cx="8044500" cy="2708400"/>
          </a:xfrm>
          <a:prstGeom prst="rect">
            <a:avLst/>
          </a:prstGeom>
          <a:noFill/>
          <a:ln>
            <a:noFill/>
          </a:ln>
        </p:spPr>
        <p:txBody>
          <a:bodyPr spcFirstLastPara="1" wrap="square" lIns="91425" tIns="91425" rIns="91425" bIns="91425" anchor="t" anchorCtr="0">
            <a:spAutoFit/>
          </a:bodyPr>
          <a:lstStyle/>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Empirical Rule</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Distortion in Normal Distribution</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Central Limit Theorem</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Standard Normal Distribution</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Outliers</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QQ plot</a:t>
            </a:r>
            <a:endParaRPr sz="1900" b="0" i="0" u="none" strike="noStrike" cap="none">
              <a:solidFill>
                <a:srgbClr val="000000"/>
              </a:solidFill>
              <a:latin typeface="Arial"/>
              <a:ea typeface="Arial"/>
              <a:cs typeface="Arial"/>
              <a:sym typeface="Arial"/>
            </a:endParaRPr>
          </a:p>
          <a:p>
            <a:pPr marL="457200" marR="0" lvl="0" indent="-349250" algn="l" rtl="0">
              <a:lnSpc>
                <a:spcPct val="115000"/>
              </a:lnSpc>
              <a:spcBef>
                <a:spcPts val="0"/>
              </a:spcBef>
              <a:spcAft>
                <a:spcPts val="0"/>
              </a:spcAft>
              <a:buClr>
                <a:srgbClr val="000000"/>
              </a:buClr>
              <a:buSzPts val="1900"/>
              <a:buFont typeface="Arial"/>
              <a:buAutoNum type="arabicPeriod"/>
            </a:pPr>
            <a:r>
              <a:rPr lang="en-US" sz="1900" b="0" i="0" u="none" strike="noStrike" cap="none">
                <a:solidFill>
                  <a:srgbClr val="000000"/>
                </a:solidFill>
                <a:latin typeface="Arial"/>
                <a:ea typeface="Arial"/>
                <a:cs typeface="Arial"/>
                <a:sym typeface="Arial"/>
              </a:rPr>
              <a:t>Log,Sqrt,Boxcox transformation</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100" b="0" i="0" u="none" strike="noStrike" cap="none">
              <a:solidFill>
                <a:srgbClr val="111111"/>
              </a:solidFill>
              <a:highlight>
                <a:srgbClr val="FFFFFF"/>
              </a:highlight>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6"/>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Empirical Rule</a:t>
            </a:r>
            <a:endParaRPr>
              <a:solidFill>
                <a:schemeClr val="accent1"/>
              </a:solidFill>
            </a:endParaRPr>
          </a:p>
        </p:txBody>
      </p:sp>
      <p:sp>
        <p:nvSpPr>
          <p:cNvPr id="403" name="Google Shape;403;p36"/>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13175" algn="l" rtl="0">
              <a:lnSpc>
                <a:spcPct val="100000"/>
              </a:lnSpc>
              <a:spcBef>
                <a:spcPts val="0"/>
              </a:spcBef>
              <a:spcAft>
                <a:spcPts val="0"/>
              </a:spcAft>
              <a:buClr>
                <a:schemeClr val="dk1"/>
              </a:buClr>
              <a:buSzPts val="2492"/>
              <a:buChar char="•"/>
            </a:pPr>
            <a:r>
              <a:rPr lang="en-US" sz="2492"/>
              <a:t>The empirical rule states that for a normal distribution, nearly all of the data will fall within three standard deviations of the mean. The empirical rule can be broken down into three parts:</a:t>
            </a:r>
            <a:endParaRPr sz="2492"/>
          </a:p>
          <a:p>
            <a:pPr marL="342900" lvl="0" indent="-254825" algn="l" rtl="0">
              <a:lnSpc>
                <a:spcPct val="100000"/>
              </a:lnSpc>
              <a:spcBef>
                <a:spcPts val="277"/>
              </a:spcBef>
              <a:spcAft>
                <a:spcPts val="0"/>
              </a:spcAft>
              <a:buClr>
                <a:schemeClr val="dk1"/>
              </a:buClr>
              <a:buSzPts val="1500"/>
              <a:buNone/>
            </a:pPr>
            <a:endParaRPr sz="1500"/>
          </a:p>
          <a:p>
            <a:pPr marL="342900" lvl="0" indent="-350076" algn="l" rtl="0">
              <a:lnSpc>
                <a:spcPct val="100000"/>
              </a:lnSpc>
              <a:spcBef>
                <a:spcPts val="277"/>
              </a:spcBef>
              <a:spcAft>
                <a:spcPts val="0"/>
              </a:spcAft>
              <a:buClr>
                <a:schemeClr val="dk1"/>
              </a:buClr>
              <a:buSzPts val="1500"/>
              <a:buChar char="•"/>
            </a:pPr>
            <a:r>
              <a:rPr lang="en-US" sz="1500"/>
              <a:t>68% of data falls within the first standard deviation from the mean. (1 Sigma)</a:t>
            </a:r>
            <a:endParaRPr/>
          </a:p>
          <a:p>
            <a:pPr marL="342900" lvl="0" indent="-350076" algn="l" rtl="0">
              <a:lnSpc>
                <a:spcPct val="100000"/>
              </a:lnSpc>
              <a:spcBef>
                <a:spcPts val="277"/>
              </a:spcBef>
              <a:spcAft>
                <a:spcPts val="0"/>
              </a:spcAft>
              <a:buClr>
                <a:schemeClr val="dk1"/>
              </a:buClr>
              <a:buSzPts val="1500"/>
              <a:buChar char="•"/>
            </a:pPr>
            <a:r>
              <a:rPr lang="en-US" sz="1500"/>
              <a:t>95% fall within two standard deviations. (2 Sigma)</a:t>
            </a:r>
            <a:endParaRPr/>
          </a:p>
          <a:p>
            <a:pPr marL="342900" lvl="0" indent="-350076" algn="l" rtl="0">
              <a:lnSpc>
                <a:spcPct val="100000"/>
              </a:lnSpc>
              <a:spcBef>
                <a:spcPts val="277"/>
              </a:spcBef>
              <a:spcAft>
                <a:spcPts val="0"/>
              </a:spcAft>
              <a:buClr>
                <a:schemeClr val="dk1"/>
              </a:buClr>
              <a:buSzPts val="1500"/>
              <a:buChar char="•"/>
            </a:pPr>
            <a:r>
              <a:rPr lang="en-US" sz="1500"/>
              <a:t>99.7% fall within three standard deviations. (3 Sigma)</a:t>
            </a:r>
            <a:endParaRPr/>
          </a:p>
          <a:p>
            <a:pPr marL="342900" lvl="0" indent="-350076" algn="l" rtl="0">
              <a:lnSpc>
                <a:spcPct val="100000"/>
              </a:lnSpc>
              <a:spcBef>
                <a:spcPts val="277"/>
              </a:spcBef>
              <a:spcAft>
                <a:spcPts val="0"/>
              </a:spcAft>
              <a:buClr>
                <a:schemeClr val="dk1"/>
              </a:buClr>
              <a:buSzPts val="1500"/>
              <a:buChar char="•"/>
            </a:pPr>
            <a:r>
              <a:rPr lang="en-US" sz="1500"/>
              <a:t>Any points lying after 3 sigma is outliers.</a:t>
            </a:r>
            <a:endParaRPr sz="1500"/>
          </a:p>
        </p:txBody>
      </p:sp>
      <p:pic>
        <p:nvPicPr>
          <p:cNvPr id="404" name="Google Shape;404;p36" descr="distribution displaying the features of the empirical rule"/>
          <p:cNvPicPr preferRelativeResize="0"/>
          <p:nvPr/>
        </p:nvPicPr>
        <p:blipFill rotWithShape="1">
          <a:blip r:embed="rId3">
            <a:alphaModFix/>
          </a:blip>
          <a:srcRect/>
          <a:stretch/>
        </p:blipFill>
        <p:spPr>
          <a:xfrm>
            <a:off x="5035839" y="3000970"/>
            <a:ext cx="4108162" cy="1622978"/>
          </a:xfrm>
          <a:prstGeom prst="rect">
            <a:avLst/>
          </a:prstGeom>
          <a:noFill/>
          <a:ln>
            <a:noFill/>
          </a:ln>
        </p:spPr>
      </p:pic>
      <p:sp>
        <p:nvSpPr>
          <p:cNvPr id="405" name="Google Shape;405;p3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g10095e81ede_0_74"/>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Distortion in Normal Distribution</a:t>
            </a:r>
            <a:endParaRPr>
              <a:solidFill>
                <a:schemeClr val="accent1"/>
              </a:solidFill>
            </a:endParaRPr>
          </a:p>
        </p:txBody>
      </p:sp>
      <p:sp>
        <p:nvSpPr>
          <p:cNvPr id="411" name="Google Shape;411;g10095e81ede_0_7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39</a:t>
            </a:fld>
            <a:endParaRPr/>
          </a:p>
        </p:txBody>
      </p:sp>
      <p:sp>
        <p:nvSpPr>
          <p:cNvPr id="412" name="Google Shape;412;g10095e81ede_0_74"/>
          <p:cNvSpPr txBox="1"/>
          <p:nvPr/>
        </p:nvSpPr>
        <p:spPr>
          <a:xfrm>
            <a:off x="231375" y="916575"/>
            <a:ext cx="8551800" cy="1600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111111"/>
                </a:solidFill>
                <a:highlight>
                  <a:srgbClr val="FFFFFF"/>
                </a:highlight>
                <a:latin typeface="Arial"/>
                <a:ea typeface="Arial"/>
                <a:cs typeface="Arial"/>
                <a:sym typeface="Arial"/>
              </a:rPr>
              <a:t>The distortion in normally distributed curves can be quantified in 2 ways</a:t>
            </a:r>
            <a:endParaRPr sz="2300" b="0" i="0" u="none" strike="noStrike" cap="none">
              <a:solidFill>
                <a:srgbClr val="111111"/>
              </a:solidFill>
              <a:highlight>
                <a:srgbClr val="FFFFFF"/>
              </a:highlight>
              <a:latin typeface="Arial"/>
              <a:ea typeface="Arial"/>
              <a:cs typeface="Arial"/>
              <a:sym typeface="Arial"/>
            </a:endParaRPr>
          </a:p>
          <a:p>
            <a:pPr marL="457200" marR="0" lvl="0" indent="-374650" algn="l" rtl="0">
              <a:lnSpc>
                <a:spcPct val="100000"/>
              </a:lnSpc>
              <a:spcBef>
                <a:spcPts val="0"/>
              </a:spcBef>
              <a:spcAft>
                <a:spcPts val="0"/>
              </a:spcAft>
              <a:buClr>
                <a:srgbClr val="111111"/>
              </a:buClr>
              <a:buSzPts val="2300"/>
              <a:buFont typeface="Arial"/>
              <a:buAutoNum type="arabicPeriod"/>
            </a:pPr>
            <a:r>
              <a:rPr lang="en-US" sz="2300" b="0" i="0" u="none" strike="noStrike" cap="none">
                <a:solidFill>
                  <a:srgbClr val="111111"/>
                </a:solidFill>
                <a:highlight>
                  <a:srgbClr val="FFFFFF"/>
                </a:highlight>
                <a:latin typeface="Arial"/>
                <a:ea typeface="Arial"/>
                <a:cs typeface="Arial"/>
                <a:sym typeface="Arial"/>
              </a:rPr>
              <a:t>Skewness</a:t>
            </a:r>
            <a:endParaRPr sz="2300" b="0" i="0" u="none" strike="noStrike" cap="none">
              <a:solidFill>
                <a:srgbClr val="111111"/>
              </a:solidFill>
              <a:highlight>
                <a:srgbClr val="FFFFFF"/>
              </a:highlight>
              <a:latin typeface="Arial"/>
              <a:ea typeface="Arial"/>
              <a:cs typeface="Arial"/>
              <a:sym typeface="Arial"/>
            </a:endParaRPr>
          </a:p>
          <a:p>
            <a:pPr marL="457200" marR="0" lvl="0" indent="-374650" algn="l" rtl="0">
              <a:lnSpc>
                <a:spcPct val="100000"/>
              </a:lnSpc>
              <a:spcBef>
                <a:spcPts val="0"/>
              </a:spcBef>
              <a:spcAft>
                <a:spcPts val="0"/>
              </a:spcAft>
              <a:buClr>
                <a:srgbClr val="111111"/>
              </a:buClr>
              <a:buSzPts val="2300"/>
              <a:buFont typeface="Arial"/>
              <a:buAutoNum type="arabicPeriod"/>
            </a:pPr>
            <a:r>
              <a:rPr lang="en-US" sz="2300" b="0" i="0" u="none" strike="noStrike" cap="none">
                <a:solidFill>
                  <a:srgbClr val="111111"/>
                </a:solidFill>
                <a:highlight>
                  <a:srgbClr val="FFFFFF"/>
                </a:highlight>
                <a:latin typeface="Arial"/>
                <a:ea typeface="Arial"/>
                <a:cs typeface="Arial"/>
                <a:sym typeface="Arial"/>
              </a:rPr>
              <a:t>Kurtosis</a:t>
            </a:r>
            <a:endParaRPr sz="2300" b="0" i="0" u="none" strike="noStrike" cap="none">
              <a:solidFill>
                <a:srgbClr val="111111"/>
              </a:solidFill>
              <a:highlight>
                <a:srgbClr val="FFFFFF"/>
              </a:highlight>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10095e81ede_0_84"/>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Skewness in a Distribution</a:t>
            </a:r>
            <a:endParaRPr>
              <a:solidFill>
                <a:schemeClr val="accent1"/>
              </a:solidFill>
            </a:endParaRPr>
          </a:p>
        </p:txBody>
      </p:sp>
      <p:sp>
        <p:nvSpPr>
          <p:cNvPr id="418" name="Google Shape;418;g10095e81ede_0_8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40</a:t>
            </a:fld>
            <a:endParaRPr/>
          </a:p>
        </p:txBody>
      </p:sp>
      <p:sp>
        <p:nvSpPr>
          <p:cNvPr id="419" name="Google Shape;419;g10095e81ede_0_84"/>
          <p:cNvSpPr txBox="1"/>
          <p:nvPr/>
        </p:nvSpPr>
        <p:spPr>
          <a:xfrm>
            <a:off x="80075" y="872075"/>
            <a:ext cx="3000000" cy="3678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00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Skewness is asymmetry in a statistical distribution, in which the curve appears distorted or skewed either to the left or to the right. Skewness can be quantified to define the extent to which a distribution differs from a normal distribution</a:t>
            </a:r>
            <a:endParaRPr sz="1900" b="0" i="0" u="none" strike="noStrike" cap="none">
              <a:solidFill>
                <a:srgbClr val="000000"/>
              </a:solidFill>
              <a:latin typeface="Arial"/>
              <a:ea typeface="Arial"/>
              <a:cs typeface="Arial"/>
              <a:sym typeface="Arial"/>
            </a:endParaRPr>
          </a:p>
        </p:txBody>
      </p:sp>
      <p:pic>
        <p:nvPicPr>
          <p:cNvPr id="420" name="Google Shape;420;g10095e81ede_0_84"/>
          <p:cNvPicPr preferRelativeResize="0"/>
          <p:nvPr/>
        </p:nvPicPr>
        <p:blipFill rotWithShape="1">
          <a:blip r:embed="rId3">
            <a:alphaModFix/>
          </a:blip>
          <a:srcRect/>
          <a:stretch/>
        </p:blipFill>
        <p:spPr>
          <a:xfrm>
            <a:off x="3345950" y="1969750"/>
            <a:ext cx="5112251" cy="2200275"/>
          </a:xfrm>
          <a:prstGeom prst="rect">
            <a:avLst/>
          </a:prstGeom>
          <a:noFill/>
          <a:ln>
            <a:noFill/>
          </a:ln>
        </p:spPr>
      </p:pic>
      <p:sp>
        <p:nvSpPr>
          <p:cNvPr id="421" name="Google Shape;421;g10095e81ede_0_84"/>
          <p:cNvSpPr txBox="1"/>
          <p:nvPr/>
        </p:nvSpPr>
        <p:spPr>
          <a:xfrm>
            <a:off x="3505200" y="4332514"/>
            <a:ext cx="5112251" cy="1051057"/>
          </a:xfrm>
          <a:prstGeom prst="rect">
            <a:avLst/>
          </a:prstGeom>
          <a:noFill/>
          <a:ln>
            <a:noFill/>
          </a:ln>
        </p:spPr>
        <p:txBody>
          <a:bodyPr spcFirstLastPara="1" wrap="square" lIns="91425" tIns="45700" rIns="91425" bIns="45700" anchor="t" anchorCtr="0">
            <a:spAutoFit/>
          </a:bodyPr>
          <a:lstStyle/>
          <a:p>
            <a:pPr marL="101600" marR="0" lvl="0" indent="0" algn="l" rtl="0">
              <a:lnSpc>
                <a:spcPct val="115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If the skewness is greater than 1 or less than -1, the data is highly skewed.</a:t>
            </a:r>
            <a:endParaRPr sz="1400" b="0" i="0" u="none" strike="noStrike" cap="none">
              <a:solidFill>
                <a:srgbClr val="000000"/>
              </a:solidFill>
              <a:latin typeface="Arial"/>
              <a:ea typeface="Arial"/>
              <a:cs typeface="Arial"/>
              <a:sym typeface="Arial"/>
            </a:endParaRPr>
          </a:p>
          <a:p>
            <a:pPr marL="457200" marR="0" lvl="0" indent="0" algn="l" rtl="0">
              <a:lnSpc>
                <a:spcPct val="115000"/>
              </a:lnSpc>
              <a:spcBef>
                <a:spcPts val="0"/>
              </a:spcBef>
              <a:spcAft>
                <a:spcPts val="0"/>
              </a:spcAft>
              <a:buClr>
                <a:srgbClr val="000000"/>
              </a:buClr>
              <a:buSzPts val="20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g10095e81ede_0_103"/>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400"/>
              </a:spcBef>
              <a:spcAft>
                <a:spcPts val="0"/>
              </a:spcAft>
              <a:buClr>
                <a:schemeClr val="dk1"/>
              </a:buClr>
              <a:buSzPts val="1100"/>
              <a:buFont typeface="Arial"/>
              <a:buNone/>
            </a:pPr>
            <a:r>
              <a:rPr lang="en-US" sz="2800">
                <a:solidFill>
                  <a:srgbClr val="538CD5"/>
                </a:solidFill>
              </a:rPr>
              <a:t>How much Skewness and Kurtosis</a:t>
            </a:r>
            <a:endParaRPr sz="3400">
              <a:solidFill>
                <a:srgbClr val="538CD5"/>
              </a:solidFill>
            </a:endParaRPr>
          </a:p>
        </p:txBody>
      </p:sp>
      <p:sp>
        <p:nvSpPr>
          <p:cNvPr id="427" name="Google Shape;427;g10095e81ede_0_103"/>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41</a:t>
            </a:fld>
            <a:endParaRPr/>
          </a:p>
        </p:txBody>
      </p:sp>
      <p:sp>
        <p:nvSpPr>
          <p:cNvPr id="428" name="Google Shape;428;g10095e81ede_0_103"/>
          <p:cNvSpPr txBox="1"/>
          <p:nvPr/>
        </p:nvSpPr>
        <p:spPr>
          <a:xfrm>
            <a:off x="80075" y="872075"/>
            <a:ext cx="8378100" cy="33807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4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If the skewness is between -0.5 and 0.5, the data are fairly symmetrical. If the skewness is between -1 and – 0.5 or between 0.5 and 1, the data is moderately skewed.</a:t>
            </a:r>
            <a:endParaRPr sz="1800" b="0" i="0" u="none" strike="noStrike" cap="none">
              <a:solidFill>
                <a:schemeClr val="dk1"/>
              </a:solidFill>
              <a:latin typeface="Calibri"/>
              <a:ea typeface="Calibri"/>
              <a:cs typeface="Calibri"/>
              <a:sym typeface="Calibri"/>
            </a:endParaRPr>
          </a:p>
          <a:p>
            <a:pPr marL="457200" marR="0" lvl="0" indent="0" algn="l" rtl="0">
              <a:lnSpc>
                <a:spcPct val="115000"/>
              </a:lnSpc>
              <a:spcBef>
                <a:spcPts val="400"/>
              </a:spcBef>
              <a:spcAft>
                <a:spcPts val="0"/>
              </a:spcAft>
              <a:buClr>
                <a:srgbClr val="000000"/>
              </a:buClr>
              <a:buSzPts val="2000"/>
              <a:buFont typeface="Arial"/>
              <a:buNone/>
            </a:pPr>
            <a:endParaRPr sz="1800" b="0" i="0" u="none" strike="noStrike" cap="none">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If the skewness is greater than 1or less than -1, the data is highly skewed.</a:t>
            </a:r>
            <a:endParaRPr sz="1800" b="0" i="0" u="none" strike="noStrike" cap="none">
              <a:solidFill>
                <a:schemeClr val="dk1"/>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000"/>
              <a:buFont typeface="Arial"/>
              <a:buNone/>
            </a:pPr>
            <a:endParaRPr sz="1800" b="0" i="0" u="none" strike="noStrike" cap="none">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A standard normal distribution has kurtosis of 3 and is recognized as mesokurtic. An increased kurtosis (&gt;3) can be visualized as a thin “bell” with a high peak whereas a decreased kurtosis corresponds to a broadening of the peak and “thickening” of the tails.</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10095e81ede_0_94"/>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Kurtosis in a Distribution</a:t>
            </a:r>
            <a:endParaRPr>
              <a:solidFill>
                <a:schemeClr val="accent1"/>
              </a:solidFill>
            </a:endParaRPr>
          </a:p>
        </p:txBody>
      </p:sp>
      <p:sp>
        <p:nvSpPr>
          <p:cNvPr id="434" name="Google Shape;434;g10095e81ede_0_9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42</a:t>
            </a:fld>
            <a:endParaRPr/>
          </a:p>
        </p:txBody>
      </p:sp>
      <p:sp>
        <p:nvSpPr>
          <p:cNvPr id="435" name="Google Shape;435;g10095e81ede_0_94"/>
          <p:cNvSpPr txBox="1"/>
          <p:nvPr/>
        </p:nvSpPr>
        <p:spPr>
          <a:xfrm>
            <a:off x="80075" y="872075"/>
            <a:ext cx="3000000" cy="377536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400"/>
              </a:spcBef>
              <a:spcAft>
                <a:spcPts val="0"/>
              </a:spcAft>
              <a:buClr>
                <a:srgbClr val="000000"/>
              </a:buClr>
              <a:buSzPts val="2500"/>
              <a:buFont typeface="Arial"/>
              <a:buNone/>
            </a:pPr>
            <a:r>
              <a:rPr lang="en-US" sz="2500" b="0" i="0" u="none" strike="noStrike" cap="none">
                <a:solidFill>
                  <a:schemeClr val="dk1"/>
                </a:solidFill>
                <a:latin typeface="Calibri"/>
                <a:ea typeface="Calibri"/>
                <a:cs typeface="Calibri"/>
                <a:sym typeface="Calibri"/>
              </a:rPr>
              <a:t>In probability theory and statistics, kurtosis is a measure of the “peakedness" of the probability distribution of a real-valued random variable.</a:t>
            </a:r>
            <a:endParaRPr sz="2900" b="0" i="0" u="none" strike="noStrike" cap="none">
              <a:solidFill>
                <a:srgbClr val="000000"/>
              </a:solidFill>
              <a:latin typeface="Arial"/>
              <a:ea typeface="Arial"/>
              <a:cs typeface="Arial"/>
              <a:sym typeface="Arial"/>
            </a:endParaRPr>
          </a:p>
        </p:txBody>
      </p:sp>
      <p:pic>
        <p:nvPicPr>
          <p:cNvPr id="436" name="Google Shape;436;g10095e81ede_0_94"/>
          <p:cNvPicPr preferRelativeResize="0"/>
          <p:nvPr/>
        </p:nvPicPr>
        <p:blipFill rotWithShape="1">
          <a:blip r:embed="rId3">
            <a:alphaModFix/>
          </a:blip>
          <a:srcRect/>
          <a:stretch/>
        </p:blipFill>
        <p:spPr>
          <a:xfrm>
            <a:off x="4086750" y="1219125"/>
            <a:ext cx="3806475" cy="24628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0"/>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43</a:t>
            </a:fld>
            <a:endParaRPr/>
          </a:p>
        </p:txBody>
      </p:sp>
      <p:pic>
        <p:nvPicPr>
          <p:cNvPr id="442" name="Google Shape;442;p40" descr="See the source image"/>
          <p:cNvPicPr preferRelativeResize="0"/>
          <p:nvPr/>
        </p:nvPicPr>
        <p:blipFill rotWithShape="1">
          <a:blip r:embed="rId3">
            <a:alphaModFix/>
          </a:blip>
          <a:srcRect/>
          <a:stretch/>
        </p:blipFill>
        <p:spPr>
          <a:xfrm>
            <a:off x="1821543" y="359765"/>
            <a:ext cx="4760686" cy="405483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10095e81ede_0_110"/>
          <p:cNvSpPr txBox="1">
            <a:spLocks noGrp="1"/>
          </p:cNvSpPr>
          <p:nvPr>
            <p:ph type="title"/>
          </p:nvPr>
        </p:nvSpPr>
        <p:spPr>
          <a:xfrm>
            <a:off x="457200" y="133350"/>
            <a:ext cx="6225900" cy="460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400"/>
              </a:spcBef>
              <a:spcAft>
                <a:spcPts val="0"/>
              </a:spcAft>
              <a:buClr>
                <a:schemeClr val="dk1"/>
              </a:buClr>
              <a:buSzPts val="1100"/>
              <a:buFont typeface="Arial"/>
              <a:buNone/>
            </a:pPr>
            <a:r>
              <a:rPr lang="en-US" sz="2100" b="1">
                <a:solidFill>
                  <a:srgbClr val="538CD5"/>
                </a:solidFill>
              </a:rPr>
              <a:t>Which is Best—the Mean, Median, or Mode?</a:t>
            </a:r>
            <a:endParaRPr sz="4000">
              <a:solidFill>
                <a:srgbClr val="538CD5"/>
              </a:solidFill>
            </a:endParaRPr>
          </a:p>
        </p:txBody>
      </p:sp>
      <p:sp>
        <p:nvSpPr>
          <p:cNvPr id="448" name="Google Shape;448;g10095e81ede_0_110"/>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44</a:t>
            </a:fld>
            <a:endParaRPr/>
          </a:p>
        </p:txBody>
      </p:sp>
      <p:sp>
        <p:nvSpPr>
          <p:cNvPr id="449" name="Google Shape;449;g10095e81ede_0_110"/>
          <p:cNvSpPr txBox="1"/>
          <p:nvPr/>
        </p:nvSpPr>
        <p:spPr>
          <a:xfrm>
            <a:off x="80075" y="872075"/>
            <a:ext cx="8378100" cy="361378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400"/>
              </a:spcBef>
              <a:spcAft>
                <a:spcPts val="0"/>
              </a:spcAft>
              <a:buClr>
                <a:srgbClr val="000000"/>
              </a:buClr>
              <a:buSzPts val="2000"/>
              <a:buFont typeface="Arial"/>
              <a:buNone/>
            </a:pPr>
            <a:endParaRPr sz="2000" b="1" i="0" u="none" strike="noStrike" cap="none">
              <a:solidFill>
                <a:schemeClr val="dk1"/>
              </a:solidFill>
              <a:latin typeface="Calibri"/>
              <a:ea typeface="Calibri"/>
              <a:cs typeface="Calibri"/>
              <a:sym typeface="Calibri"/>
            </a:endParaRPr>
          </a:p>
          <a:p>
            <a:pPr marL="457200" marR="0" lvl="0" indent="-355600" algn="l" rtl="0">
              <a:lnSpc>
                <a:spcPct val="115000"/>
              </a:lnSpc>
              <a:spcBef>
                <a:spcPts val="5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When you have a symmetrical distribution for continuous data, the mean, median, and mode are equal. In this case, analysts tend to use the mean because it includes all of the data in the calculations. However, if you have a skewed distribution, the median is often the best measure of central tendency.</a:t>
            </a:r>
            <a:endParaRPr sz="2000" b="0" i="0" u="none" strike="noStrike" cap="none">
              <a:solidFill>
                <a:schemeClr val="dk1"/>
              </a:solidFill>
              <a:latin typeface="Calibri"/>
              <a:ea typeface="Calibri"/>
              <a:cs typeface="Calibri"/>
              <a:sym typeface="Calibri"/>
            </a:endParaRPr>
          </a:p>
          <a:p>
            <a:pPr marL="457200" marR="0" lvl="0" indent="0" algn="l" rtl="0">
              <a:lnSpc>
                <a:spcPct val="115000"/>
              </a:lnSpc>
              <a:spcBef>
                <a:spcPts val="50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457200" marR="0" lvl="0" indent="-355600" algn="l" rtl="0">
              <a:lnSpc>
                <a:spcPct val="115000"/>
              </a:lnSpc>
              <a:spcBef>
                <a:spcPts val="5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When you have categorical or discrete data, the median or mode is usually the best choice. For categorical data, you have to use the mode.</a:t>
            </a:r>
            <a:endParaRPr sz="2500" b="0" i="0" u="none" strike="noStrike" cap="non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Outliers</a:t>
            </a:r>
            <a:endParaRPr>
              <a:solidFill>
                <a:srgbClr val="538CD5"/>
              </a:solidFill>
            </a:endParaRPr>
          </a:p>
        </p:txBody>
      </p:sp>
      <p:sp>
        <p:nvSpPr>
          <p:cNvPr id="470" name="Google Shape;470;p38"/>
          <p:cNvSpPr txBox="1">
            <a:spLocks noGrp="1"/>
          </p:cNvSpPr>
          <p:nvPr>
            <p:ph type="body" idx="1"/>
          </p:nvPr>
        </p:nvSpPr>
        <p:spPr>
          <a:xfrm>
            <a:off x="288225" y="934375"/>
            <a:ext cx="4721700" cy="3698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960"/>
              <a:buNone/>
            </a:pPr>
            <a:r>
              <a:rPr lang="en-US" sz="2400"/>
              <a:t>An outlier is an observation point that is distant from other observations. An outlier may be due to variability in the measurement or it may indicate experimental error; the latter are sometimes excluded from analysis.</a:t>
            </a:r>
            <a:endParaRPr sz="2400"/>
          </a:p>
        </p:txBody>
      </p:sp>
      <p:pic>
        <p:nvPicPr>
          <p:cNvPr id="471" name="Google Shape;471;p38" descr="http://mathworld.wolfram.com/images/eps-gif/OutlierScatterplot_1000.gif"/>
          <p:cNvPicPr preferRelativeResize="0"/>
          <p:nvPr/>
        </p:nvPicPr>
        <p:blipFill rotWithShape="1">
          <a:blip r:embed="rId3">
            <a:alphaModFix/>
          </a:blip>
          <a:srcRect/>
          <a:stretch/>
        </p:blipFill>
        <p:spPr>
          <a:xfrm>
            <a:off x="5138530" y="1369219"/>
            <a:ext cx="3798182" cy="2345325"/>
          </a:xfrm>
          <a:prstGeom prst="rect">
            <a:avLst/>
          </a:prstGeom>
          <a:noFill/>
          <a:ln>
            <a:noFill/>
          </a:ln>
        </p:spPr>
      </p:pic>
      <p:sp>
        <p:nvSpPr>
          <p:cNvPr id="472" name="Google Shape;472;p3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Central Limit Theorem</a:t>
            </a:r>
            <a:endParaRPr>
              <a:solidFill>
                <a:srgbClr val="538CD5"/>
              </a:solidFill>
            </a:endParaRPr>
          </a:p>
        </p:txBody>
      </p:sp>
      <p:sp>
        <p:nvSpPr>
          <p:cNvPr id="478" name="Google Shape;478;p41"/>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FOR DATA SCIENCE</a:t>
            </a:r>
            <a:endParaRPr/>
          </a:p>
        </p:txBody>
      </p:sp>
      <p:sp>
        <p:nvSpPr>
          <p:cNvPr id="479" name="Google Shape;479;p4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46</a:t>
            </a:fld>
            <a:endParaRPr/>
          </a:p>
        </p:txBody>
      </p:sp>
      <p:sp>
        <p:nvSpPr>
          <p:cNvPr id="480" name="Google Shape;480;p41"/>
          <p:cNvSpPr txBox="1"/>
          <p:nvPr/>
        </p:nvSpPr>
        <p:spPr>
          <a:xfrm>
            <a:off x="97875" y="765300"/>
            <a:ext cx="9046200" cy="50067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   </a:t>
            </a:r>
            <a:r>
              <a:rPr lang="en-US" sz="1400" b="0" i="0" u="none" strike="noStrike" cap="none">
                <a:solidFill>
                  <a:schemeClr val="dk1"/>
                </a:solidFill>
                <a:latin typeface="Arial"/>
                <a:ea typeface="Arial"/>
                <a:cs typeface="Arial"/>
                <a:sym typeface="Arial"/>
              </a:rPr>
              <a:t>The central limit theorem states that the distribution of sample means approximates a normal distribution as</a:t>
            </a:r>
            <a:r>
              <a:rPr lang="en-US">
                <a:solidFill>
                  <a:schemeClr val="dk1"/>
                </a:solidFill>
              </a:rPr>
              <a:t> </a:t>
            </a:r>
            <a:r>
              <a:rPr lang="en-US" sz="1400" b="0" i="0" u="none" strike="noStrike" cap="none">
                <a:solidFill>
                  <a:schemeClr val="dk1"/>
                </a:solidFill>
                <a:latin typeface="Arial"/>
                <a:ea typeface="Arial"/>
                <a:cs typeface="Arial"/>
                <a:sym typeface="Arial"/>
              </a:rPr>
              <a:t>the sample size gets larger (assuming that all samples are identical in size), regardless of population distribution shape.</a:t>
            </a:r>
            <a:r>
              <a:rPr lang="en-US" sz="1800" b="0" i="1" u="none" strike="noStrike" cap="none">
                <a:solidFill>
                  <a:schemeClr val="dk1"/>
                </a:solidFill>
                <a:latin typeface="Calibri"/>
                <a:ea typeface="Calibri"/>
                <a:cs typeface="Calibri"/>
                <a:sym typeface="Calibri"/>
              </a:rPr>
              <a:t> </a:t>
            </a:r>
            <a:endParaRPr sz="1800" b="0" i="1"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100"/>
              <a:buFont typeface="Calibri"/>
              <a:buNone/>
            </a:pPr>
            <a:endParaRPr sz="1800" b="0" i="1" u="none" strike="noStrike" cap="none">
              <a:solidFill>
                <a:schemeClr val="dk1"/>
              </a:solidFill>
              <a:latin typeface="Calibri"/>
              <a:ea typeface="Calibri"/>
              <a:cs typeface="Calibri"/>
              <a:sym typeface="Calibri"/>
            </a:endParaRPr>
          </a:p>
          <a:p>
            <a:pPr marL="0" marR="0" lvl="0" indent="0" algn="l" rtl="0">
              <a:lnSpc>
                <a:spcPct val="115000"/>
              </a:lnSpc>
              <a:spcBef>
                <a:spcPts val="400"/>
              </a:spcBef>
              <a:spcAft>
                <a:spcPts val="0"/>
              </a:spcAft>
              <a:buClr>
                <a:schemeClr val="dk1"/>
              </a:buClr>
              <a:buSzPts val="1100"/>
              <a:buFont typeface="Arial"/>
              <a:buNone/>
            </a:pPr>
            <a:r>
              <a:rPr lang="en-US" sz="1400" b="1" i="0" u="none" strike="noStrike" cap="none">
                <a:solidFill>
                  <a:schemeClr val="dk1"/>
                </a:solidFill>
                <a:latin typeface="Arial"/>
                <a:ea typeface="Arial"/>
                <a:cs typeface="Arial"/>
                <a:sym typeface="Arial"/>
              </a:rPr>
              <a:t>CLT in one sentence "Even if I'm not normal, the average is normal"</a:t>
            </a:r>
            <a:endParaRPr sz="1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1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15000"/>
              </a:lnSpc>
              <a:spcBef>
                <a:spcPts val="400"/>
              </a:spcBef>
              <a:spcAft>
                <a:spcPts val="0"/>
              </a:spcAft>
              <a:buClr>
                <a:schemeClr val="dk1"/>
              </a:buClr>
              <a:buSzPts val="1100"/>
              <a:buFont typeface="Arial"/>
              <a:buNone/>
            </a:pPr>
            <a:r>
              <a:rPr lang="en-US" sz="1400" b="0" i="0" u="none" strike="noStrike" cap="none">
                <a:solidFill>
                  <a:schemeClr val="dk1"/>
                </a:solidFill>
                <a:latin typeface="Arial"/>
                <a:ea typeface="Arial"/>
                <a:cs typeface="Arial"/>
                <a:sym typeface="Arial"/>
              </a:rPr>
              <a:t>When collecting means of the samples from any distribution, the no of samples taken for calculating the mean should be greater or equal to 30.</a:t>
            </a:r>
            <a:endParaRPr sz="2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420"/>
              </a:spcBef>
              <a:spcAft>
                <a:spcPts val="0"/>
              </a:spcAft>
              <a:buClr>
                <a:schemeClr val="dk1"/>
              </a:buClr>
              <a:buSzPts val="2100"/>
              <a:buFont typeface="Calibri"/>
              <a:buNone/>
            </a:pPr>
            <a:endParaRPr sz="2100" b="1" i="0" u="none" strike="noStrike" cap="none">
              <a:solidFill>
                <a:schemeClr val="dk1"/>
              </a:solidFill>
              <a:latin typeface="Calibri"/>
              <a:ea typeface="Calibri"/>
              <a:cs typeface="Calibri"/>
              <a:sym typeface="Calibri"/>
            </a:endParaRPr>
          </a:p>
        </p:txBody>
      </p:sp>
      <p:pic>
        <p:nvPicPr>
          <p:cNvPr id="481" name="Google Shape;481;p41"/>
          <p:cNvPicPr preferRelativeResize="0"/>
          <p:nvPr/>
        </p:nvPicPr>
        <p:blipFill rotWithShape="1">
          <a:blip r:embed="rId3">
            <a:alphaModFix/>
          </a:blip>
          <a:srcRect/>
          <a:stretch/>
        </p:blipFill>
        <p:spPr>
          <a:xfrm>
            <a:off x="97875" y="3178000"/>
            <a:ext cx="5943600" cy="13239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10095e81ede_0_176"/>
          <p:cNvSpPr txBox="1">
            <a:spLocks noGrp="1"/>
          </p:cNvSpPr>
          <p:nvPr>
            <p:ph type="title"/>
          </p:nvPr>
        </p:nvSpPr>
        <p:spPr>
          <a:xfrm>
            <a:off x="457200" y="8250"/>
            <a:ext cx="6465900" cy="677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Probability Density Function</a:t>
            </a:r>
            <a:endParaRPr>
              <a:solidFill>
                <a:srgbClr val="538CD5"/>
              </a:solidFill>
            </a:endParaRPr>
          </a:p>
        </p:txBody>
      </p:sp>
      <p:sp>
        <p:nvSpPr>
          <p:cNvPr id="487" name="Google Shape;487;g10095e81ede_0_176"/>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47</a:t>
            </a:fld>
            <a:endParaRPr/>
          </a:p>
        </p:txBody>
      </p:sp>
      <p:sp>
        <p:nvSpPr>
          <p:cNvPr id="488" name="Google Shape;488;g10095e81ede_0_176"/>
          <p:cNvSpPr txBox="1"/>
          <p:nvPr/>
        </p:nvSpPr>
        <p:spPr>
          <a:xfrm>
            <a:off x="97875" y="845375"/>
            <a:ext cx="8738700" cy="2438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50"/>
              <a:buFont typeface="Arial"/>
              <a:buNone/>
            </a:pPr>
            <a:r>
              <a:rPr lang="en-US" sz="1600" b="0" i="0" u="none" strike="noStrike" cap="none">
                <a:solidFill>
                  <a:srgbClr val="555555"/>
                </a:solidFill>
                <a:highlight>
                  <a:srgbClr val="FFFFFF"/>
                </a:highlight>
                <a:latin typeface="Arial"/>
                <a:ea typeface="Arial"/>
                <a:cs typeface="Arial"/>
                <a:sym typeface="Arial"/>
              </a:rPr>
              <a:t>Probability density is the relationship between observations and their probability.</a:t>
            </a: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750"/>
              <a:buFont typeface="Arial"/>
              <a:buNone/>
            </a:pP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r>
              <a:rPr lang="en-US" sz="1600" b="0" i="0" u="none" strike="noStrike" cap="none">
                <a:solidFill>
                  <a:srgbClr val="555555"/>
                </a:solidFill>
                <a:highlight>
                  <a:srgbClr val="FFFFFF"/>
                </a:highlight>
                <a:latin typeface="Arial"/>
                <a:ea typeface="Arial"/>
                <a:cs typeface="Arial"/>
                <a:sym typeface="Arial"/>
              </a:rPr>
              <a:t>The overall shape of the probability density is referred to as a probability distribution, and the calculation of probabilities for specific outcomes of a random variable is performed by a probability density function, or PDF for short.</a:t>
            </a: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US" sz="1600" b="0" i="0" u="none" strike="noStrike" cap="none">
                <a:solidFill>
                  <a:schemeClr val="dk1"/>
                </a:solidFill>
                <a:latin typeface="Calibri"/>
                <a:ea typeface="Calibri"/>
                <a:cs typeface="Calibri"/>
                <a:sym typeface="Calibri"/>
              </a:rPr>
              <a:t>The probability density function for Normal distribution is given as</a:t>
            </a: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endParaRPr sz="1600" b="0" i="0" u="none" strike="noStrike" cap="none">
              <a:solidFill>
                <a:srgbClr val="555555"/>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endParaRPr sz="1600" b="0" i="0" u="none" strike="noStrike" cap="none">
              <a:solidFill>
                <a:srgbClr val="555555"/>
              </a:solidFill>
              <a:highlight>
                <a:srgbClr val="FFFFFF"/>
              </a:highlight>
              <a:latin typeface="Arial"/>
              <a:ea typeface="Arial"/>
              <a:cs typeface="Arial"/>
              <a:sym typeface="Arial"/>
            </a:endParaRPr>
          </a:p>
        </p:txBody>
      </p:sp>
      <p:pic>
        <p:nvPicPr>
          <p:cNvPr id="489" name="Google Shape;489;g10095e81ede_0_176"/>
          <p:cNvPicPr preferRelativeResize="0"/>
          <p:nvPr/>
        </p:nvPicPr>
        <p:blipFill rotWithShape="1">
          <a:blip r:embed="rId3">
            <a:alphaModFix/>
          </a:blip>
          <a:srcRect/>
          <a:stretch/>
        </p:blipFill>
        <p:spPr>
          <a:xfrm>
            <a:off x="97875" y="2547946"/>
            <a:ext cx="5133975" cy="1619250"/>
          </a:xfrm>
          <a:prstGeom prst="rect">
            <a:avLst/>
          </a:prstGeom>
          <a:noFill/>
          <a:ln>
            <a:noFill/>
          </a:ln>
        </p:spPr>
      </p:pic>
      <p:sp>
        <p:nvSpPr>
          <p:cNvPr id="490" name="Google Shape;490;g10095e81ede_0_176"/>
          <p:cNvSpPr txBox="1"/>
          <p:nvPr/>
        </p:nvSpPr>
        <p:spPr>
          <a:xfrm>
            <a:off x="97875" y="4269783"/>
            <a:ext cx="873870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Calibri"/>
                <a:ea typeface="Calibri"/>
                <a:cs typeface="Calibri"/>
                <a:sym typeface="Calibri"/>
              </a:rPr>
              <a:t>CDF: It provides a shortcut for calculating many probabilities at once. We integrate the </a:t>
            </a:r>
            <a:r>
              <a:rPr lang="en-US" sz="1400" b="1" i="0" u="none" strike="noStrike" cap="none">
                <a:solidFill>
                  <a:schemeClr val="dk1"/>
                </a:solidFill>
                <a:latin typeface="Calibri"/>
                <a:ea typeface="Calibri"/>
                <a:cs typeface="Calibri"/>
                <a:sym typeface="Calibri"/>
              </a:rPr>
              <a:t>pdf</a:t>
            </a:r>
            <a:r>
              <a:rPr lang="en-US" sz="1400" b="0" i="0" u="none" strike="noStrike" cap="none">
                <a:solidFill>
                  <a:schemeClr val="dk1"/>
                </a:solidFill>
                <a:latin typeface="Calibri"/>
                <a:ea typeface="Calibri"/>
                <a:cs typeface="Calibri"/>
                <a:sym typeface="Calibri"/>
              </a:rPr>
              <a:t> function to get the cumulative probability.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g10095e81ede_0_144"/>
          <p:cNvSpPr txBox="1">
            <a:spLocks noGrp="1"/>
          </p:cNvSpPr>
          <p:nvPr>
            <p:ph type="title"/>
          </p:nvPr>
        </p:nvSpPr>
        <p:spPr>
          <a:xfrm>
            <a:off x="457200" y="133350"/>
            <a:ext cx="57912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Q-Q Plots</a:t>
            </a:r>
            <a:endParaRPr>
              <a:solidFill>
                <a:srgbClr val="538CD5"/>
              </a:solidFill>
            </a:endParaRPr>
          </a:p>
        </p:txBody>
      </p:sp>
      <p:sp>
        <p:nvSpPr>
          <p:cNvPr id="496" name="Google Shape;496;g10095e81ede_0_14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48</a:t>
            </a:fld>
            <a:endParaRPr/>
          </a:p>
        </p:txBody>
      </p:sp>
      <p:sp>
        <p:nvSpPr>
          <p:cNvPr id="497" name="Google Shape;497;g10095e81ede_0_144"/>
          <p:cNvSpPr txBox="1"/>
          <p:nvPr/>
        </p:nvSpPr>
        <p:spPr>
          <a:xfrm>
            <a:off x="31805" y="662495"/>
            <a:ext cx="87387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92929"/>
                </a:solidFill>
                <a:highlight>
                  <a:srgbClr val="FFFFFF"/>
                </a:highlight>
                <a:latin typeface="Arial"/>
                <a:ea typeface="Arial"/>
                <a:cs typeface="Arial"/>
                <a:sym typeface="Arial"/>
              </a:rPr>
              <a:t>Q-Q plots are used to identify </a:t>
            </a:r>
            <a:r>
              <a:rPr lang="en-US" sz="1600">
                <a:solidFill>
                  <a:srgbClr val="292929"/>
                </a:solidFill>
                <a:highlight>
                  <a:srgbClr val="FFFFFF"/>
                </a:highlight>
              </a:rPr>
              <a:t>a</a:t>
            </a:r>
            <a:r>
              <a:rPr lang="en-US" sz="1600" b="0" i="0" u="none" strike="noStrike" cap="none">
                <a:solidFill>
                  <a:srgbClr val="292929"/>
                </a:solidFill>
                <a:highlight>
                  <a:srgbClr val="FFFFFF"/>
                </a:highlight>
                <a:latin typeface="Arial"/>
                <a:ea typeface="Arial"/>
                <a:cs typeface="Arial"/>
                <a:sym typeface="Arial"/>
              </a:rPr>
              <a:t> random variable </a:t>
            </a:r>
            <a:r>
              <a:rPr lang="en-US" sz="1600">
                <a:solidFill>
                  <a:srgbClr val="292929"/>
                </a:solidFill>
                <a:highlight>
                  <a:srgbClr val="FFFFFF"/>
                </a:highlight>
              </a:rPr>
              <a:t>as</a:t>
            </a:r>
            <a:r>
              <a:rPr lang="en-US" sz="1600" b="0" i="0" u="none" strike="noStrike" cap="none">
                <a:solidFill>
                  <a:srgbClr val="292929"/>
                </a:solidFill>
                <a:highlight>
                  <a:srgbClr val="FFFFFF"/>
                </a:highlight>
                <a:latin typeface="Arial"/>
                <a:ea typeface="Arial"/>
                <a:cs typeface="Arial"/>
                <a:sym typeface="Arial"/>
              </a:rPr>
              <a:t> Normal/</a:t>
            </a:r>
            <a:r>
              <a:rPr lang="en-US" sz="1600" b="0" i="0" u="none" strike="noStrike" cap="none">
                <a:solidFill>
                  <a:srgbClr val="292929"/>
                </a:solidFill>
                <a:latin typeface="Arial"/>
                <a:ea typeface="Arial"/>
                <a:cs typeface="Arial"/>
                <a:sym typeface="Arial"/>
              </a:rPr>
              <a:t>Gaussian or otherwise</a:t>
            </a:r>
            <a:r>
              <a:rPr lang="en-US" sz="1600" b="0" i="0" u="none" strike="noStrike" cap="none">
                <a:solidFill>
                  <a:srgbClr val="292929"/>
                </a:solidFill>
                <a:highlight>
                  <a:srgbClr val="FFFFFF"/>
                </a:highlight>
                <a:latin typeface="Arial"/>
                <a:ea typeface="Arial"/>
                <a:cs typeface="Arial"/>
                <a:sym typeface="Arial"/>
              </a:rPr>
              <a:t>. It</a:t>
            </a:r>
            <a:r>
              <a:rPr lang="en-US" sz="1600" b="0" i="0" u="none" strike="noStrike" cap="none">
                <a:solidFill>
                  <a:srgbClr val="000000"/>
                </a:solidFill>
                <a:latin typeface="Arial"/>
                <a:ea typeface="Arial"/>
                <a:cs typeface="Arial"/>
                <a:sym typeface="Arial"/>
              </a:rPr>
              <a:t> plots the quantiles of your dataset against the quantiles of the theoretical distribution.</a:t>
            </a:r>
            <a:endParaRPr sz="1600" b="0" i="0" u="none" strike="noStrike" cap="none">
              <a:solidFill>
                <a:srgbClr val="000000"/>
              </a:solidFill>
              <a:latin typeface="Arial"/>
              <a:ea typeface="Arial"/>
              <a:cs typeface="Arial"/>
              <a:sym typeface="Arial"/>
            </a:endParaRPr>
          </a:p>
        </p:txBody>
      </p:sp>
      <p:pic>
        <p:nvPicPr>
          <p:cNvPr id="498" name="Google Shape;498;g10095e81ede_0_144"/>
          <p:cNvPicPr preferRelativeResize="0"/>
          <p:nvPr/>
        </p:nvPicPr>
        <p:blipFill rotWithShape="1">
          <a:blip r:embed="rId3">
            <a:alphaModFix/>
          </a:blip>
          <a:srcRect/>
          <a:stretch/>
        </p:blipFill>
        <p:spPr>
          <a:xfrm>
            <a:off x="168302" y="1574336"/>
            <a:ext cx="3540600" cy="32569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10095e81ede_0_126"/>
          <p:cNvSpPr txBox="1">
            <a:spLocks noGrp="1"/>
          </p:cNvSpPr>
          <p:nvPr>
            <p:ph type="title"/>
          </p:nvPr>
        </p:nvSpPr>
        <p:spPr>
          <a:xfrm>
            <a:off x="457200" y="133350"/>
            <a:ext cx="63771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Standard Normal Distribution</a:t>
            </a:r>
            <a:endParaRPr>
              <a:solidFill>
                <a:srgbClr val="538CD5"/>
              </a:solidFill>
            </a:endParaRPr>
          </a:p>
        </p:txBody>
      </p:sp>
      <p:sp>
        <p:nvSpPr>
          <p:cNvPr id="504" name="Google Shape;504;g10095e81ede_0_126"/>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FOR DATA SCIENCE</a:t>
            </a:r>
            <a:endParaRPr/>
          </a:p>
        </p:txBody>
      </p:sp>
      <p:sp>
        <p:nvSpPr>
          <p:cNvPr id="505" name="Google Shape;505;g10095e81ede_0_126"/>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49</a:t>
            </a:fld>
            <a:endParaRPr/>
          </a:p>
        </p:txBody>
      </p:sp>
      <p:sp>
        <p:nvSpPr>
          <p:cNvPr id="506" name="Google Shape;506;g10095e81ede_0_126"/>
          <p:cNvSpPr txBox="1"/>
          <p:nvPr/>
        </p:nvSpPr>
        <p:spPr>
          <a:xfrm>
            <a:off x="271075" y="1024200"/>
            <a:ext cx="8360400" cy="30951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400"/>
              </a:spcBef>
              <a:spcAft>
                <a:spcPts val="0"/>
              </a:spcAft>
              <a:buClr>
                <a:schemeClr val="dk1"/>
              </a:buClr>
              <a:buSzPts val="1100"/>
              <a:buFont typeface="Arial"/>
              <a:buNone/>
            </a:pPr>
            <a:r>
              <a:rPr lang="en-US" sz="1600" b="0" i="0" u="none" strike="noStrike" cap="none">
                <a:solidFill>
                  <a:schemeClr val="dk1"/>
                </a:solidFill>
                <a:latin typeface="Calibri"/>
                <a:ea typeface="Calibri"/>
                <a:cs typeface="Calibri"/>
                <a:sym typeface="Calibri"/>
              </a:rPr>
              <a:t>The standard normal distribution is a special case of </a:t>
            </a:r>
            <a:r>
              <a:rPr lang="en-US" sz="1600">
                <a:solidFill>
                  <a:schemeClr val="dk1"/>
                </a:solidFill>
                <a:latin typeface="Calibri"/>
                <a:ea typeface="Calibri"/>
                <a:cs typeface="Calibri"/>
                <a:sym typeface="Calibri"/>
              </a:rPr>
              <a:t>normality</a:t>
            </a:r>
            <a:r>
              <a:rPr lang="en-US" sz="1600" b="0" i="0" u="none" strike="noStrike" cap="none">
                <a:solidFill>
                  <a:schemeClr val="dk1"/>
                </a:solidFill>
                <a:latin typeface="Calibri"/>
                <a:ea typeface="Calibri"/>
                <a:cs typeface="Calibri"/>
                <a:sym typeface="Calibri"/>
              </a:rPr>
              <a:t>. </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400"/>
              </a:spcBef>
              <a:spcAft>
                <a:spcPts val="0"/>
              </a:spcAft>
              <a:buClr>
                <a:schemeClr val="dk1"/>
              </a:buClr>
              <a:buSzPts val="1100"/>
              <a:buFont typeface="Arial"/>
              <a:buNone/>
            </a:pPr>
            <a:r>
              <a:rPr lang="en-US" sz="1600">
                <a:solidFill>
                  <a:schemeClr val="dk1"/>
                </a:solidFill>
                <a:latin typeface="Calibri"/>
                <a:ea typeface="Calibri"/>
                <a:cs typeface="Calibri"/>
                <a:sym typeface="Calibri"/>
              </a:rPr>
              <a:t>A</a:t>
            </a:r>
            <a:r>
              <a:rPr lang="en-US" sz="1600" b="0" i="0" u="none" strike="noStrike" cap="none">
                <a:solidFill>
                  <a:schemeClr val="dk1"/>
                </a:solidFill>
                <a:latin typeface="Calibri"/>
                <a:ea typeface="Calibri"/>
                <a:cs typeface="Calibri"/>
                <a:sym typeface="Calibri"/>
              </a:rPr>
              <a:t> distribution </a:t>
            </a:r>
            <a:r>
              <a:rPr lang="en-US" sz="1600">
                <a:solidFill>
                  <a:schemeClr val="dk1"/>
                </a:solidFill>
                <a:latin typeface="Calibri"/>
                <a:ea typeface="Calibri"/>
                <a:cs typeface="Calibri"/>
                <a:sym typeface="Calibri"/>
              </a:rPr>
              <a:t>of </a:t>
            </a:r>
            <a:r>
              <a:rPr lang="en-US" sz="1600" b="0" i="0" u="none" strike="noStrike" cap="none">
                <a:solidFill>
                  <a:schemeClr val="dk1"/>
                </a:solidFill>
                <a:latin typeface="Calibri"/>
                <a:ea typeface="Calibri"/>
                <a:cs typeface="Calibri"/>
                <a:sym typeface="Calibri"/>
              </a:rPr>
              <a:t>a normal random variable is said to be standardised when the mean </a:t>
            </a:r>
            <a:r>
              <a:rPr lang="en-US" sz="1600">
                <a:solidFill>
                  <a:schemeClr val="dk1"/>
                </a:solidFill>
                <a:latin typeface="Calibri"/>
                <a:ea typeface="Calibri"/>
                <a:cs typeface="Calibri"/>
                <a:sym typeface="Calibri"/>
              </a:rPr>
              <a:t>is zero</a:t>
            </a:r>
            <a:r>
              <a:rPr lang="en-US" sz="1600" b="0" i="0" u="none" strike="noStrike" cap="none">
                <a:solidFill>
                  <a:schemeClr val="dk1"/>
                </a:solidFill>
                <a:latin typeface="Calibri"/>
                <a:ea typeface="Calibri"/>
                <a:cs typeface="Calibri"/>
                <a:sym typeface="Calibri"/>
              </a:rPr>
              <a:t> and </a:t>
            </a:r>
            <a:r>
              <a:rPr lang="en-US" sz="1600">
                <a:solidFill>
                  <a:schemeClr val="dk1"/>
                </a:solidFill>
                <a:latin typeface="Calibri"/>
                <a:ea typeface="Calibri"/>
                <a:cs typeface="Calibri"/>
                <a:sym typeface="Calibri"/>
              </a:rPr>
              <a:t>the</a:t>
            </a:r>
            <a:r>
              <a:rPr lang="en-US" sz="1600" b="0" i="0" u="none" strike="noStrike" cap="none">
                <a:solidFill>
                  <a:schemeClr val="dk1"/>
                </a:solidFill>
                <a:latin typeface="Calibri"/>
                <a:ea typeface="Calibri"/>
                <a:cs typeface="Calibri"/>
                <a:sym typeface="Calibri"/>
              </a:rPr>
              <a:t> standard deviation </a:t>
            </a:r>
            <a:r>
              <a:rPr lang="en-US" sz="1600">
                <a:solidFill>
                  <a:schemeClr val="dk1"/>
                </a:solidFill>
                <a:latin typeface="Calibri"/>
                <a:ea typeface="Calibri"/>
                <a:cs typeface="Calibri"/>
                <a:sym typeface="Calibri"/>
              </a:rPr>
              <a:t>is</a:t>
            </a:r>
            <a:r>
              <a:rPr lang="en-US" sz="1600" b="0" i="0" u="none" strike="noStrike" cap="none">
                <a:solidFill>
                  <a:schemeClr val="dk1"/>
                </a:solidFill>
                <a:latin typeface="Calibri"/>
                <a:ea typeface="Calibri"/>
                <a:cs typeface="Calibri"/>
                <a:sym typeface="Calibri"/>
              </a:rPr>
              <a:t> one.</a:t>
            </a:r>
            <a:endParaRPr sz="2000" b="0" i="1"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100"/>
              <a:buFont typeface="Calibri"/>
              <a:buNone/>
            </a:pPr>
            <a:endParaRPr sz="2000" b="0" i="1" u="none" strike="noStrike" cap="none">
              <a:solidFill>
                <a:schemeClr val="dk1"/>
              </a:solidFill>
              <a:latin typeface="Calibri"/>
              <a:ea typeface="Calibri"/>
              <a:cs typeface="Calibri"/>
              <a:sym typeface="Calibri"/>
            </a:endParaRPr>
          </a:p>
          <a:p>
            <a:pPr marL="0" marR="0" lvl="0" indent="0" algn="l" rtl="0">
              <a:lnSpc>
                <a:spcPct val="115000"/>
              </a:lnSpc>
              <a:spcBef>
                <a:spcPts val="400"/>
              </a:spcBef>
              <a:spcAft>
                <a:spcPts val="0"/>
              </a:spcAft>
              <a:buClr>
                <a:schemeClr val="dk1"/>
              </a:buClr>
              <a:buSzPts val="1100"/>
              <a:buFont typeface="Arial"/>
              <a:buNone/>
            </a:pPr>
            <a:endParaRPr sz="20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100"/>
              <a:buFont typeface="Calibri"/>
              <a:buNone/>
            </a:pPr>
            <a:endParaRPr sz="20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420"/>
              </a:spcBef>
              <a:spcAft>
                <a:spcPts val="0"/>
              </a:spcAft>
              <a:buClr>
                <a:schemeClr val="dk1"/>
              </a:buClr>
              <a:buSzPts val="2100"/>
              <a:buFont typeface="Calibri"/>
              <a:buNone/>
            </a:pPr>
            <a:endParaRPr sz="2300" b="1" i="0" u="none" strike="noStrike" cap="none">
              <a:solidFill>
                <a:schemeClr val="dk1"/>
              </a:solidFill>
              <a:latin typeface="Calibri"/>
              <a:ea typeface="Calibri"/>
              <a:cs typeface="Calibri"/>
              <a:sym typeface="Calibri"/>
            </a:endParaRPr>
          </a:p>
        </p:txBody>
      </p:sp>
      <p:pic>
        <p:nvPicPr>
          <p:cNvPr id="507" name="Google Shape;507;g10095e81ede_0_126"/>
          <p:cNvPicPr preferRelativeResize="0"/>
          <p:nvPr/>
        </p:nvPicPr>
        <p:blipFill rotWithShape="1">
          <a:blip r:embed="rId3">
            <a:alphaModFix/>
          </a:blip>
          <a:srcRect/>
          <a:stretch/>
        </p:blipFill>
        <p:spPr>
          <a:xfrm>
            <a:off x="890700" y="2348250"/>
            <a:ext cx="5943599" cy="17430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4"/>
          <p:cNvSpPr txBox="1">
            <a:spLocks noGrp="1"/>
          </p:cNvSpPr>
          <p:nvPr>
            <p:ph type="title"/>
          </p:nvPr>
        </p:nvSpPr>
        <p:spPr>
          <a:xfrm>
            <a:off x="457200" y="133350"/>
            <a:ext cx="60960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Z- Score / Z-Value/ Standard Score</a:t>
            </a:r>
            <a:endParaRPr>
              <a:solidFill>
                <a:srgbClr val="538CD5"/>
              </a:solidFill>
            </a:endParaRPr>
          </a:p>
        </p:txBody>
      </p:sp>
      <p:sp>
        <p:nvSpPr>
          <p:cNvPr id="513" name="Google Shape;513;p34"/>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A z-score (aka, a standard score) indicates how many standard deviations an element is above or below from the mean. A z-score can be calculated from the following formula.</a:t>
            </a:r>
            <a:endParaRPr/>
          </a:p>
          <a:p>
            <a:pPr marL="342900" lvl="0" indent="-190500" algn="l" rtl="0">
              <a:lnSpc>
                <a:spcPct val="100000"/>
              </a:lnSpc>
              <a:spcBef>
                <a:spcPts val="480"/>
              </a:spcBef>
              <a:spcAft>
                <a:spcPts val="0"/>
              </a:spcAft>
              <a:buClr>
                <a:schemeClr val="dk1"/>
              </a:buClr>
              <a:buSzPts val="2400"/>
              <a:buNone/>
            </a:pPr>
            <a:endParaRPr sz="2400"/>
          </a:p>
          <a:p>
            <a:pPr marL="342900" lvl="0" indent="-342900" algn="l" rtl="0">
              <a:lnSpc>
                <a:spcPct val="100000"/>
              </a:lnSpc>
              <a:spcBef>
                <a:spcPts val="480"/>
              </a:spcBef>
              <a:spcAft>
                <a:spcPts val="0"/>
              </a:spcAft>
              <a:buClr>
                <a:schemeClr val="dk1"/>
              </a:buClr>
              <a:buSzPts val="2400"/>
              <a:buChar char="•"/>
            </a:pPr>
            <a:r>
              <a:rPr lang="en-US" sz="2400"/>
              <a:t>z = (X - μ) / σ</a:t>
            </a:r>
            <a:endParaRPr/>
          </a:p>
        </p:txBody>
      </p:sp>
      <p:sp>
        <p:nvSpPr>
          <p:cNvPr id="514" name="Google Shape;514;p34"/>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15" name="Google Shape;515;p34"/>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35"/>
          <p:cNvPicPr preferRelativeResize="0"/>
          <p:nvPr/>
        </p:nvPicPr>
        <p:blipFill rotWithShape="1">
          <a:blip r:embed="rId3">
            <a:alphaModFix/>
          </a:blip>
          <a:srcRect l="29007" t="16573" r="29403" b="23112"/>
          <a:stretch/>
        </p:blipFill>
        <p:spPr>
          <a:xfrm>
            <a:off x="2095500" y="819150"/>
            <a:ext cx="4953000" cy="4038600"/>
          </a:xfrm>
          <a:prstGeom prst="rect">
            <a:avLst/>
          </a:prstGeom>
          <a:noFill/>
          <a:ln>
            <a:noFill/>
          </a:ln>
        </p:spPr>
      </p:pic>
      <p:sp>
        <p:nvSpPr>
          <p:cNvPr id="521" name="Google Shape;521;p35"/>
          <p:cNvSpPr txBox="1">
            <a:spLocks noGrp="1"/>
          </p:cNvSpPr>
          <p:nvPr>
            <p:ph type="title"/>
          </p:nvPr>
        </p:nvSpPr>
        <p:spPr>
          <a:xfrm>
            <a:off x="457200" y="133350"/>
            <a:ext cx="5791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Calculating Z-Score</a:t>
            </a:r>
            <a:endParaRPr>
              <a:solidFill>
                <a:srgbClr val="538CD5"/>
              </a:solidFill>
            </a:endParaRPr>
          </a:p>
        </p:txBody>
      </p:sp>
      <p:sp>
        <p:nvSpPr>
          <p:cNvPr id="522" name="Google Shape;522;p3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5"/>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chemeClr val="accent1"/>
                </a:solidFill>
              </a:rPr>
              <a:t>Outliers</a:t>
            </a:r>
            <a:endParaRPr/>
          </a:p>
        </p:txBody>
      </p:sp>
      <p:sp>
        <p:nvSpPr>
          <p:cNvPr id="528" name="Google Shape;528;p4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p>
            <a:pPr marL="457200" lvl="0" indent="-311150" algn="l" rtl="0">
              <a:lnSpc>
                <a:spcPct val="90000"/>
              </a:lnSpc>
              <a:spcBef>
                <a:spcPts val="360"/>
              </a:spcBef>
              <a:spcAft>
                <a:spcPts val="0"/>
              </a:spcAft>
              <a:buSzPts val="1300"/>
              <a:buChar char="•"/>
            </a:pPr>
            <a:r>
              <a:rPr lang="en-US" sz="2220" b="0" i="0">
                <a:solidFill>
                  <a:srgbClr val="000000"/>
                </a:solidFill>
                <a:latin typeface="Arial"/>
                <a:ea typeface="Arial"/>
                <a:cs typeface="Arial"/>
                <a:sym typeface="Arial"/>
              </a:rPr>
              <a:t>Z-scores generally range from -3.0 to +3.0.  </a:t>
            </a:r>
            <a:endParaRPr sz="2220"/>
          </a:p>
          <a:p>
            <a:pPr marL="457200" lvl="0" indent="-228600" algn="l" rtl="0">
              <a:lnSpc>
                <a:spcPct val="90000"/>
              </a:lnSpc>
              <a:spcBef>
                <a:spcPts val="360"/>
              </a:spcBef>
              <a:spcAft>
                <a:spcPts val="0"/>
              </a:spcAft>
              <a:buSzPts val="1800"/>
              <a:buNone/>
            </a:pPr>
            <a:endParaRPr sz="2220">
              <a:latin typeface="Arial"/>
              <a:ea typeface="Arial"/>
              <a:cs typeface="Arial"/>
              <a:sym typeface="Arial"/>
            </a:endParaRPr>
          </a:p>
          <a:p>
            <a:pPr marL="457200" lvl="0" indent="-311150" algn="l" rtl="0">
              <a:lnSpc>
                <a:spcPct val="90000"/>
              </a:lnSpc>
              <a:spcBef>
                <a:spcPts val="360"/>
              </a:spcBef>
              <a:spcAft>
                <a:spcPts val="0"/>
              </a:spcAft>
              <a:buSzPts val="1300"/>
              <a:buChar char="•"/>
            </a:pPr>
            <a:r>
              <a:rPr lang="en-US" sz="2220" b="0" i="0">
                <a:solidFill>
                  <a:srgbClr val="000000"/>
                </a:solidFill>
                <a:latin typeface="Arial"/>
                <a:ea typeface="Arial"/>
                <a:cs typeface="Arial"/>
                <a:sym typeface="Arial"/>
              </a:rPr>
              <a:t>For bell shaped distributions, the empirical rule says 99.7% of all the data values have z-scores between -3.0 and +3.0.  </a:t>
            </a:r>
            <a:endParaRPr sz="2220"/>
          </a:p>
          <a:p>
            <a:pPr marL="457200" lvl="0" indent="-228600" algn="l" rtl="0">
              <a:lnSpc>
                <a:spcPct val="90000"/>
              </a:lnSpc>
              <a:spcBef>
                <a:spcPts val="360"/>
              </a:spcBef>
              <a:spcAft>
                <a:spcPts val="0"/>
              </a:spcAft>
              <a:buSzPts val="1800"/>
              <a:buNone/>
            </a:pPr>
            <a:endParaRPr sz="2220" b="0" i="0">
              <a:solidFill>
                <a:srgbClr val="000000"/>
              </a:solidFill>
              <a:latin typeface="Arial"/>
              <a:ea typeface="Arial"/>
              <a:cs typeface="Arial"/>
              <a:sym typeface="Arial"/>
            </a:endParaRPr>
          </a:p>
          <a:p>
            <a:pPr marL="457200" lvl="0" indent="-311150" algn="l" rtl="0">
              <a:lnSpc>
                <a:spcPct val="90000"/>
              </a:lnSpc>
              <a:spcBef>
                <a:spcPts val="360"/>
              </a:spcBef>
              <a:spcAft>
                <a:spcPts val="0"/>
              </a:spcAft>
              <a:buSzPts val="1300"/>
              <a:buChar char="•"/>
            </a:pPr>
            <a:r>
              <a:rPr lang="en-US" sz="2220" b="0" i="0">
                <a:solidFill>
                  <a:srgbClr val="000000"/>
                </a:solidFill>
                <a:latin typeface="Arial"/>
                <a:ea typeface="Arial"/>
                <a:cs typeface="Arial"/>
                <a:sym typeface="Arial"/>
              </a:rPr>
              <a:t>We consider any z-score that is either less than -3.0 or greater than +3.0 to be an </a:t>
            </a:r>
            <a:r>
              <a:rPr lang="en-US" sz="2220" b="1" i="0">
                <a:solidFill>
                  <a:srgbClr val="000000"/>
                </a:solidFill>
                <a:latin typeface="Arial"/>
                <a:ea typeface="Arial"/>
                <a:cs typeface="Arial"/>
                <a:sym typeface="Arial"/>
              </a:rPr>
              <a:t>outlier</a:t>
            </a:r>
            <a:r>
              <a:rPr lang="en-US" sz="2220" b="0" i="0">
                <a:solidFill>
                  <a:srgbClr val="000000"/>
                </a:solidFill>
                <a:latin typeface="Arial"/>
                <a:ea typeface="Arial"/>
                <a:cs typeface="Arial"/>
                <a:sym typeface="Arial"/>
              </a:rPr>
              <a:t>.</a:t>
            </a:r>
            <a:endParaRPr sz="2220" b="0" i="0">
              <a:solidFill>
                <a:srgbClr val="000000"/>
              </a:solidFill>
              <a:latin typeface="Open Sans"/>
              <a:ea typeface="Open Sans"/>
              <a:cs typeface="Open Sans"/>
              <a:sym typeface="Open Sans"/>
            </a:endParaRPr>
          </a:p>
          <a:p>
            <a:pPr marL="114300" lvl="0" indent="0" algn="l" rtl="0">
              <a:lnSpc>
                <a:spcPct val="90000"/>
              </a:lnSpc>
              <a:spcBef>
                <a:spcPts val="360"/>
              </a:spcBef>
              <a:spcAft>
                <a:spcPts val="0"/>
              </a:spcAft>
              <a:buSzPts val="1800"/>
              <a:buNone/>
            </a:pPr>
            <a:endParaRPr sz="2220"/>
          </a:p>
        </p:txBody>
      </p:sp>
      <p:sp>
        <p:nvSpPr>
          <p:cNvPr id="529" name="Google Shape;529;p4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g10095e81ede_0_154"/>
          <p:cNvSpPr txBox="1">
            <a:spLocks noGrp="1"/>
          </p:cNvSpPr>
          <p:nvPr>
            <p:ph type="title"/>
          </p:nvPr>
        </p:nvSpPr>
        <p:spPr>
          <a:xfrm>
            <a:off x="97875" y="8250"/>
            <a:ext cx="6867600" cy="677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sz="2800">
                <a:solidFill>
                  <a:srgbClr val="538CD5"/>
                </a:solidFill>
              </a:rPr>
              <a:t>Correcting Distortion in Normal Distribution</a:t>
            </a:r>
            <a:endParaRPr sz="2800">
              <a:solidFill>
                <a:srgbClr val="538CD5"/>
              </a:solidFill>
            </a:endParaRPr>
          </a:p>
        </p:txBody>
      </p:sp>
      <p:sp>
        <p:nvSpPr>
          <p:cNvPr id="535" name="Google Shape;535;g10095e81ede_0_15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53</a:t>
            </a:fld>
            <a:endParaRPr/>
          </a:p>
        </p:txBody>
      </p:sp>
      <p:sp>
        <p:nvSpPr>
          <p:cNvPr id="536" name="Google Shape;536;g10095e81ede_0_154"/>
          <p:cNvSpPr txBox="1"/>
          <p:nvPr/>
        </p:nvSpPr>
        <p:spPr>
          <a:xfrm>
            <a:off x="97875" y="845375"/>
            <a:ext cx="87387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92929"/>
                </a:solidFill>
                <a:latin typeface="Georgia"/>
                <a:ea typeface="Georgia"/>
                <a:cs typeface="Georgia"/>
                <a:sym typeface="Georgia"/>
              </a:rPr>
              <a:t>Transformation is nothing but </a:t>
            </a:r>
            <a:r>
              <a:rPr lang="en-US" sz="1600">
                <a:solidFill>
                  <a:srgbClr val="292929"/>
                </a:solidFill>
                <a:latin typeface="Georgia"/>
                <a:ea typeface="Georgia"/>
                <a:cs typeface="Georgia"/>
                <a:sym typeface="Georgia"/>
              </a:rPr>
              <a:t>applying </a:t>
            </a:r>
            <a:r>
              <a:rPr lang="en-US" sz="1600" b="0" i="0" u="none" strike="noStrike" cap="none">
                <a:solidFill>
                  <a:srgbClr val="292929"/>
                </a:solidFill>
                <a:latin typeface="Georgia"/>
                <a:ea typeface="Georgia"/>
                <a:cs typeface="Georgia"/>
                <a:sym typeface="Georgia"/>
              </a:rPr>
              <a:t>a mathematical function to the data</a:t>
            </a:r>
            <a:r>
              <a:rPr lang="en-US" sz="1600">
                <a:solidFill>
                  <a:srgbClr val="292929"/>
                </a:solidFill>
                <a:highlight>
                  <a:srgbClr val="FFFFFF"/>
                </a:highlight>
                <a:latin typeface="Georgia"/>
                <a:ea typeface="Georgia"/>
                <a:cs typeface="Georgia"/>
                <a:sym typeface="Georgia"/>
              </a:rPr>
              <a:t> in order to change its character.</a:t>
            </a:r>
            <a:endParaRPr sz="1400" b="0" i="0" u="none" strike="noStrike" cap="none">
              <a:solidFill>
                <a:srgbClr val="000000"/>
              </a:solidFill>
              <a:latin typeface="Arial"/>
              <a:ea typeface="Arial"/>
              <a:cs typeface="Arial"/>
              <a:sym typeface="Arial"/>
            </a:endParaRPr>
          </a:p>
        </p:txBody>
      </p:sp>
      <p:sp>
        <p:nvSpPr>
          <p:cNvPr id="537" name="Google Shape;537;g10095e81ede_0_154"/>
          <p:cNvSpPr txBox="1"/>
          <p:nvPr/>
        </p:nvSpPr>
        <p:spPr>
          <a:xfrm>
            <a:off x="135825" y="1514283"/>
            <a:ext cx="8662800" cy="2539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400"/>
              </a:spcBef>
              <a:spcAft>
                <a:spcPts val="0"/>
              </a:spcAft>
              <a:buClr>
                <a:srgbClr val="000000"/>
              </a:buClr>
              <a:buSzPts val="1800"/>
              <a:buFont typeface="Arial"/>
              <a:buNone/>
            </a:pPr>
            <a:r>
              <a:rPr lang="en-US" sz="1700" b="0" i="0" u="none" strike="noStrike" cap="none">
                <a:solidFill>
                  <a:srgbClr val="292929"/>
                </a:solidFill>
                <a:latin typeface="Arial"/>
                <a:ea typeface="Arial"/>
                <a:cs typeface="Arial"/>
                <a:sym typeface="Arial"/>
              </a:rPr>
              <a:t>       - Log Transformation  [</a:t>
            </a:r>
            <a:r>
              <a:rPr lang="en-US" sz="1700" b="0" i="0" u="none" strike="noStrike" cap="none">
                <a:solidFill>
                  <a:srgbClr val="C00000"/>
                </a:solidFill>
                <a:latin typeface="Arial"/>
                <a:ea typeface="Arial"/>
                <a:cs typeface="Arial"/>
                <a:sym typeface="Arial"/>
              </a:rPr>
              <a:t>Each data point is replaced with log(x) to obtain ND</a:t>
            </a:r>
            <a:r>
              <a:rPr lang="en-US" sz="1700" b="0" i="0" u="none" strike="noStrike" cap="none">
                <a:solidFill>
                  <a:srgbClr val="292929"/>
                </a:solidFill>
                <a:latin typeface="Arial"/>
                <a:ea typeface="Arial"/>
                <a:cs typeface="Arial"/>
                <a:sym typeface="Arial"/>
              </a:rPr>
              <a:t>]</a:t>
            </a:r>
            <a:endParaRPr sz="1300"/>
          </a:p>
          <a:p>
            <a:pPr marL="45720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292929"/>
                </a:solidFill>
                <a:latin typeface="Arial"/>
                <a:ea typeface="Arial"/>
                <a:cs typeface="Arial"/>
                <a:sym typeface="Arial"/>
              </a:rPr>
              <a:t>- Square-Root Transformation    [</a:t>
            </a:r>
            <a:r>
              <a:rPr lang="en-US" sz="1700" b="0" i="0" u="none" strike="noStrike" cap="none">
                <a:solidFill>
                  <a:srgbClr val="C00000"/>
                </a:solidFill>
                <a:latin typeface="Arial"/>
                <a:ea typeface="Arial"/>
                <a:cs typeface="Arial"/>
                <a:sym typeface="Arial"/>
              </a:rPr>
              <a:t>Each data point is replaced by its square root</a:t>
            </a:r>
            <a:r>
              <a:rPr lang="en-US" sz="1700" b="0" i="0" u="none" strike="noStrike" cap="none">
                <a:solidFill>
                  <a:srgbClr val="292929"/>
                </a:solidFill>
                <a:latin typeface="Arial"/>
                <a:ea typeface="Arial"/>
                <a:cs typeface="Arial"/>
                <a:sym typeface="Arial"/>
              </a:rPr>
              <a:t>]</a:t>
            </a:r>
            <a:endParaRPr sz="1700" b="0" i="0" u="none" strike="noStrike" cap="none">
              <a:solidFill>
                <a:srgbClr val="292929"/>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292929"/>
                </a:solidFill>
                <a:latin typeface="Arial"/>
                <a:ea typeface="Arial"/>
                <a:cs typeface="Arial"/>
                <a:sym typeface="Arial"/>
              </a:rPr>
              <a:t>- Reciprocal Transformation        [ </a:t>
            </a:r>
            <a:r>
              <a:rPr lang="en-US" sz="1700" b="0" i="0" u="none" strike="noStrike" cap="none">
                <a:solidFill>
                  <a:srgbClr val="C00000"/>
                </a:solidFill>
                <a:latin typeface="Arial"/>
                <a:ea typeface="Arial"/>
                <a:cs typeface="Arial"/>
                <a:sym typeface="Arial"/>
              </a:rPr>
              <a:t>It takes the inverse of x ie., 1/x</a:t>
            </a:r>
            <a:r>
              <a:rPr lang="en-US" sz="1700" b="0" i="0" u="none" strike="noStrike" cap="none">
                <a:solidFill>
                  <a:srgbClr val="292929"/>
                </a:solidFill>
                <a:latin typeface="Arial"/>
                <a:ea typeface="Arial"/>
                <a:cs typeface="Arial"/>
                <a:sym typeface="Arial"/>
              </a:rPr>
              <a:t>]</a:t>
            </a:r>
            <a:endParaRPr sz="17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292929"/>
                </a:solidFill>
                <a:latin typeface="Arial"/>
                <a:ea typeface="Arial"/>
                <a:cs typeface="Arial"/>
                <a:sym typeface="Arial"/>
              </a:rPr>
              <a:t>- BoxCox Transformation    [</a:t>
            </a:r>
            <a:r>
              <a:rPr lang="en-US" sz="1700" b="0" i="0" u="none" strike="noStrike" cap="none">
                <a:solidFill>
                  <a:srgbClr val="C00000"/>
                </a:solidFill>
                <a:latin typeface="Arial"/>
                <a:ea typeface="Arial"/>
                <a:cs typeface="Arial"/>
                <a:sym typeface="Arial"/>
              </a:rPr>
              <a:t>flexible version of log or square root transformations — but instead of choosing manually, Box-Cox automatically finds the best value of λ (lambda) that makes your data as normal as possible.]</a:t>
            </a:r>
            <a:endParaRPr sz="1700" b="0" i="0" u="none" strike="noStrike" cap="none">
              <a:solidFill>
                <a:srgbClr val="000000"/>
              </a:solidFill>
              <a:latin typeface="Arial"/>
              <a:ea typeface="Arial"/>
              <a:cs typeface="Arial"/>
              <a:sym typeface="Arial"/>
            </a:endParaRPr>
          </a:p>
          <a:p>
            <a:pPr marL="419100" marR="0" lvl="0" indent="0" algn="l" rtl="0">
              <a:lnSpc>
                <a:spcPct val="100000"/>
              </a:lnSpc>
              <a:spcBef>
                <a:spcPts val="0"/>
              </a:spcBef>
              <a:spcAft>
                <a:spcPts val="0"/>
              </a:spcAft>
              <a:buClr>
                <a:srgbClr val="000000"/>
              </a:buClr>
              <a:buSzPts val="1800"/>
              <a:buFont typeface="Arial"/>
              <a:buNone/>
            </a:pPr>
            <a:endParaRPr sz="1700" b="1" i="0" u="none" strike="noStrike" cap="none">
              <a:solidFill>
                <a:schemeClr val="dk1"/>
              </a:solidFill>
              <a:latin typeface="Arial"/>
              <a:ea typeface="Arial"/>
              <a:cs typeface="Arial"/>
              <a:sym typeface="Arial"/>
            </a:endParaRPr>
          </a:p>
          <a:p>
            <a:pPr marL="419100" marR="0" lvl="0" indent="0" algn="l" rtl="0">
              <a:lnSpc>
                <a:spcPct val="100000"/>
              </a:lnSpc>
              <a:spcBef>
                <a:spcPts val="0"/>
              </a:spcBef>
              <a:spcAft>
                <a:spcPts val="0"/>
              </a:spcAft>
              <a:buClr>
                <a:srgbClr val="000000"/>
              </a:buClr>
              <a:buSzPts val="1800"/>
              <a:buFont typeface="Arial"/>
              <a:buNone/>
            </a:pPr>
            <a:r>
              <a:rPr lang="en-US" sz="1700" b="1">
                <a:solidFill>
                  <a:schemeClr val="dk1"/>
                </a:solidFill>
              </a:rPr>
              <a:t>Purpose</a:t>
            </a:r>
            <a:r>
              <a:rPr lang="en-US" sz="1700" b="1" i="0" u="none" strike="noStrike" cap="none">
                <a:solidFill>
                  <a:schemeClr val="dk1"/>
                </a:solidFill>
                <a:latin typeface="Arial"/>
                <a:ea typeface="Arial"/>
                <a:cs typeface="Arial"/>
                <a:sym typeface="Arial"/>
              </a:rPr>
              <a:t>: </a:t>
            </a:r>
            <a:r>
              <a:rPr lang="en-US" sz="1700" b="0" i="0" u="none" strike="noStrike" cap="none">
                <a:solidFill>
                  <a:srgbClr val="292929"/>
                </a:solidFill>
                <a:latin typeface="Arial"/>
                <a:ea typeface="Arial"/>
                <a:cs typeface="Arial"/>
                <a:sym typeface="Arial"/>
              </a:rPr>
              <a:t>To transform the data to either reduce the skewness or to normalize the data or simply make the data easier to understand.</a:t>
            </a:r>
            <a:endParaRPr sz="1700" b="0" i="0" u="none" strike="noStrike" cap="none">
              <a:solidFill>
                <a:srgbClr val="292929"/>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5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Measure of Distance</a:t>
            </a:r>
            <a:endParaRPr>
              <a:solidFill>
                <a:srgbClr val="538CD5"/>
              </a:solidFill>
            </a:endParaRPr>
          </a:p>
        </p:txBody>
      </p:sp>
      <p:sp>
        <p:nvSpPr>
          <p:cNvPr id="543" name="Google Shape;543;p5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17500" algn="l" rtl="0">
              <a:lnSpc>
                <a:spcPct val="100000"/>
              </a:lnSpc>
              <a:spcBef>
                <a:spcPts val="0"/>
              </a:spcBef>
              <a:spcAft>
                <a:spcPts val="0"/>
              </a:spcAft>
              <a:buClr>
                <a:schemeClr val="dk1"/>
              </a:buClr>
              <a:buSzPts val="2800"/>
              <a:buChar char="•"/>
            </a:pPr>
            <a:r>
              <a:rPr lang="en-US" sz="2800"/>
              <a:t>Euclidean Distance</a:t>
            </a:r>
            <a:endParaRPr sz="2800"/>
          </a:p>
          <a:p>
            <a:pPr marL="342900" lvl="0" indent="-317500" algn="l" rtl="0">
              <a:lnSpc>
                <a:spcPct val="100000"/>
              </a:lnSpc>
              <a:spcBef>
                <a:spcPts val="640"/>
              </a:spcBef>
              <a:spcAft>
                <a:spcPts val="0"/>
              </a:spcAft>
              <a:buClr>
                <a:schemeClr val="dk1"/>
              </a:buClr>
              <a:buSzPts val="2800"/>
              <a:buChar char="•"/>
            </a:pPr>
            <a:r>
              <a:rPr lang="en-US" sz="2800"/>
              <a:t>Manhattan Distance</a:t>
            </a:r>
            <a:endParaRPr sz="2800"/>
          </a:p>
          <a:p>
            <a:pPr marL="342900" lvl="0" indent="-317500" algn="l" rtl="0">
              <a:lnSpc>
                <a:spcPct val="100000"/>
              </a:lnSpc>
              <a:spcBef>
                <a:spcPts val="640"/>
              </a:spcBef>
              <a:spcAft>
                <a:spcPts val="0"/>
              </a:spcAft>
              <a:buClr>
                <a:schemeClr val="dk1"/>
              </a:buClr>
              <a:buSzPts val="2800"/>
              <a:buChar char="•"/>
            </a:pPr>
            <a:r>
              <a:rPr lang="en-US" sz="2800"/>
              <a:t>Minkowski Distance </a:t>
            </a:r>
            <a:endParaRPr sz="2800"/>
          </a:p>
        </p:txBody>
      </p:sp>
      <p:sp>
        <p:nvSpPr>
          <p:cNvPr id="544" name="Google Shape;544;p51"/>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45" name="Google Shape;545;p5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52"/>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Euclidean Distance</a:t>
            </a:r>
            <a:endParaRPr>
              <a:solidFill>
                <a:srgbClr val="538CD5"/>
              </a:solidFill>
            </a:endParaRPr>
          </a:p>
        </p:txBody>
      </p:sp>
      <p:sp>
        <p:nvSpPr>
          <p:cNvPr id="551" name="Google Shape;551;p52"/>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52" name="Google Shape;552;p52"/>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55</a:t>
            </a:fld>
            <a:endParaRPr/>
          </a:p>
        </p:txBody>
      </p:sp>
      <p:pic>
        <p:nvPicPr>
          <p:cNvPr id="553" name="Google Shape;553;p52"/>
          <p:cNvPicPr preferRelativeResize="0"/>
          <p:nvPr/>
        </p:nvPicPr>
        <p:blipFill rotWithShape="1">
          <a:blip r:embed="rId3">
            <a:alphaModFix/>
          </a:blip>
          <a:srcRect t="14427" b="42879"/>
          <a:stretch/>
        </p:blipFill>
        <p:spPr>
          <a:xfrm>
            <a:off x="0" y="1041859"/>
            <a:ext cx="9144000" cy="2194827"/>
          </a:xfrm>
          <a:prstGeom prst="rect">
            <a:avLst/>
          </a:prstGeom>
          <a:noFill/>
          <a:ln>
            <a:noFill/>
          </a:ln>
        </p:spPr>
      </p:pic>
      <p:pic>
        <p:nvPicPr>
          <p:cNvPr id="554" name="Google Shape;554;p52"/>
          <p:cNvPicPr preferRelativeResize="0"/>
          <p:nvPr/>
        </p:nvPicPr>
        <p:blipFill rotWithShape="1">
          <a:blip r:embed="rId4">
            <a:alphaModFix/>
          </a:blip>
          <a:srcRect/>
          <a:stretch/>
        </p:blipFill>
        <p:spPr>
          <a:xfrm>
            <a:off x="315686" y="3236686"/>
            <a:ext cx="4811486" cy="105003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53"/>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Manhattan Distance</a:t>
            </a:r>
            <a:endParaRPr>
              <a:solidFill>
                <a:srgbClr val="538CD5"/>
              </a:solidFill>
            </a:endParaRPr>
          </a:p>
        </p:txBody>
      </p:sp>
      <p:sp>
        <p:nvSpPr>
          <p:cNvPr id="560" name="Google Shape;560;p53"/>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61" name="Google Shape;561;p53"/>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56</a:t>
            </a:fld>
            <a:endParaRPr/>
          </a:p>
        </p:txBody>
      </p:sp>
      <p:pic>
        <p:nvPicPr>
          <p:cNvPr id="562" name="Google Shape;562;p53"/>
          <p:cNvPicPr preferRelativeResize="0"/>
          <p:nvPr/>
        </p:nvPicPr>
        <p:blipFill rotWithShape="1">
          <a:blip r:embed="rId3">
            <a:alphaModFix/>
          </a:blip>
          <a:srcRect t="12945" b="21027"/>
          <a:stretch/>
        </p:blipFill>
        <p:spPr>
          <a:xfrm>
            <a:off x="20053" y="1092429"/>
            <a:ext cx="9144000" cy="339447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solidFill>
                  <a:srgbClr val="538CD5"/>
                </a:solidFill>
              </a:rPr>
              <a:t>Minkowski Distance</a:t>
            </a:r>
            <a:endParaRPr>
              <a:solidFill>
                <a:srgbClr val="538CD5"/>
              </a:solidFill>
            </a:endParaRPr>
          </a:p>
        </p:txBody>
      </p:sp>
      <p:sp>
        <p:nvSpPr>
          <p:cNvPr id="568" name="Google Shape;568;p16"/>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69" name="Google Shape;569;p1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57</a:t>
            </a:fld>
            <a:endParaRPr/>
          </a:p>
        </p:txBody>
      </p:sp>
      <p:pic>
        <p:nvPicPr>
          <p:cNvPr id="570" name="Google Shape;570;p16"/>
          <p:cNvPicPr preferRelativeResize="0"/>
          <p:nvPr/>
        </p:nvPicPr>
        <p:blipFill rotWithShape="1">
          <a:blip r:embed="rId3">
            <a:alphaModFix/>
          </a:blip>
          <a:srcRect/>
          <a:stretch/>
        </p:blipFill>
        <p:spPr>
          <a:xfrm>
            <a:off x="151075" y="764533"/>
            <a:ext cx="8841850" cy="1151731"/>
          </a:xfrm>
          <a:prstGeom prst="rect">
            <a:avLst/>
          </a:prstGeom>
          <a:noFill/>
          <a:ln>
            <a:noFill/>
          </a:ln>
        </p:spPr>
      </p:pic>
      <p:pic>
        <p:nvPicPr>
          <p:cNvPr id="571" name="Google Shape;571;p16"/>
          <p:cNvPicPr preferRelativeResize="0"/>
          <p:nvPr/>
        </p:nvPicPr>
        <p:blipFill rotWithShape="1">
          <a:blip r:embed="rId4">
            <a:alphaModFix/>
          </a:blip>
          <a:srcRect/>
          <a:stretch/>
        </p:blipFill>
        <p:spPr>
          <a:xfrm>
            <a:off x="655029" y="2571750"/>
            <a:ext cx="3476625" cy="609600"/>
          </a:xfrm>
          <a:prstGeom prst="rect">
            <a:avLst/>
          </a:prstGeom>
          <a:noFill/>
          <a:ln>
            <a:noFill/>
          </a:ln>
        </p:spPr>
      </p:pic>
      <p:pic>
        <p:nvPicPr>
          <p:cNvPr id="572" name="Google Shape;572;p16"/>
          <p:cNvPicPr preferRelativeResize="0"/>
          <p:nvPr/>
        </p:nvPicPr>
        <p:blipFill rotWithShape="1">
          <a:blip r:embed="rId5">
            <a:alphaModFix/>
          </a:blip>
          <a:srcRect/>
          <a:stretch/>
        </p:blipFill>
        <p:spPr>
          <a:xfrm>
            <a:off x="580988" y="3622880"/>
            <a:ext cx="3714750" cy="714375"/>
          </a:xfrm>
          <a:prstGeom prst="rect">
            <a:avLst/>
          </a:prstGeom>
          <a:noFill/>
          <a:ln>
            <a:noFill/>
          </a:ln>
        </p:spPr>
      </p:pic>
      <p:pic>
        <p:nvPicPr>
          <p:cNvPr id="573" name="Google Shape;573;p16"/>
          <p:cNvPicPr preferRelativeResize="0"/>
          <p:nvPr/>
        </p:nvPicPr>
        <p:blipFill rotWithShape="1">
          <a:blip r:embed="rId6">
            <a:alphaModFix/>
          </a:blip>
          <a:srcRect/>
          <a:stretch/>
        </p:blipFill>
        <p:spPr>
          <a:xfrm>
            <a:off x="5390985" y="1943928"/>
            <a:ext cx="2609394" cy="1009474"/>
          </a:xfrm>
          <a:prstGeom prst="rect">
            <a:avLst/>
          </a:prstGeom>
          <a:noFill/>
          <a:ln>
            <a:noFill/>
          </a:ln>
        </p:spPr>
      </p:pic>
      <p:pic>
        <p:nvPicPr>
          <p:cNvPr id="574" name="Google Shape;574;p16"/>
          <p:cNvPicPr preferRelativeResize="0"/>
          <p:nvPr/>
        </p:nvPicPr>
        <p:blipFill rotWithShape="1">
          <a:blip r:embed="rId7">
            <a:alphaModFix/>
          </a:blip>
          <a:srcRect/>
          <a:stretch/>
        </p:blipFill>
        <p:spPr>
          <a:xfrm>
            <a:off x="5086387" y="3066105"/>
            <a:ext cx="3476625" cy="15328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6"/>
          <p:cNvSpPr txBox="1">
            <a:spLocks noGrp="1"/>
          </p:cNvSpPr>
          <p:nvPr>
            <p:ph type="title"/>
          </p:nvPr>
        </p:nvSpPr>
        <p:spPr>
          <a:xfrm>
            <a:off x="457199" y="133350"/>
            <a:ext cx="5987143"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a:t>Use of Distance Metrics</a:t>
            </a:r>
            <a:endParaRPr/>
          </a:p>
        </p:txBody>
      </p:sp>
      <p:sp>
        <p:nvSpPr>
          <p:cNvPr id="580" name="Google Shape;580;p46"/>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360"/>
              </a:spcBef>
              <a:spcAft>
                <a:spcPts val="0"/>
              </a:spcAft>
              <a:buSzPts val="1800"/>
              <a:buNone/>
            </a:pPr>
            <a:r>
              <a:rPr lang="en-US" sz="1800" b="0" i="0">
                <a:solidFill>
                  <a:schemeClr val="dk1"/>
                </a:solidFill>
                <a:latin typeface="Calibri"/>
                <a:ea typeface="Calibri"/>
                <a:cs typeface="Calibri"/>
                <a:sym typeface="Calibri"/>
              </a:rPr>
              <a:t>Statistical distances are used for several important reasons:</a:t>
            </a:r>
            <a:endParaRPr/>
          </a:p>
          <a:p>
            <a:pPr marL="114300" lvl="0" indent="0" algn="l" rtl="0">
              <a:lnSpc>
                <a:spcPct val="100000"/>
              </a:lnSpc>
              <a:spcBef>
                <a:spcPts val="360"/>
              </a:spcBef>
              <a:spcAft>
                <a:spcPts val="0"/>
              </a:spcAft>
              <a:buSzPts val="1800"/>
              <a:buNone/>
            </a:pPr>
            <a:endParaRPr sz="1800" b="0" i="0">
              <a:solidFill>
                <a:schemeClr val="dk1"/>
              </a:solidFill>
              <a:latin typeface="Calibri"/>
              <a:ea typeface="Calibri"/>
              <a:cs typeface="Calibri"/>
              <a:sym typeface="Calibri"/>
            </a:endParaRPr>
          </a:p>
          <a:p>
            <a:pPr marL="457200" lvl="0" indent="-342900" algn="l" rtl="0">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Outlier Detection</a:t>
            </a:r>
            <a:endParaRPr/>
          </a:p>
          <a:p>
            <a:pPr marL="457200" lvl="0" indent="-342900" algn="l" rtl="0">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Clustering Analysis</a:t>
            </a:r>
            <a:endParaRPr/>
          </a:p>
          <a:p>
            <a:pPr marL="457200" lvl="0" indent="-342900" algn="l" rtl="0">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Feature Selection</a:t>
            </a:r>
            <a:endParaRPr/>
          </a:p>
          <a:p>
            <a:pPr marL="457200" lvl="0" indent="-342900" algn="l" rtl="0">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Data Cleaning</a:t>
            </a:r>
            <a:endParaRPr/>
          </a:p>
          <a:p>
            <a:pPr marL="457200" lvl="0" indent="-342900" algn="l" rtl="0">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Dimensionality Reduction</a:t>
            </a:r>
            <a:endParaRPr/>
          </a:p>
          <a:p>
            <a:pPr marL="114300" lvl="0" indent="0" algn="l" rtl="0">
              <a:lnSpc>
                <a:spcPct val="100000"/>
              </a:lnSpc>
              <a:spcBef>
                <a:spcPts val="360"/>
              </a:spcBef>
              <a:spcAft>
                <a:spcPts val="0"/>
              </a:spcAft>
              <a:buSzPts val="1800"/>
              <a:buNone/>
            </a:pPr>
            <a:endParaRPr sz="1800">
              <a:solidFill>
                <a:schemeClr val="dk1"/>
              </a:solidFill>
              <a:latin typeface="Calibri"/>
              <a:ea typeface="Calibri"/>
              <a:cs typeface="Calibri"/>
              <a:sym typeface="Calibri"/>
            </a:endParaRPr>
          </a:p>
          <a:p>
            <a:pPr marL="457200" lvl="0" indent="-228600" algn="l" rtl="0">
              <a:lnSpc>
                <a:spcPct val="100000"/>
              </a:lnSpc>
              <a:spcBef>
                <a:spcPts val="360"/>
              </a:spcBef>
              <a:spcAft>
                <a:spcPts val="0"/>
              </a:spcAft>
              <a:buClr>
                <a:schemeClr val="dk1"/>
              </a:buClr>
              <a:buSzPts val="1800"/>
              <a:buNone/>
            </a:pPr>
            <a:endParaRPr>
              <a:solidFill>
                <a:srgbClr val="374151"/>
              </a:solidFill>
              <a:latin typeface="Arial"/>
              <a:ea typeface="Arial"/>
              <a:cs typeface="Arial"/>
              <a:sym typeface="Arial"/>
            </a:endParaRPr>
          </a:p>
          <a:p>
            <a:pPr marL="457200" lvl="0" indent="-228600" algn="l" rtl="0">
              <a:lnSpc>
                <a:spcPct val="100000"/>
              </a:lnSpc>
              <a:spcBef>
                <a:spcPts val="360"/>
              </a:spcBef>
              <a:spcAft>
                <a:spcPts val="0"/>
              </a:spcAft>
              <a:buClr>
                <a:schemeClr val="dk1"/>
              </a:buClr>
              <a:buSzPts val="1800"/>
              <a:buNone/>
            </a:pPr>
            <a:endParaRPr/>
          </a:p>
        </p:txBody>
      </p:sp>
      <p:sp>
        <p:nvSpPr>
          <p:cNvPr id="581" name="Google Shape;581;p4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10095e81ede_0_185"/>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400"/>
              </a:spcBef>
              <a:spcAft>
                <a:spcPts val="0"/>
              </a:spcAft>
              <a:buClr>
                <a:schemeClr val="dk1"/>
              </a:buClr>
              <a:buSzPts val="1100"/>
              <a:buFont typeface="Arial"/>
              <a:buNone/>
            </a:pPr>
            <a:r>
              <a:rPr lang="en-US" sz="2500">
                <a:solidFill>
                  <a:srgbClr val="538CD5"/>
                </a:solidFill>
                <a:latin typeface="Cambria"/>
                <a:ea typeface="Cambria"/>
                <a:cs typeface="Cambria"/>
                <a:sym typeface="Cambria"/>
              </a:rPr>
              <a:t>Covariance</a:t>
            </a:r>
            <a:endParaRPr sz="4100">
              <a:solidFill>
                <a:srgbClr val="538CD5"/>
              </a:solidFill>
            </a:endParaRPr>
          </a:p>
        </p:txBody>
      </p:sp>
      <p:sp>
        <p:nvSpPr>
          <p:cNvPr id="587" name="Google Shape;587;g10095e81ede_0_185"/>
          <p:cNvSpPr txBox="1">
            <a:spLocks noGrp="1"/>
          </p:cNvSpPr>
          <p:nvPr>
            <p:ph type="body" idx="1"/>
          </p:nvPr>
        </p:nvSpPr>
        <p:spPr>
          <a:xfrm>
            <a:off x="53400" y="792001"/>
            <a:ext cx="8404800" cy="1478400"/>
          </a:xfrm>
          <a:prstGeom prst="rect">
            <a:avLst/>
          </a:prstGeom>
          <a:noFill/>
          <a:ln>
            <a:noFill/>
          </a:ln>
        </p:spPr>
        <p:txBody>
          <a:bodyPr spcFirstLastPara="1" wrap="square" lIns="91425" tIns="45700" rIns="91425" bIns="45700" anchor="t" anchorCtr="0">
            <a:normAutofit/>
          </a:bodyPr>
          <a:lstStyle/>
          <a:p>
            <a:pPr marL="457200" lvl="0" indent="-330200" algn="l" rtl="0">
              <a:lnSpc>
                <a:spcPct val="100000"/>
              </a:lnSpc>
              <a:spcBef>
                <a:spcPts val="0"/>
              </a:spcBef>
              <a:spcAft>
                <a:spcPts val="0"/>
              </a:spcAft>
              <a:buSzPts val="1600"/>
              <a:buChar char="•"/>
            </a:pPr>
            <a:r>
              <a:rPr lang="en-US" sz="1600"/>
              <a:t>It is the relationship between a pair of random variables where change in one variable causes change in another variable.</a:t>
            </a:r>
            <a:endParaRPr sz="1600"/>
          </a:p>
          <a:p>
            <a:pPr marL="457200" lvl="0" indent="-330200" algn="l" rtl="0">
              <a:lnSpc>
                <a:spcPct val="115000"/>
              </a:lnSpc>
              <a:spcBef>
                <a:spcPts val="0"/>
              </a:spcBef>
              <a:spcAft>
                <a:spcPts val="0"/>
              </a:spcAft>
              <a:buSzPts val="1600"/>
              <a:buChar char="•"/>
            </a:pPr>
            <a:r>
              <a:rPr lang="en-US" sz="1600"/>
              <a:t>It can take any value between </a:t>
            </a:r>
            <a:r>
              <a:rPr lang="en-US" sz="1800" b="0" i="0">
                <a:solidFill>
                  <a:srgbClr val="212121"/>
                </a:solidFill>
                <a:latin typeface="Century"/>
                <a:ea typeface="Century"/>
                <a:cs typeface="Century"/>
                <a:sym typeface="Century"/>
              </a:rPr>
              <a:t>-∞ </a:t>
            </a:r>
            <a:r>
              <a:rPr lang="en-US" sz="1600" b="0" i="0">
                <a:solidFill>
                  <a:srgbClr val="212121"/>
                </a:solidFill>
                <a:latin typeface="Calibri"/>
                <a:ea typeface="Calibri"/>
                <a:cs typeface="Calibri"/>
                <a:sym typeface="Calibri"/>
              </a:rPr>
              <a:t>to</a:t>
            </a:r>
            <a:r>
              <a:rPr lang="en-US" sz="1600" b="0" i="0">
                <a:solidFill>
                  <a:srgbClr val="212121"/>
                </a:solidFill>
                <a:latin typeface="Century"/>
                <a:ea typeface="Century"/>
                <a:cs typeface="Century"/>
                <a:sym typeface="Century"/>
              </a:rPr>
              <a:t> </a:t>
            </a:r>
            <a:r>
              <a:rPr lang="en-US" sz="1800" b="0" i="0">
                <a:solidFill>
                  <a:srgbClr val="212121"/>
                </a:solidFill>
                <a:latin typeface="Century"/>
                <a:ea typeface="Century"/>
                <a:cs typeface="Century"/>
                <a:sym typeface="Century"/>
              </a:rPr>
              <a:t>+∞</a:t>
            </a:r>
            <a:r>
              <a:rPr lang="en-US" sz="1600"/>
              <a:t>, where the negative value represents the negative relationship whereas a positive value represents the positive relationship.</a:t>
            </a:r>
            <a:endParaRPr sz="3400"/>
          </a:p>
        </p:txBody>
      </p:sp>
      <p:sp>
        <p:nvSpPr>
          <p:cNvPr id="588" name="Google Shape;588;g10095e81ede_0_185"/>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89" name="Google Shape;589;g10095e81ede_0_185"/>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59</a:t>
            </a:fld>
            <a:endParaRPr/>
          </a:p>
        </p:txBody>
      </p:sp>
      <p:pic>
        <p:nvPicPr>
          <p:cNvPr id="590" name="Google Shape;590;g10095e81ede_0_185"/>
          <p:cNvPicPr preferRelativeResize="0"/>
          <p:nvPr/>
        </p:nvPicPr>
        <p:blipFill rotWithShape="1">
          <a:blip r:embed="rId3">
            <a:alphaModFix/>
          </a:blip>
          <a:srcRect/>
          <a:stretch/>
        </p:blipFill>
        <p:spPr>
          <a:xfrm>
            <a:off x="143500" y="1995651"/>
            <a:ext cx="3576437" cy="2294455"/>
          </a:xfrm>
          <a:prstGeom prst="rect">
            <a:avLst/>
          </a:prstGeom>
          <a:noFill/>
          <a:ln>
            <a:noFill/>
          </a:ln>
        </p:spPr>
      </p:pic>
      <p:pic>
        <p:nvPicPr>
          <p:cNvPr id="591" name="Google Shape;591;g10095e81ede_0_185"/>
          <p:cNvPicPr preferRelativeResize="0"/>
          <p:nvPr/>
        </p:nvPicPr>
        <p:blipFill rotWithShape="1">
          <a:blip r:embed="rId4">
            <a:alphaModFix/>
          </a:blip>
          <a:srcRect/>
          <a:stretch/>
        </p:blipFill>
        <p:spPr>
          <a:xfrm>
            <a:off x="4655437" y="1995651"/>
            <a:ext cx="4198767" cy="227540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g10095e81ede_0_204"/>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400"/>
              </a:spcBef>
              <a:spcAft>
                <a:spcPts val="0"/>
              </a:spcAft>
              <a:buClr>
                <a:schemeClr val="dk1"/>
              </a:buClr>
              <a:buSzPts val="1100"/>
              <a:buFont typeface="Arial"/>
              <a:buNone/>
            </a:pPr>
            <a:r>
              <a:rPr lang="en-US" sz="2500">
                <a:solidFill>
                  <a:srgbClr val="538CD5"/>
                </a:solidFill>
                <a:latin typeface="Cambria"/>
                <a:ea typeface="Cambria"/>
                <a:cs typeface="Cambria"/>
                <a:sym typeface="Cambria"/>
              </a:rPr>
              <a:t>Correlation</a:t>
            </a:r>
            <a:endParaRPr sz="4100">
              <a:solidFill>
                <a:srgbClr val="538CD5"/>
              </a:solidFill>
            </a:endParaRPr>
          </a:p>
        </p:txBody>
      </p:sp>
      <p:sp>
        <p:nvSpPr>
          <p:cNvPr id="597" name="Google Shape;597;g10095e81ede_0_204"/>
          <p:cNvSpPr txBox="1">
            <a:spLocks noGrp="1"/>
          </p:cNvSpPr>
          <p:nvPr>
            <p:ph type="body" idx="1"/>
          </p:nvPr>
        </p:nvSpPr>
        <p:spPr>
          <a:xfrm>
            <a:off x="53400" y="792000"/>
            <a:ext cx="8404800" cy="889800"/>
          </a:xfrm>
          <a:prstGeom prst="rect">
            <a:avLst/>
          </a:prstGeom>
          <a:noFill/>
          <a:ln>
            <a:noFill/>
          </a:ln>
        </p:spPr>
        <p:txBody>
          <a:bodyPr spcFirstLastPara="1" wrap="square" lIns="91425" tIns="45700" rIns="91425" bIns="45700" anchor="t" anchorCtr="0">
            <a:noAutofit/>
          </a:bodyPr>
          <a:lstStyle/>
          <a:p>
            <a:pPr marL="457200" lvl="0" indent="-349250" algn="l" rtl="0">
              <a:lnSpc>
                <a:spcPct val="115000"/>
              </a:lnSpc>
              <a:spcBef>
                <a:spcPts val="0"/>
              </a:spcBef>
              <a:spcAft>
                <a:spcPts val="0"/>
              </a:spcAft>
              <a:buSzPts val="1900"/>
              <a:buChar char="•"/>
            </a:pPr>
            <a:r>
              <a:rPr lang="en-US" sz="1600"/>
              <a:t>It is the scaled version of Covariance.</a:t>
            </a:r>
            <a:endParaRPr sz="1600"/>
          </a:p>
          <a:p>
            <a:pPr marL="457200" lvl="0" indent="-349250" algn="l" rtl="0">
              <a:lnSpc>
                <a:spcPct val="115000"/>
              </a:lnSpc>
              <a:spcBef>
                <a:spcPts val="1000"/>
              </a:spcBef>
              <a:spcAft>
                <a:spcPts val="1000"/>
              </a:spcAft>
              <a:buSzPts val="1900"/>
              <a:buChar char="•"/>
            </a:pPr>
            <a:r>
              <a:rPr lang="en-US" sz="1600" b="0" i="0">
                <a:solidFill>
                  <a:srgbClr val="212121"/>
                </a:solidFill>
                <a:latin typeface="Calibri"/>
                <a:ea typeface="Calibri"/>
                <a:cs typeface="Calibri"/>
                <a:sym typeface="Calibri"/>
              </a:rPr>
              <a:t>Correlation is a step ahead of covariance as it quantifies the relationship between two random variables. In simple terms, it is a unit measure of how these variables change concerning each other (normalized covariance </a:t>
            </a:r>
            <a:r>
              <a:rPr lang="en-US" sz="1600">
                <a:solidFill>
                  <a:srgbClr val="212121"/>
                </a:solidFill>
                <a:latin typeface="Calibri"/>
                <a:ea typeface="Calibri"/>
                <a:cs typeface="Calibri"/>
                <a:sym typeface="Calibri"/>
              </a:rPr>
              <a:t>value).</a:t>
            </a:r>
            <a:endParaRPr sz="1600">
              <a:latin typeface="Calibri"/>
              <a:ea typeface="Calibri"/>
              <a:cs typeface="Calibri"/>
              <a:sym typeface="Calibri"/>
            </a:endParaRPr>
          </a:p>
        </p:txBody>
      </p:sp>
      <p:sp>
        <p:nvSpPr>
          <p:cNvPr id="598" name="Google Shape;598;g10095e81ede_0_204"/>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599" name="Google Shape;599;g10095e81ede_0_20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60</a:t>
            </a:fld>
            <a:endParaRPr/>
          </a:p>
        </p:txBody>
      </p:sp>
      <p:pic>
        <p:nvPicPr>
          <p:cNvPr id="600" name="Google Shape;600;g10095e81ede_0_204"/>
          <p:cNvPicPr preferRelativeResize="0"/>
          <p:nvPr/>
        </p:nvPicPr>
        <p:blipFill rotWithShape="1">
          <a:blip r:embed="rId3">
            <a:alphaModFix/>
          </a:blip>
          <a:srcRect/>
          <a:stretch/>
        </p:blipFill>
        <p:spPr>
          <a:xfrm>
            <a:off x="163224" y="2227226"/>
            <a:ext cx="4657725" cy="2190750"/>
          </a:xfrm>
          <a:prstGeom prst="rect">
            <a:avLst/>
          </a:prstGeom>
          <a:noFill/>
          <a:ln>
            <a:noFill/>
          </a:ln>
        </p:spPr>
      </p:pic>
      <p:pic>
        <p:nvPicPr>
          <p:cNvPr id="601" name="Google Shape;601;g10095e81ede_0_204"/>
          <p:cNvPicPr preferRelativeResize="0"/>
          <p:nvPr/>
        </p:nvPicPr>
        <p:blipFill rotWithShape="1">
          <a:blip r:embed="rId4">
            <a:alphaModFix/>
          </a:blip>
          <a:srcRect/>
          <a:stretch/>
        </p:blipFill>
        <p:spPr>
          <a:xfrm>
            <a:off x="4962525" y="2032396"/>
            <a:ext cx="4029075" cy="24485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pic>
        <p:nvPicPr>
          <p:cNvPr id="606" name="Google Shape;606;p55" descr="Image result for machine learning robot"/>
          <p:cNvPicPr preferRelativeResize="0"/>
          <p:nvPr/>
        </p:nvPicPr>
        <p:blipFill rotWithShape="1">
          <a:blip r:embed="rId3">
            <a:alphaModFix/>
          </a:blip>
          <a:srcRect/>
          <a:stretch/>
        </p:blipFill>
        <p:spPr>
          <a:xfrm>
            <a:off x="0" y="973290"/>
            <a:ext cx="4495800" cy="3371850"/>
          </a:xfrm>
          <a:prstGeom prst="rect">
            <a:avLst/>
          </a:prstGeom>
          <a:noFill/>
          <a:ln>
            <a:noFill/>
          </a:ln>
        </p:spPr>
      </p:pic>
      <p:sp>
        <p:nvSpPr>
          <p:cNvPr id="607" name="Google Shape;607;p55"/>
          <p:cNvSpPr txBox="1">
            <a:spLocks noGrp="1"/>
          </p:cNvSpPr>
          <p:nvPr>
            <p:ph type="ctrTitle"/>
          </p:nvPr>
        </p:nvSpPr>
        <p:spPr>
          <a:xfrm>
            <a:off x="2971800" y="1048703"/>
            <a:ext cx="6095063" cy="110251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sz="3600" b="1"/>
              <a:t>Hypothesis Testing &amp;</a:t>
            </a:r>
            <a:br>
              <a:rPr lang="en-US" sz="3600" b="1"/>
            </a:br>
            <a:r>
              <a:rPr lang="en-US" sz="2800"/>
              <a:t>Other computational Techniques</a:t>
            </a:r>
            <a:endParaRPr/>
          </a:p>
        </p:txBody>
      </p:sp>
      <p:sp>
        <p:nvSpPr>
          <p:cNvPr id="608" name="Google Shape;608;p55"/>
          <p:cNvSpPr txBox="1">
            <a:spLocks noGrp="1"/>
          </p:cNvSpPr>
          <p:nvPr>
            <p:ph type="subTitle" idx="1"/>
          </p:nvPr>
        </p:nvSpPr>
        <p:spPr>
          <a:xfrm>
            <a:off x="3924300" y="2271594"/>
            <a:ext cx="4495800" cy="131445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Module - 4</a:t>
            </a:r>
            <a:endParaRPr/>
          </a:p>
        </p:txBody>
      </p:sp>
      <p:sp>
        <p:nvSpPr>
          <p:cNvPr id="609" name="Google Shape;609;p55"/>
          <p:cNvSpPr txBox="1">
            <a:spLocks noGrp="1"/>
          </p:cNvSpPr>
          <p:nvPr>
            <p:ph type="sldNum" idx="12"/>
          </p:nvPr>
        </p:nvSpPr>
        <p:spPr>
          <a:xfrm>
            <a:off x="8610600" y="4850606"/>
            <a:ext cx="3810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61</a:t>
            </a:fld>
            <a:endParaRPr/>
          </a:p>
        </p:txBody>
      </p:sp>
      <p:sp>
        <p:nvSpPr>
          <p:cNvPr id="610" name="Google Shape;610;p55"/>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gfa2dc849d1_0_0"/>
          <p:cNvSpPr txBox="1">
            <a:spLocks noGrp="1"/>
          </p:cNvSpPr>
          <p:nvPr>
            <p:ph type="title"/>
          </p:nvPr>
        </p:nvSpPr>
        <p:spPr>
          <a:xfrm>
            <a:off x="71200" y="0"/>
            <a:ext cx="6914400" cy="676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sz="2900">
                <a:solidFill>
                  <a:srgbClr val="538CD5"/>
                </a:solidFill>
              </a:rPr>
              <a:t>Hypothesis Testing</a:t>
            </a:r>
            <a:endParaRPr sz="2900">
              <a:solidFill>
                <a:srgbClr val="538CD5"/>
              </a:solidFill>
            </a:endParaRPr>
          </a:p>
        </p:txBody>
      </p:sp>
      <p:sp>
        <p:nvSpPr>
          <p:cNvPr id="616" name="Google Shape;616;gfa2dc849d1_0_0"/>
          <p:cNvSpPr txBox="1">
            <a:spLocks noGrp="1"/>
          </p:cNvSpPr>
          <p:nvPr>
            <p:ph type="body" idx="1"/>
          </p:nvPr>
        </p:nvSpPr>
        <p:spPr>
          <a:xfrm>
            <a:off x="186875" y="819150"/>
            <a:ext cx="8728500" cy="3394500"/>
          </a:xfrm>
          <a:prstGeom prst="rect">
            <a:avLst/>
          </a:prstGeom>
          <a:noFill/>
          <a:ln>
            <a:noFill/>
          </a:ln>
        </p:spPr>
        <p:txBody>
          <a:bodyPr spcFirstLastPara="1" wrap="square" lIns="91425" tIns="45700" rIns="91425" bIns="45700" anchor="t" anchorCtr="0">
            <a:normAutofit lnSpcReduction="10000"/>
          </a:bodyPr>
          <a:lstStyle/>
          <a:p>
            <a:pPr marL="457200" lvl="0" indent="-336550" algn="l" rtl="0">
              <a:lnSpc>
                <a:spcPct val="115000"/>
              </a:lnSpc>
              <a:spcBef>
                <a:spcPts val="0"/>
              </a:spcBef>
              <a:spcAft>
                <a:spcPts val="0"/>
              </a:spcAft>
              <a:buSzPts val="1700"/>
              <a:buChar char="•"/>
            </a:pPr>
            <a:r>
              <a:rPr lang="en-US" sz="1700"/>
              <a:t>Hypothesis is a statement, assumption or claim about the value of the parameter (mean, variance, median etc.).</a:t>
            </a:r>
            <a:endParaRPr sz="1700"/>
          </a:p>
          <a:p>
            <a:pPr marL="457200" lvl="0" indent="-336550" algn="l" rtl="0">
              <a:lnSpc>
                <a:spcPct val="115000"/>
              </a:lnSpc>
              <a:spcBef>
                <a:spcPts val="0"/>
              </a:spcBef>
              <a:spcAft>
                <a:spcPts val="0"/>
              </a:spcAft>
              <a:buSzPts val="1700"/>
              <a:buChar char="•"/>
            </a:pPr>
            <a:r>
              <a:rPr lang="en-US" sz="1700"/>
              <a:t>A hypothesis is an educated guess about something in the world around you. It should be testable, either by experiment or observation. </a:t>
            </a:r>
            <a:endParaRPr/>
          </a:p>
          <a:p>
            <a:pPr marL="457200" lvl="0" indent="-336550" algn="l" rtl="0">
              <a:lnSpc>
                <a:spcPct val="115000"/>
              </a:lnSpc>
              <a:spcBef>
                <a:spcPts val="0"/>
              </a:spcBef>
              <a:spcAft>
                <a:spcPts val="0"/>
              </a:spcAft>
              <a:buSzPts val="1700"/>
              <a:buChar char="•"/>
            </a:pPr>
            <a:r>
              <a:rPr lang="en-US" sz="1800"/>
              <a:t>Hypothesis Testing is a formal procedure to test whether an assumption (</a:t>
            </a:r>
            <a:r>
              <a:rPr lang="en-US" sz="1800" b="1"/>
              <a:t>hypothesis</a:t>
            </a:r>
            <a:r>
              <a:rPr lang="en-US" sz="1800"/>
              <a:t>) about a population is true or not.</a:t>
            </a:r>
            <a:endParaRPr sz="1800"/>
          </a:p>
          <a:p>
            <a:pPr marL="0" lvl="0" indent="0" algn="l" rtl="0">
              <a:lnSpc>
                <a:spcPct val="115000"/>
              </a:lnSpc>
              <a:spcBef>
                <a:spcPts val="1000"/>
              </a:spcBef>
              <a:spcAft>
                <a:spcPts val="0"/>
              </a:spcAft>
              <a:buSzPts val="1800"/>
              <a:buNone/>
            </a:pPr>
            <a:endParaRPr sz="1700"/>
          </a:p>
          <a:p>
            <a:pPr marL="0" lvl="0" indent="0" algn="l" rtl="0">
              <a:lnSpc>
                <a:spcPct val="115000"/>
              </a:lnSpc>
              <a:spcBef>
                <a:spcPts val="1000"/>
              </a:spcBef>
              <a:spcAft>
                <a:spcPts val="1000"/>
              </a:spcAft>
              <a:buClr>
                <a:schemeClr val="dk1"/>
              </a:buClr>
              <a:buSzPts val="1100"/>
              <a:buFont typeface="Arial"/>
              <a:buNone/>
            </a:pPr>
            <a:r>
              <a:rPr lang="en-US" sz="1700"/>
              <a:t>Ex:-if we make a statement that “Dhoni is the best Indian Captain ever.” This is an assumption that we are making based on the average wins and loses team had under his captaincy.  We can test this statement based on all the match data.</a:t>
            </a:r>
            <a:endParaRPr sz="1700"/>
          </a:p>
        </p:txBody>
      </p:sp>
      <p:sp>
        <p:nvSpPr>
          <p:cNvPr id="617" name="Google Shape;617;gfa2dc849d1_0_0"/>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18" name="Google Shape;618;gfa2dc849d1_0_0"/>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8"/>
          <p:cNvSpPr txBox="1">
            <a:spLocks noGrp="1"/>
          </p:cNvSpPr>
          <p:nvPr>
            <p:ph type="title"/>
          </p:nvPr>
        </p:nvSpPr>
        <p:spPr>
          <a:xfrm>
            <a:off x="71200" y="0"/>
            <a:ext cx="6914400" cy="676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sz="2900">
                <a:solidFill>
                  <a:srgbClr val="538CD5"/>
                </a:solidFill>
              </a:rPr>
              <a:t>Types of Hypothesis</a:t>
            </a:r>
            <a:endParaRPr sz="2900">
              <a:solidFill>
                <a:srgbClr val="538CD5"/>
              </a:solidFill>
            </a:endParaRPr>
          </a:p>
        </p:txBody>
      </p:sp>
      <p:sp>
        <p:nvSpPr>
          <p:cNvPr id="624" name="Google Shape;624;p48"/>
          <p:cNvSpPr txBox="1">
            <a:spLocks noGrp="1"/>
          </p:cNvSpPr>
          <p:nvPr>
            <p:ph type="body" idx="1"/>
          </p:nvPr>
        </p:nvSpPr>
        <p:spPr>
          <a:xfrm>
            <a:off x="186875" y="819150"/>
            <a:ext cx="8728500" cy="3394500"/>
          </a:xfrm>
          <a:prstGeom prst="rect">
            <a:avLst/>
          </a:prstGeom>
          <a:noFill/>
          <a:ln>
            <a:noFill/>
          </a:ln>
        </p:spPr>
        <p:txBody>
          <a:bodyPr spcFirstLastPara="1" wrap="square" lIns="91425" tIns="45700" rIns="91425" bIns="45700" anchor="t" anchorCtr="0">
            <a:normAutofit/>
          </a:bodyPr>
          <a:lstStyle/>
          <a:p>
            <a:pPr marL="457200" lvl="0" indent="-361950" algn="l" rtl="0">
              <a:lnSpc>
                <a:spcPct val="115000"/>
              </a:lnSpc>
              <a:spcBef>
                <a:spcPts val="0"/>
              </a:spcBef>
              <a:spcAft>
                <a:spcPts val="0"/>
              </a:spcAft>
              <a:buSzPts val="2100"/>
              <a:buChar char="•"/>
            </a:pPr>
            <a:r>
              <a:rPr lang="en-US" sz="2100"/>
              <a:t>When a hypothesis specifies an exact value of parameter, it is simple hypothesis. For eg., A motorcycle company claiming that a certain model gives an average mileage of 100 km per litre, this is a case of simple hypothesis. </a:t>
            </a:r>
            <a:endParaRPr/>
          </a:p>
          <a:p>
            <a:pPr marL="95250" lvl="0" indent="0" algn="l" rtl="0">
              <a:lnSpc>
                <a:spcPct val="115000"/>
              </a:lnSpc>
              <a:spcBef>
                <a:spcPts val="0"/>
              </a:spcBef>
              <a:spcAft>
                <a:spcPts val="0"/>
              </a:spcAft>
              <a:buSzPts val="2100"/>
              <a:buNone/>
            </a:pPr>
            <a:endParaRPr sz="2100"/>
          </a:p>
          <a:p>
            <a:pPr marL="457200" lvl="0" indent="-361950" algn="l" rtl="0">
              <a:lnSpc>
                <a:spcPct val="115000"/>
              </a:lnSpc>
              <a:spcBef>
                <a:spcPts val="0"/>
              </a:spcBef>
              <a:spcAft>
                <a:spcPts val="0"/>
              </a:spcAft>
              <a:buSzPts val="2100"/>
              <a:buChar char="•"/>
            </a:pPr>
            <a:r>
              <a:rPr lang="en-US" sz="2100"/>
              <a:t>If a hypothesis specifies a range of values then it is called a composite hypothesis. For eg., Average age of students in a class is greater than 20. This statement is a composite hypothesis.</a:t>
            </a:r>
            <a:endParaRPr sz="3900"/>
          </a:p>
        </p:txBody>
      </p:sp>
      <p:sp>
        <p:nvSpPr>
          <p:cNvPr id="625" name="Google Shape;625;p48"/>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26" name="Google Shape;626;p4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57"/>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Null Hypothesis (H</a:t>
            </a:r>
            <a:r>
              <a:rPr lang="en-US" baseline="-25000">
                <a:solidFill>
                  <a:srgbClr val="538CD5"/>
                </a:solidFill>
              </a:rPr>
              <a:t>0</a:t>
            </a:r>
            <a:r>
              <a:rPr lang="en-US">
                <a:solidFill>
                  <a:srgbClr val="538CD5"/>
                </a:solidFill>
              </a:rPr>
              <a:t>)</a:t>
            </a:r>
            <a:endParaRPr>
              <a:solidFill>
                <a:srgbClr val="538CD5"/>
              </a:solidFill>
            </a:endParaRPr>
          </a:p>
        </p:txBody>
      </p:sp>
      <p:sp>
        <p:nvSpPr>
          <p:cNvPr id="632" name="Google Shape;632;p57"/>
          <p:cNvSpPr txBox="1">
            <a:spLocks noGrp="1"/>
          </p:cNvSpPr>
          <p:nvPr>
            <p:ph type="body" idx="1"/>
          </p:nvPr>
        </p:nvSpPr>
        <p:spPr>
          <a:xfrm>
            <a:off x="133475" y="915038"/>
            <a:ext cx="8553300" cy="3755700"/>
          </a:xfrm>
          <a:prstGeom prst="rect">
            <a:avLst/>
          </a:prstGeom>
          <a:noFill/>
          <a:ln>
            <a:noFill/>
          </a:ln>
        </p:spPr>
        <p:txBody>
          <a:bodyPr spcFirstLastPara="1" wrap="square" lIns="91425" tIns="45700" rIns="91425" bIns="45700" anchor="t" anchorCtr="0">
            <a:normAutofit/>
          </a:bodyPr>
          <a:lstStyle/>
          <a:p>
            <a:pPr marL="457200" lvl="0" indent="-381000" algn="l" rtl="0">
              <a:lnSpc>
                <a:spcPct val="115000"/>
              </a:lnSpc>
              <a:spcBef>
                <a:spcPts val="0"/>
              </a:spcBef>
              <a:spcAft>
                <a:spcPts val="0"/>
              </a:spcAft>
              <a:buSzPts val="2400"/>
              <a:buChar char="•"/>
            </a:pPr>
            <a:r>
              <a:rPr lang="en-US" sz="2400"/>
              <a:t>The null hypothesis is the hypothesis to be tested for possible rejection under the assumption that it is true.</a:t>
            </a:r>
            <a:endParaRPr/>
          </a:p>
          <a:p>
            <a:pPr marL="76200" lvl="0" indent="0" algn="l" rtl="0">
              <a:lnSpc>
                <a:spcPct val="115000"/>
              </a:lnSpc>
              <a:spcBef>
                <a:spcPts val="0"/>
              </a:spcBef>
              <a:spcAft>
                <a:spcPts val="0"/>
              </a:spcAft>
              <a:buSzPts val="2400"/>
              <a:buNone/>
            </a:pPr>
            <a:endParaRPr sz="2400"/>
          </a:p>
          <a:p>
            <a:pPr marL="457200" lvl="0" indent="-381000" algn="l" rtl="0">
              <a:lnSpc>
                <a:spcPct val="115000"/>
              </a:lnSpc>
              <a:spcBef>
                <a:spcPts val="0"/>
              </a:spcBef>
              <a:spcAft>
                <a:spcPts val="0"/>
              </a:spcAft>
              <a:buSzPts val="2400"/>
              <a:buChar char="•"/>
            </a:pPr>
            <a:r>
              <a:rPr lang="en-US" sz="2400"/>
              <a:t>Represents the default assumption.</a:t>
            </a:r>
            <a:endParaRPr/>
          </a:p>
          <a:p>
            <a:pPr marL="76200" lvl="0" indent="0" algn="l" rtl="0">
              <a:lnSpc>
                <a:spcPct val="115000"/>
              </a:lnSpc>
              <a:spcBef>
                <a:spcPts val="0"/>
              </a:spcBef>
              <a:spcAft>
                <a:spcPts val="0"/>
              </a:spcAft>
              <a:buSzPts val="2400"/>
              <a:buNone/>
            </a:pPr>
            <a:r>
              <a:rPr lang="en-US" sz="2400"/>
              <a:t>      </a:t>
            </a:r>
            <a:endParaRPr/>
          </a:p>
          <a:p>
            <a:pPr marL="457200" lvl="0" indent="-381000" algn="l" rtl="0">
              <a:lnSpc>
                <a:spcPct val="115000"/>
              </a:lnSpc>
              <a:spcBef>
                <a:spcPts val="0"/>
              </a:spcBef>
              <a:spcAft>
                <a:spcPts val="1000"/>
              </a:spcAft>
              <a:buSzPts val="2400"/>
              <a:buChar char="•"/>
            </a:pPr>
            <a:r>
              <a:rPr lang="en-US" sz="2400"/>
              <a:t>The concept of the null is similar to innocent until proven guilty.</a:t>
            </a:r>
            <a:endParaRPr sz="2400"/>
          </a:p>
        </p:txBody>
      </p:sp>
      <p:sp>
        <p:nvSpPr>
          <p:cNvPr id="633" name="Google Shape;633;p57"/>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34" name="Google Shape;634;p57"/>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gfa2dc849d1_0_14"/>
          <p:cNvSpPr txBox="1">
            <a:spLocks noGrp="1"/>
          </p:cNvSpPr>
          <p:nvPr>
            <p:ph type="title"/>
          </p:nvPr>
        </p:nvSpPr>
        <p:spPr>
          <a:xfrm>
            <a:off x="457200" y="133350"/>
            <a:ext cx="64128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Alternate Hypothesis (H</a:t>
            </a:r>
            <a:r>
              <a:rPr lang="en-US" baseline="-25000">
                <a:solidFill>
                  <a:srgbClr val="538CD5"/>
                </a:solidFill>
              </a:rPr>
              <a:t>A</a:t>
            </a:r>
            <a:r>
              <a:rPr lang="en-US">
                <a:solidFill>
                  <a:srgbClr val="538CD5"/>
                </a:solidFill>
              </a:rPr>
              <a:t>)/(H1)</a:t>
            </a:r>
            <a:endParaRPr>
              <a:solidFill>
                <a:srgbClr val="538CD5"/>
              </a:solidFill>
            </a:endParaRPr>
          </a:p>
        </p:txBody>
      </p:sp>
      <p:sp>
        <p:nvSpPr>
          <p:cNvPr id="640" name="Google Shape;640;gfa2dc849d1_0_14"/>
          <p:cNvSpPr txBox="1">
            <a:spLocks noGrp="1"/>
          </p:cNvSpPr>
          <p:nvPr>
            <p:ph type="body" idx="1"/>
          </p:nvPr>
        </p:nvSpPr>
        <p:spPr>
          <a:xfrm>
            <a:off x="133475" y="844513"/>
            <a:ext cx="8553300" cy="3755700"/>
          </a:xfrm>
          <a:prstGeom prst="rect">
            <a:avLst/>
          </a:prstGeom>
          <a:noFill/>
          <a:ln>
            <a:noFill/>
          </a:ln>
        </p:spPr>
        <p:txBody>
          <a:bodyPr spcFirstLastPara="1" wrap="square" lIns="91425" tIns="45700" rIns="91425" bIns="45700" anchor="t" anchorCtr="0">
            <a:normAutofit/>
          </a:bodyPr>
          <a:lstStyle/>
          <a:p>
            <a:pPr marL="457200" lvl="0" indent="-444500" algn="l" rtl="0">
              <a:lnSpc>
                <a:spcPct val="115000"/>
              </a:lnSpc>
              <a:spcBef>
                <a:spcPts val="0"/>
              </a:spcBef>
              <a:spcAft>
                <a:spcPts val="0"/>
              </a:spcAft>
              <a:buSzPts val="3400"/>
              <a:buChar char="•"/>
            </a:pPr>
            <a:r>
              <a:rPr lang="en-US" sz="2400"/>
              <a:t>Represents the opposite of the null hypothesis such that both the alternate and null hypotheses together cover all possible values of the population parameter.</a:t>
            </a:r>
            <a:endParaRPr/>
          </a:p>
          <a:p>
            <a:pPr marL="457200" lvl="0" indent="-444500" algn="l" rtl="0">
              <a:lnSpc>
                <a:spcPct val="115000"/>
              </a:lnSpc>
              <a:spcBef>
                <a:spcPts val="0"/>
              </a:spcBef>
              <a:spcAft>
                <a:spcPts val="0"/>
              </a:spcAft>
              <a:buSzPts val="3400"/>
              <a:buChar char="•"/>
            </a:pPr>
            <a:r>
              <a:rPr lang="en-US" sz="2400"/>
              <a:t>It is the hypothesis that researchers aim to support or prove based on evidence from sample data.</a:t>
            </a:r>
            <a:endParaRPr/>
          </a:p>
          <a:p>
            <a:pPr marL="457200" lvl="0" indent="-444500" algn="l" rtl="0">
              <a:lnSpc>
                <a:spcPct val="115000"/>
              </a:lnSpc>
              <a:spcBef>
                <a:spcPts val="0"/>
              </a:spcBef>
              <a:spcAft>
                <a:spcPts val="0"/>
              </a:spcAft>
              <a:buSzPts val="3400"/>
              <a:buChar char="•"/>
            </a:pPr>
            <a:r>
              <a:rPr lang="en-US" sz="2400"/>
              <a:t>The process in hypothesis testing involves gathering evidence against the null hypothesis to support the alternative hypothesis.</a:t>
            </a:r>
            <a:endParaRPr sz="2400"/>
          </a:p>
        </p:txBody>
      </p:sp>
      <p:sp>
        <p:nvSpPr>
          <p:cNvPr id="641" name="Google Shape;641;gfa2dc849d1_0_14"/>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42" name="Google Shape;642;gfa2dc849d1_0_1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7"/>
          <p:cNvSpPr txBox="1">
            <a:spLocks noGrp="1"/>
          </p:cNvSpPr>
          <p:nvPr>
            <p:ph type="title"/>
          </p:nvPr>
        </p:nvSpPr>
        <p:spPr>
          <a:xfrm>
            <a:off x="457200" y="133350"/>
            <a:ext cx="64008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Hypothesis Testing – Case Discussion</a:t>
            </a:r>
            <a:endParaRPr>
              <a:solidFill>
                <a:srgbClr val="0070C0"/>
              </a:solidFill>
            </a:endParaRPr>
          </a:p>
        </p:txBody>
      </p:sp>
      <p:sp>
        <p:nvSpPr>
          <p:cNvPr id="648" name="Google Shape;648;p67"/>
          <p:cNvSpPr txBox="1">
            <a:spLocks noGrp="1"/>
          </p:cNvSpPr>
          <p:nvPr>
            <p:ph type="body" idx="1"/>
          </p:nvPr>
        </p:nvSpPr>
        <p:spPr>
          <a:xfrm>
            <a:off x="457200" y="971551"/>
            <a:ext cx="8229600" cy="33945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0"/>
              </a:spcBef>
              <a:spcAft>
                <a:spcPts val="0"/>
              </a:spcAft>
              <a:buSzPts val="1800"/>
              <a:buNone/>
            </a:pPr>
            <a:r>
              <a:rPr lang="en-US" sz="2000" b="1" i="0" u="none" strike="noStrike">
                <a:solidFill>
                  <a:srgbClr val="000000"/>
                </a:solidFill>
                <a:latin typeface="Calibri"/>
                <a:ea typeface="Calibri"/>
                <a:cs typeface="Calibri"/>
                <a:sym typeface="Calibri"/>
              </a:rPr>
              <a:t>Consider a court of law</a:t>
            </a:r>
            <a:r>
              <a:rPr lang="en-US" sz="2000" b="1">
                <a:solidFill>
                  <a:srgbClr val="000000"/>
                </a:solidFill>
                <a:latin typeface="Calibri"/>
                <a:ea typeface="Calibri"/>
                <a:cs typeface="Calibri"/>
                <a:sym typeface="Calibri"/>
              </a:rPr>
              <a:t>:</a:t>
            </a:r>
            <a:endParaRPr sz="2000" b="1">
              <a:solidFill>
                <a:srgbClr val="000000"/>
              </a:solidFill>
              <a:latin typeface="Calibri"/>
              <a:ea typeface="Calibri"/>
              <a:cs typeface="Calibri"/>
              <a:sym typeface="Calibri"/>
            </a:endParaRPr>
          </a:p>
          <a:p>
            <a:pPr marL="457200" lvl="0" indent="0" algn="l" rtl="0">
              <a:lnSpc>
                <a:spcPct val="100000"/>
              </a:lnSpc>
              <a:spcBef>
                <a:spcPts val="0"/>
              </a:spcBef>
              <a:spcAft>
                <a:spcPts val="0"/>
              </a:spcAft>
              <a:buSzPts val="1800"/>
              <a:buNone/>
            </a:pPr>
            <a:r>
              <a:rPr lang="en-US" sz="2000">
                <a:solidFill>
                  <a:srgbClr val="000000"/>
                </a:solidFill>
                <a:latin typeface="Calibri"/>
                <a:ea typeface="Calibri"/>
                <a:cs typeface="Calibri"/>
                <a:sym typeface="Calibri"/>
              </a:rPr>
              <a:t>T</a:t>
            </a:r>
            <a:r>
              <a:rPr lang="en-US" sz="2000" b="0" i="0" u="none" strike="noStrike">
                <a:solidFill>
                  <a:srgbClr val="000000"/>
                </a:solidFill>
                <a:latin typeface="Calibri"/>
                <a:ea typeface="Calibri"/>
                <a:cs typeface="Calibri"/>
                <a:sym typeface="Calibri"/>
              </a:rPr>
              <a:t>he null hypothesis always begins with the assumption that the defendant is innocent.</a:t>
            </a:r>
            <a:endParaRPr sz="2000">
              <a:latin typeface="Calibri"/>
              <a:ea typeface="Calibri"/>
              <a:cs typeface="Calibri"/>
              <a:sym typeface="Calibri"/>
            </a:endParaRPr>
          </a:p>
          <a:p>
            <a:pPr marL="114300" lvl="0" indent="0" algn="l" rtl="0">
              <a:lnSpc>
                <a:spcPct val="100000"/>
              </a:lnSpc>
              <a:spcBef>
                <a:spcPts val="0"/>
              </a:spcBef>
              <a:spcAft>
                <a:spcPts val="0"/>
              </a:spcAft>
              <a:buSzPts val="1800"/>
              <a:buNone/>
            </a:pPr>
            <a:endParaRPr sz="2000" b="0" i="0" u="none" strike="noStrike">
              <a:solidFill>
                <a:srgbClr val="000000"/>
              </a:solidFill>
              <a:latin typeface="Calibri"/>
              <a:ea typeface="Calibri"/>
              <a:cs typeface="Calibri"/>
              <a:sym typeface="Calibri"/>
            </a:endParaRPr>
          </a:p>
          <a:p>
            <a:pPr marL="457200" lvl="0" indent="-381000" algn="l" rtl="0">
              <a:lnSpc>
                <a:spcPct val="100000"/>
              </a:lnSpc>
              <a:spcBef>
                <a:spcPts val="400"/>
              </a:spcBef>
              <a:spcAft>
                <a:spcPts val="0"/>
              </a:spcAft>
              <a:buSzPts val="2400"/>
              <a:buFont typeface="Arial"/>
              <a:buChar char="•"/>
            </a:pPr>
            <a:r>
              <a:rPr lang="en-US" sz="2000" b="0" i="0" u="none" strike="noStrike">
                <a:solidFill>
                  <a:srgbClr val="000000"/>
                </a:solidFill>
                <a:latin typeface="Calibri"/>
                <a:ea typeface="Calibri"/>
                <a:cs typeface="Calibri"/>
                <a:sym typeface="Calibri"/>
              </a:rPr>
              <a:t>We require evidence to reject th</a:t>
            </a:r>
            <a:r>
              <a:rPr lang="en-US" sz="2000">
                <a:solidFill>
                  <a:srgbClr val="000000"/>
                </a:solidFill>
                <a:latin typeface="Calibri"/>
                <a:ea typeface="Calibri"/>
                <a:cs typeface="Calibri"/>
                <a:sym typeface="Calibri"/>
              </a:rPr>
              <a:t>e</a:t>
            </a:r>
            <a:r>
              <a:rPr lang="en-US" sz="2000" b="0" i="0" u="none" strike="noStrike">
                <a:solidFill>
                  <a:srgbClr val="000000"/>
                </a:solidFill>
                <a:latin typeface="Calibri"/>
                <a:ea typeface="Calibri"/>
                <a:cs typeface="Calibri"/>
                <a:sym typeface="Calibri"/>
              </a:rPr>
              <a:t> null hypothesis (convict the defendant).</a:t>
            </a:r>
            <a:endParaRPr sz="2000">
              <a:latin typeface="Calibri"/>
              <a:ea typeface="Calibri"/>
              <a:cs typeface="Calibri"/>
              <a:sym typeface="Calibri"/>
            </a:endParaRPr>
          </a:p>
          <a:p>
            <a:pPr marL="114300" lvl="0" indent="0" algn="l" rtl="0">
              <a:lnSpc>
                <a:spcPct val="100000"/>
              </a:lnSpc>
              <a:spcBef>
                <a:spcPts val="400"/>
              </a:spcBef>
              <a:spcAft>
                <a:spcPts val="0"/>
              </a:spcAft>
              <a:buSzPts val="1800"/>
              <a:buNone/>
            </a:pPr>
            <a:endParaRPr sz="2000" b="0" i="0" u="none" strike="noStrike">
              <a:solidFill>
                <a:srgbClr val="000000"/>
              </a:solidFill>
              <a:latin typeface="Calibri"/>
              <a:ea typeface="Calibri"/>
              <a:cs typeface="Calibri"/>
              <a:sym typeface="Calibri"/>
            </a:endParaRPr>
          </a:p>
          <a:p>
            <a:pPr marL="457200" lvl="0" indent="-381000" algn="l" rtl="0">
              <a:lnSpc>
                <a:spcPct val="100000"/>
              </a:lnSpc>
              <a:spcBef>
                <a:spcPts val="400"/>
              </a:spcBef>
              <a:spcAft>
                <a:spcPts val="0"/>
              </a:spcAft>
              <a:buSzPts val="2400"/>
              <a:buFont typeface="Arial"/>
              <a:buChar char="•"/>
            </a:pPr>
            <a:r>
              <a:rPr lang="en-US" sz="2000" b="0" i="0" u="none" strike="noStrike">
                <a:solidFill>
                  <a:srgbClr val="000000"/>
                </a:solidFill>
                <a:latin typeface="Calibri"/>
                <a:ea typeface="Calibri"/>
                <a:cs typeface="Calibri"/>
                <a:sym typeface="Calibri"/>
              </a:rPr>
              <a:t>When we collect evidence and try to reject null hypothesis, there are 2 errors that could potentially occur: Type 1 </a:t>
            </a:r>
            <a:r>
              <a:rPr lang="en-US" sz="2000">
                <a:solidFill>
                  <a:srgbClr val="000000"/>
                </a:solidFill>
                <a:latin typeface="Calibri"/>
                <a:ea typeface="Calibri"/>
                <a:cs typeface="Calibri"/>
                <a:sym typeface="Calibri"/>
              </a:rPr>
              <a:t>or</a:t>
            </a:r>
            <a:r>
              <a:rPr lang="en-US" sz="2000" b="0" i="0" u="none" strike="noStrike">
                <a:solidFill>
                  <a:srgbClr val="000000"/>
                </a:solidFill>
                <a:latin typeface="Calibri"/>
                <a:ea typeface="Calibri"/>
                <a:cs typeface="Calibri"/>
                <a:sym typeface="Calibri"/>
              </a:rPr>
              <a:t> Type 2 error.</a:t>
            </a:r>
            <a:endParaRPr sz="2000" b="0" i="0" u="none" strike="noStrike">
              <a:solidFill>
                <a:srgbClr val="000000"/>
              </a:solidFill>
              <a:latin typeface="Calibri"/>
              <a:ea typeface="Calibri"/>
              <a:cs typeface="Calibri"/>
              <a:sym typeface="Calibri"/>
            </a:endParaRPr>
          </a:p>
          <a:p>
            <a:pPr marL="0" lvl="0" indent="0" algn="l" rtl="0">
              <a:lnSpc>
                <a:spcPct val="100000"/>
              </a:lnSpc>
              <a:spcBef>
                <a:spcPts val="400"/>
              </a:spcBef>
              <a:spcAft>
                <a:spcPts val="0"/>
              </a:spcAft>
              <a:buClr>
                <a:schemeClr val="dk1"/>
              </a:buClr>
              <a:buSzPts val="2000"/>
              <a:buNone/>
            </a:pPr>
            <a:endParaRPr sz="2000">
              <a:latin typeface="Calibri"/>
              <a:ea typeface="Calibri"/>
              <a:cs typeface="Calibri"/>
              <a:sym typeface="Calibri"/>
            </a:endParaRPr>
          </a:p>
          <a:p>
            <a:pPr marL="342900" lvl="0" indent="-215900" algn="l" rtl="0">
              <a:lnSpc>
                <a:spcPct val="100000"/>
              </a:lnSpc>
              <a:spcBef>
                <a:spcPts val="400"/>
              </a:spcBef>
              <a:spcAft>
                <a:spcPts val="0"/>
              </a:spcAft>
              <a:buClr>
                <a:schemeClr val="dk1"/>
              </a:buClr>
              <a:buSzPts val="2000"/>
              <a:buNone/>
            </a:pPr>
            <a:endParaRPr sz="2000">
              <a:latin typeface="Calibri"/>
              <a:ea typeface="Calibri"/>
              <a:cs typeface="Calibri"/>
              <a:sym typeface="Calibri"/>
            </a:endParaRPr>
          </a:p>
        </p:txBody>
      </p:sp>
      <p:sp>
        <p:nvSpPr>
          <p:cNvPr id="649" name="Google Shape;649;p67"/>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50" name="Google Shape;650;p67"/>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66</a:t>
            </a:fld>
            <a:endParaRPr/>
          </a:p>
        </p:txBody>
      </p:sp>
      <p:sp>
        <p:nvSpPr>
          <p:cNvPr id="651" name="Google Shape;651;p67"/>
          <p:cNvSpPr txBox="1"/>
          <p:nvPr/>
        </p:nvSpPr>
        <p:spPr>
          <a:xfrm>
            <a:off x="2286000" y="2491340"/>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gfa2dc849d1_0_21"/>
          <p:cNvSpPr txBox="1">
            <a:spLocks noGrp="1"/>
          </p:cNvSpPr>
          <p:nvPr>
            <p:ph type="title"/>
          </p:nvPr>
        </p:nvSpPr>
        <p:spPr>
          <a:xfrm>
            <a:off x="457200" y="133350"/>
            <a:ext cx="6412800" cy="460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1000"/>
              </a:spcAft>
              <a:buClr>
                <a:schemeClr val="dk1"/>
              </a:buClr>
              <a:buSzPts val="1100"/>
              <a:buFont typeface="Arial"/>
              <a:buNone/>
            </a:pPr>
            <a:r>
              <a:rPr lang="en-US">
                <a:solidFill>
                  <a:schemeClr val="accent1"/>
                </a:solidFill>
              </a:rPr>
              <a:t>Type I and Type II Error</a:t>
            </a:r>
            <a:endParaRPr>
              <a:solidFill>
                <a:schemeClr val="accent1"/>
              </a:solidFill>
            </a:endParaRPr>
          </a:p>
        </p:txBody>
      </p:sp>
      <p:sp>
        <p:nvSpPr>
          <p:cNvPr id="657" name="Google Shape;657;gfa2dc849d1_0_21"/>
          <p:cNvSpPr txBox="1">
            <a:spLocks noGrp="1"/>
          </p:cNvSpPr>
          <p:nvPr>
            <p:ph type="body" idx="1"/>
          </p:nvPr>
        </p:nvSpPr>
        <p:spPr>
          <a:xfrm>
            <a:off x="133475" y="844513"/>
            <a:ext cx="8553300" cy="3755700"/>
          </a:xfrm>
          <a:prstGeom prst="rect">
            <a:avLst/>
          </a:prstGeom>
          <a:noFill/>
          <a:ln>
            <a:noFill/>
          </a:ln>
        </p:spPr>
        <p:txBody>
          <a:bodyPr spcFirstLastPara="1" wrap="square" lIns="91425" tIns="45700" rIns="91425" bIns="45700" anchor="t" anchorCtr="0">
            <a:normAutofit/>
          </a:bodyPr>
          <a:lstStyle/>
          <a:p>
            <a:pPr marL="457200" lvl="0" indent="0" algn="l" rtl="0">
              <a:lnSpc>
                <a:spcPct val="115000"/>
              </a:lnSpc>
              <a:spcBef>
                <a:spcPts val="0"/>
              </a:spcBef>
              <a:spcAft>
                <a:spcPts val="1000"/>
              </a:spcAft>
              <a:buSzPts val="1800"/>
              <a:buNone/>
            </a:pPr>
            <a:r>
              <a:rPr lang="en-US" sz="2000"/>
              <a:t>     H0: Person is innocent                                H1: Person is not innocent</a:t>
            </a:r>
            <a:endParaRPr sz="2000"/>
          </a:p>
        </p:txBody>
      </p:sp>
      <p:sp>
        <p:nvSpPr>
          <p:cNvPr id="658" name="Google Shape;658;gfa2dc849d1_0_21"/>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59" name="Google Shape;659;gfa2dc849d1_0_21"/>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67</a:t>
            </a:fld>
            <a:endParaRPr/>
          </a:p>
        </p:txBody>
      </p:sp>
      <p:pic>
        <p:nvPicPr>
          <p:cNvPr id="660" name="Google Shape;660;gfa2dc849d1_0_21"/>
          <p:cNvPicPr preferRelativeResize="0"/>
          <p:nvPr/>
        </p:nvPicPr>
        <p:blipFill rotWithShape="1">
          <a:blip r:embed="rId3">
            <a:alphaModFix/>
          </a:blip>
          <a:srcRect/>
          <a:stretch/>
        </p:blipFill>
        <p:spPr>
          <a:xfrm>
            <a:off x="784475" y="1532738"/>
            <a:ext cx="7251300" cy="3067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fa2dc849d1_0_30"/>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p –Value</a:t>
            </a:r>
            <a:endParaRPr>
              <a:solidFill>
                <a:srgbClr val="0070C0"/>
              </a:solidFill>
            </a:endParaRPr>
          </a:p>
        </p:txBody>
      </p:sp>
      <p:sp>
        <p:nvSpPr>
          <p:cNvPr id="666" name="Google Shape;666;gfa2dc849d1_0_30"/>
          <p:cNvSpPr txBox="1">
            <a:spLocks noGrp="1"/>
          </p:cNvSpPr>
          <p:nvPr>
            <p:ph type="body" idx="1"/>
          </p:nvPr>
        </p:nvSpPr>
        <p:spPr>
          <a:xfrm>
            <a:off x="168536" y="742949"/>
            <a:ext cx="4403400" cy="41076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360"/>
              </a:spcBef>
              <a:spcAft>
                <a:spcPts val="0"/>
              </a:spcAft>
              <a:buClr>
                <a:schemeClr val="dk1"/>
              </a:buClr>
              <a:buSzPts val="1800"/>
              <a:buChar char="•"/>
            </a:pPr>
            <a:r>
              <a:rPr lang="en-US" sz="1800"/>
              <a:t>Since we know that passing value of a test can be 1% or 5%. But we must also know what are the test score and this test score is known as p- value.</a:t>
            </a:r>
            <a:endParaRPr sz="1800"/>
          </a:p>
          <a:p>
            <a:pPr marL="342900" lvl="0" indent="-342900" algn="l" rtl="0">
              <a:lnSpc>
                <a:spcPct val="100000"/>
              </a:lnSpc>
              <a:spcBef>
                <a:spcPts val="360"/>
              </a:spcBef>
              <a:spcAft>
                <a:spcPts val="0"/>
              </a:spcAft>
              <a:buSzPts val="1800"/>
              <a:buChar char="•"/>
            </a:pPr>
            <a:r>
              <a:rPr lang="en-US" sz="1800"/>
              <a:t>Technically p-value (probability value) is the smallest level of significance at which a null hypothesis can be rejected.</a:t>
            </a:r>
            <a:endParaRPr sz="1800"/>
          </a:p>
          <a:p>
            <a:pPr marL="342900" lvl="0" indent="-342900" algn="l" rtl="0">
              <a:lnSpc>
                <a:spcPct val="115000"/>
              </a:lnSpc>
              <a:spcBef>
                <a:spcPts val="0"/>
              </a:spcBef>
              <a:spcAft>
                <a:spcPts val="0"/>
              </a:spcAft>
              <a:buSzPts val="1800"/>
              <a:buChar char="•"/>
            </a:pPr>
            <a:r>
              <a:rPr lang="en-US" sz="1800"/>
              <a:t>If p-value is greater than alpha, we do not reject the null hypothesis.</a:t>
            </a:r>
            <a:endParaRPr sz="1800"/>
          </a:p>
          <a:p>
            <a:pPr marL="342900" lvl="0" indent="-342900" algn="l" rtl="0">
              <a:lnSpc>
                <a:spcPct val="115000"/>
              </a:lnSpc>
              <a:spcBef>
                <a:spcPts val="1000"/>
              </a:spcBef>
              <a:spcAft>
                <a:spcPts val="1000"/>
              </a:spcAft>
              <a:buSzPts val="1800"/>
              <a:buChar char="•"/>
            </a:pPr>
            <a:r>
              <a:rPr lang="en-US" sz="1800"/>
              <a:t>If p-value is smaller than alpha, we reject the null hypothesis.</a:t>
            </a:r>
            <a:endParaRPr sz="1800"/>
          </a:p>
        </p:txBody>
      </p:sp>
      <p:sp>
        <p:nvSpPr>
          <p:cNvPr id="667" name="Google Shape;667;gfa2dc849d1_0_30"/>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68" name="Google Shape;668;gfa2dc849d1_0_30"/>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68</a:t>
            </a:fld>
            <a:endParaRPr/>
          </a:p>
        </p:txBody>
      </p:sp>
      <p:pic>
        <p:nvPicPr>
          <p:cNvPr id="669" name="Google Shape;669;gfa2dc849d1_0_30" descr="https://upload.wikimedia.org/wikipedia/commons/thumb/3/3a/P-value_in_statistical_significance_testing.svg/800px-P-value_in_statistical_significance_testing.svg.png"/>
          <p:cNvPicPr preferRelativeResize="0"/>
          <p:nvPr/>
        </p:nvPicPr>
        <p:blipFill rotWithShape="1">
          <a:blip r:embed="rId3">
            <a:alphaModFix/>
          </a:blip>
          <a:srcRect t="39628"/>
          <a:stretch/>
        </p:blipFill>
        <p:spPr>
          <a:xfrm>
            <a:off x="4343400" y="1352550"/>
            <a:ext cx="4643476" cy="28384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Critical Region</a:t>
            </a:r>
            <a:endParaRPr>
              <a:solidFill>
                <a:srgbClr val="0070C0"/>
              </a:solidFill>
            </a:endParaRPr>
          </a:p>
        </p:txBody>
      </p:sp>
      <p:sp>
        <p:nvSpPr>
          <p:cNvPr id="675" name="Google Shape;675;p58"/>
          <p:cNvSpPr txBox="1">
            <a:spLocks noGrp="1"/>
          </p:cNvSpPr>
          <p:nvPr>
            <p:ph type="body" idx="1"/>
          </p:nvPr>
        </p:nvSpPr>
        <p:spPr>
          <a:xfrm>
            <a:off x="168536" y="742949"/>
            <a:ext cx="4403464" cy="4107657"/>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SzPts val="1800"/>
              <a:buNone/>
            </a:pPr>
            <a:endParaRPr sz="1500"/>
          </a:p>
          <a:p>
            <a:pPr marL="342900" lvl="0" indent="-342900" algn="l" rtl="0">
              <a:lnSpc>
                <a:spcPct val="115000"/>
              </a:lnSpc>
              <a:spcBef>
                <a:spcPts val="1000"/>
              </a:spcBef>
              <a:spcAft>
                <a:spcPts val="0"/>
              </a:spcAft>
              <a:buSzPts val="1800"/>
              <a:buChar char="•"/>
            </a:pPr>
            <a:r>
              <a:rPr lang="en-US" sz="1500"/>
              <a:t>The critical region is that region in the sample space in which if the calculated value lies then we reject the null hypothesis.</a:t>
            </a:r>
            <a:endParaRPr sz="1500"/>
          </a:p>
          <a:p>
            <a:pPr marL="342900" lvl="0" indent="-323850" algn="l" rtl="0">
              <a:lnSpc>
                <a:spcPct val="115000"/>
              </a:lnSpc>
              <a:spcBef>
                <a:spcPts val="1000"/>
              </a:spcBef>
              <a:spcAft>
                <a:spcPts val="0"/>
              </a:spcAft>
              <a:buSzPts val="1500"/>
              <a:buChar char="•"/>
            </a:pPr>
            <a:r>
              <a:rPr lang="en-US" sz="1500"/>
              <a:t>The critical region lies in one tail or two tails on the probability distribution curve according to the alternative hypothesis.</a:t>
            </a:r>
            <a:endParaRPr sz="1500"/>
          </a:p>
          <a:p>
            <a:pPr marL="342900" lvl="0" indent="-323850" algn="l" rtl="0">
              <a:lnSpc>
                <a:spcPct val="115000"/>
              </a:lnSpc>
              <a:spcBef>
                <a:spcPts val="1000"/>
              </a:spcBef>
              <a:spcAft>
                <a:spcPts val="0"/>
              </a:spcAft>
              <a:buSzPts val="1500"/>
              <a:buChar char="•"/>
            </a:pPr>
            <a:r>
              <a:rPr lang="en-US" sz="1500"/>
              <a:t>The value of critical region is denoted by α.</a:t>
            </a:r>
            <a:endParaRPr sz="1500"/>
          </a:p>
          <a:p>
            <a:pPr marL="342900" lvl="0" indent="-323850" algn="l" rtl="0">
              <a:lnSpc>
                <a:spcPct val="115000"/>
              </a:lnSpc>
              <a:spcBef>
                <a:spcPts val="1000"/>
              </a:spcBef>
              <a:spcAft>
                <a:spcPts val="0"/>
              </a:spcAft>
              <a:buSzPts val="1500"/>
              <a:buChar char="•"/>
            </a:pPr>
            <a:r>
              <a:rPr lang="en-US" sz="1500"/>
              <a:t>It is known as level of significance. i.e what is passing criteria of test.</a:t>
            </a:r>
            <a:endParaRPr sz="1500"/>
          </a:p>
          <a:p>
            <a:pPr marL="342900" lvl="0" indent="0" algn="l" rtl="0">
              <a:lnSpc>
                <a:spcPct val="115000"/>
              </a:lnSpc>
              <a:spcBef>
                <a:spcPts val="1000"/>
              </a:spcBef>
              <a:spcAft>
                <a:spcPts val="1000"/>
              </a:spcAft>
              <a:buSzPts val="1800"/>
              <a:buNone/>
            </a:pPr>
            <a:endParaRPr sz="1800"/>
          </a:p>
        </p:txBody>
      </p:sp>
      <p:sp>
        <p:nvSpPr>
          <p:cNvPr id="676" name="Google Shape;676;p58"/>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77" name="Google Shape;677;p5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69</a:t>
            </a:fld>
            <a:endParaRPr/>
          </a:p>
        </p:txBody>
      </p:sp>
      <p:pic>
        <p:nvPicPr>
          <p:cNvPr id="678" name="Google Shape;678;p58"/>
          <p:cNvPicPr preferRelativeResize="0"/>
          <p:nvPr/>
        </p:nvPicPr>
        <p:blipFill rotWithShape="1">
          <a:blip r:embed="rId3">
            <a:alphaModFix/>
          </a:blip>
          <a:srcRect/>
          <a:stretch/>
        </p:blipFill>
        <p:spPr>
          <a:xfrm>
            <a:off x="4724400" y="746528"/>
            <a:ext cx="4267200" cy="391626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fa2dc849d1_0_39"/>
          <p:cNvSpPr txBox="1">
            <a:spLocks noGrp="1"/>
          </p:cNvSpPr>
          <p:nvPr>
            <p:ph type="title"/>
          </p:nvPr>
        </p:nvSpPr>
        <p:spPr>
          <a:xfrm>
            <a:off x="457200" y="133350"/>
            <a:ext cx="5923500" cy="46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libri"/>
              <a:buNone/>
            </a:pPr>
            <a:r>
              <a:rPr lang="en-US">
                <a:solidFill>
                  <a:srgbClr val="0070C0"/>
                </a:solidFill>
              </a:rPr>
              <a:t>Cases Of Critical Region</a:t>
            </a:r>
            <a:endParaRPr>
              <a:solidFill>
                <a:schemeClr val="dk2"/>
              </a:solidFill>
            </a:endParaRPr>
          </a:p>
        </p:txBody>
      </p:sp>
      <p:sp>
        <p:nvSpPr>
          <p:cNvPr id="684" name="Google Shape;684;gfa2dc849d1_0_39"/>
          <p:cNvSpPr txBox="1">
            <a:spLocks noGrp="1"/>
          </p:cNvSpPr>
          <p:nvPr>
            <p:ph type="body" idx="1"/>
          </p:nvPr>
        </p:nvSpPr>
        <p:spPr>
          <a:xfrm>
            <a:off x="168535" y="742949"/>
            <a:ext cx="4872591" cy="4107600"/>
          </a:xfrm>
          <a:prstGeom prst="rect">
            <a:avLst/>
          </a:prstGeom>
          <a:noFill/>
          <a:ln>
            <a:noFill/>
          </a:ln>
        </p:spPr>
        <p:txBody>
          <a:bodyPr spcFirstLastPara="1" wrap="square" lIns="91425" tIns="45700" rIns="91425" bIns="45700" anchor="t" anchorCtr="0">
            <a:normAutofit/>
          </a:bodyPr>
          <a:lstStyle/>
          <a:p>
            <a:pPr marL="342900" lvl="0" indent="-309593" algn="l" rtl="0">
              <a:lnSpc>
                <a:spcPct val="115000"/>
              </a:lnSpc>
              <a:spcBef>
                <a:spcPts val="1000"/>
              </a:spcBef>
              <a:spcAft>
                <a:spcPts val="0"/>
              </a:spcAft>
              <a:buSzPts val="1500"/>
              <a:buChar char="•"/>
            </a:pPr>
            <a:r>
              <a:rPr lang="en-US" sz="1500"/>
              <a:t>If the alternate hypothesis gives the alternate in both directions (less than and greater than) of the value of the parameter specified in null hypothesis, it is called Two-tailed test.</a:t>
            </a:r>
            <a:endParaRPr sz="1500"/>
          </a:p>
          <a:p>
            <a:pPr marL="457200" lvl="0" indent="0" algn="l" rtl="0">
              <a:lnSpc>
                <a:spcPct val="115000"/>
              </a:lnSpc>
              <a:spcBef>
                <a:spcPts val="1000"/>
              </a:spcBef>
              <a:spcAft>
                <a:spcPts val="0"/>
              </a:spcAft>
              <a:buSzPts val="1800"/>
              <a:buNone/>
            </a:pPr>
            <a:r>
              <a:rPr lang="en-US" sz="1500"/>
              <a:t>E.g. H0: mean= 100  —-&gt; H1: mean not equal to 100</a:t>
            </a:r>
            <a:endParaRPr sz="1500"/>
          </a:p>
          <a:p>
            <a:pPr marL="457200" lvl="0" indent="0" algn="l" rtl="0">
              <a:lnSpc>
                <a:spcPct val="115000"/>
              </a:lnSpc>
              <a:spcBef>
                <a:spcPts val="1000"/>
              </a:spcBef>
              <a:spcAft>
                <a:spcPts val="0"/>
              </a:spcAft>
              <a:buSzPts val="1800"/>
              <a:buNone/>
            </a:pPr>
            <a:r>
              <a:rPr lang="en-US" sz="1500"/>
              <a:t>Here according to H1, mean can be greater than or less than 100.</a:t>
            </a:r>
            <a:endParaRPr/>
          </a:p>
          <a:p>
            <a:pPr marL="342900" lvl="0" indent="-309593" algn="l" rtl="0">
              <a:lnSpc>
                <a:spcPct val="115000"/>
              </a:lnSpc>
              <a:spcBef>
                <a:spcPts val="1000"/>
              </a:spcBef>
              <a:spcAft>
                <a:spcPts val="0"/>
              </a:spcAft>
              <a:buSzPts val="1500"/>
              <a:buChar char="•"/>
            </a:pPr>
            <a:r>
              <a:rPr lang="en-US" sz="1500"/>
              <a:t>If the alternate hypothesis gives the alternate in only one direction (either less than or greater than) of the value of the parameter specified in null hypothesis, it is called One-tailed test.</a:t>
            </a:r>
            <a:endParaRPr/>
          </a:p>
          <a:p>
            <a:pPr marL="457200" lvl="0" indent="0" algn="l" rtl="0">
              <a:lnSpc>
                <a:spcPct val="115000"/>
              </a:lnSpc>
              <a:spcBef>
                <a:spcPts val="1000"/>
              </a:spcBef>
              <a:spcAft>
                <a:spcPts val="0"/>
              </a:spcAft>
              <a:buSzPts val="1800"/>
              <a:buNone/>
            </a:pPr>
            <a:r>
              <a:rPr lang="en-US" sz="1500"/>
              <a:t>E.g. H0: mean&gt;=100   —-&gt;    H1:  mean&lt; 100</a:t>
            </a:r>
            <a:endParaRPr sz="1500"/>
          </a:p>
          <a:p>
            <a:pPr marL="342900" lvl="0" indent="0" algn="l" rtl="0">
              <a:lnSpc>
                <a:spcPct val="115000"/>
              </a:lnSpc>
              <a:spcBef>
                <a:spcPts val="1000"/>
              </a:spcBef>
              <a:spcAft>
                <a:spcPts val="1000"/>
              </a:spcAft>
              <a:buSzPts val="2118"/>
              <a:buNone/>
            </a:pPr>
            <a:endParaRPr sz="1800"/>
          </a:p>
        </p:txBody>
      </p:sp>
      <p:sp>
        <p:nvSpPr>
          <p:cNvPr id="685" name="Google Shape;685;gfa2dc849d1_0_39"/>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86" name="Google Shape;686;gfa2dc849d1_0_39"/>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70</a:t>
            </a:fld>
            <a:endParaRPr/>
          </a:p>
        </p:txBody>
      </p:sp>
      <p:pic>
        <p:nvPicPr>
          <p:cNvPr id="687" name="Google Shape;687;gfa2dc849d1_0_39"/>
          <p:cNvPicPr preferRelativeResize="0"/>
          <p:nvPr/>
        </p:nvPicPr>
        <p:blipFill rotWithShape="1">
          <a:blip r:embed="rId3">
            <a:alphaModFix/>
          </a:blip>
          <a:srcRect/>
          <a:stretch/>
        </p:blipFill>
        <p:spPr>
          <a:xfrm>
            <a:off x="5115450" y="916573"/>
            <a:ext cx="3876150" cy="2438878"/>
          </a:xfrm>
          <a:prstGeom prst="rect">
            <a:avLst/>
          </a:prstGeom>
          <a:noFill/>
          <a:ln>
            <a:noFill/>
          </a:ln>
        </p:spPr>
      </p:pic>
      <p:sp>
        <p:nvSpPr>
          <p:cNvPr id="688" name="Google Shape;688;gfa2dc849d1_0_39"/>
          <p:cNvSpPr txBox="1">
            <a:spLocks noGrp="1"/>
          </p:cNvSpPr>
          <p:nvPr>
            <p:ph type="title"/>
          </p:nvPr>
        </p:nvSpPr>
        <p:spPr>
          <a:xfrm>
            <a:off x="5115450" y="3495975"/>
            <a:ext cx="3290700" cy="46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libri"/>
              <a:buNone/>
            </a:pPr>
            <a:r>
              <a:rPr lang="en-US" sz="1600" b="1"/>
              <a:t>Three cases of Critical Region arise.</a:t>
            </a:r>
            <a:endParaRPr sz="1600" b="1"/>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59"/>
          <p:cNvSpPr txBox="1">
            <a:spLocks noGrp="1"/>
          </p:cNvSpPr>
          <p:nvPr>
            <p:ph type="title"/>
          </p:nvPr>
        </p:nvSpPr>
        <p:spPr>
          <a:xfrm>
            <a:off x="228600" y="88106"/>
            <a:ext cx="68580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alibri"/>
              <a:buNone/>
            </a:pPr>
            <a:r>
              <a:rPr lang="en-US" sz="2800">
                <a:solidFill>
                  <a:srgbClr val="0070C0"/>
                </a:solidFill>
              </a:rPr>
              <a:t>Process of Hypothesis Testing</a:t>
            </a:r>
            <a:endParaRPr>
              <a:solidFill>
                <a:srgbClr val="0070C0"/>
              </a:solidFill>
            </a:endParaRPr>
          </a:p>
        </p:txBody>
      </p:sp>
      <p:sp>
        <p:nvSpPr>
          <p:cNvPr id="694" name="Google Shape;694;p59"/>
          <p:cNvSpPr txBox="1">
            <a:spLocks noGrp="1"/>
          </p:cNvSpPr>
          <p:nvPr>
            <p:ph type="body" idx="1"/>
          </p:nvPr>
        </p:nvSpPr>
        <p:spPr>
          <a:xfrm>
            <a:off x="119050" y="808600"/>
            <a:ext cx="3840900" cy="4041900"/>
          </a:xfrm>
          <a:prstGeom prst="rect">
            <a:avLst/>
          </a:prstGeom>
          <a:noFill/>
          <a:ln>
            <a:noFill/>
          </a:ln>
        </p:spPr>
        <p:txBody>
          <a:bodyPr spcFirstLastPara="1" wrap="square" lIns="91425" tIns="45700" rIns="91425" bIns="45700" anchor="t" anchorCtr="0">
            <a:normAutofit fontScale="92500" lnSpcReduction="10000"/>
          </a:bodyPr>
          <a:lstStyle/>
          <a:p>
            <a:pPr marL="457200" lvl="0" indent="-374684" algn="l" rtl="0">
              <a:lnSpc>
                <a:spcPct val="100000"/>
              </a:lnSpc>
              <a:spcBef>
                <a:spcPts val="0"/>
              </a:spcBef>
              <a:spcAft>
                <a:spcPts val="0"/>
              </a:spcAft>
              <a:buSzPct val="108108"/>
              <a:buAutoNum type="arabicPeriod"/>
            </a:pPr>
            <a:r>
              <a:rPr lang="en-US" sz="2300"/>
              <a:t>Set up Null hypothesis and Alternate hypothesis.</a:t>
            </a:r>
            <a:endParaRPr sz="2300"/>
          </a:p>
          <a:p>
            <a:pPr marL="457200" lvl="0" indent="-374684" algn="l" rtl="0">
              <a:lnSpc>
                <a:spcPct val="100000"/>
              </a:lnSpc>
              <a:spcBef>
                <a:spcPts val="0"/>
              </a:spcBef>
              <a:spcAft>
                <a:spcPts val="0"/>
              </a:spcAft>
              <a:buSzPct val="108108"/>
              <a:buAutoNum type="arabicPeriod"/>
            </a:pPr>
            <a:r>
              <a:rPr lang="en-US" sz="2300"/>
              <a:t>Decide the level of significance (1% or 5%).</a:t>
            </a:r>
            <a:endParaRPr sz="2300"/>
          </a:p>
          <a:p>
            <a:pPr marL="457200" lvl="0" indent="-374684" algn="l" rtl="0">
              <a:lnSpc>
                <a:spcPct val="100000"/>
              </a:lnSpc>
              <a:spcBef>
                <a:spcPts val="0"/>
              </a:spcBef>
              <a:spcAft>
                <a:spcPts val="0"/>
              </a:spcAft>
              <a:buSzPct val="108108"/>
              <a:buAutoNum type="arabicPeriod"/>
            </a:pPr>
            <a:r>
              <a:rPr lang="en-US" sz="2300"/>
              <a:t>Select the test as per requirement.</a:t>
            </a:r>
            <a:endParaRPr sz="2300"/>
          </a:p>
          <a:p>
            <a:pPr marL="457200" lvl="0" indent="-374684" algn="l" rtl="0">
              <a:lnSpc>
                <a:spcPct val="100000"/>
              </a:lnSpc>
              <a:spcBef>
                <a:spcPts val="0"/>
              </a:spcBef>
              <a:spcAft>
                <a:spcPts val="0"/>
              </a:spcAft>
              <a:buSzPct val="108108"/>
              <a:buAutoNum type="arabicPeriod"/>
            </a:pPr>
            <a:r>
              <a:rPr lang="en-US" sz="2300"/>
              <a:t>Calculate the p-value.</a:t>
            </a:r>
            <a:endParaRPr sz="2300"/>
          </a:p>
          <a:p>
            <a:pPr marL="457200" lvl="0" indent="-374684" algn="l" rtl="0">
              <a:lnSpc>
                <a:spcPct val="100000"/>
              </a:lnSpc>
              <a:spcBef>
                <a:spcPts val="0"/>
              </a:spcBef>
              <a:spcAft>
                <a:spcPts val="0"/>
              </a:spcAft>
              <a:buSzPct val="108108"/>
              <a:buAutoNum type="arabicPeriod"/>
            </a:pPr>
            <a:r>
              <a:rPr lang="en-US" sz="2300"/>
              <a:t>If p-value less than level of significance, reject the null hypothesis.</a:t>
            </a:r>
            <a:endParaRPr sz="2300"/>
          </a:p>
          <a:p>
            <a:pPr marL="457200" lvl="0" indent="-374684" algn="l" rtl="0">
              <a:lnSpc>
                <a:spcPct val="100000"/>
              </a:lnSpc>
              <a:spcBef>
                <a:spcPts val="0"/>
              </a:spcBef>
              <a:spcAft>
                <a:spcPts val="0"/>
              </a:spcAft>
              <a:buSzPct val="108108"/>
              <a:buAutoNum type="arabicPeriod"/>
            </a:pPr>
            <a:r>
              <a:rPr lang="en-US" sz="2300"/>
              <a:t>If p-value more than level of significance, accept the null hypothesis.</a:t>
            </a:r>
            <a:endParaRPr sz="2300"/>
          </a:p>
          <a:p>
            <a:pPr marL="457200" lvl="0" indent="0" algn="l" rtl="0">
              <a:lnSpc>
                <a:spcPct val="100000"/>
              </a:lnSpc>
              <a:spcBef>
                <a:spcPts val="0"/>
              </a:spcBef>
              <a:spcAft>
                <a:spcPts val="0"/>
              </a:spcAft>
              <a:buSzPct val="129729"/>
              <a:buNone/>
            </a:pPr>
            <a:endParaRPr sz="1500"/>
          </a:p>
        </p:txBody>
      </p:sp>
      <p:sp>
        <p:nvSpPr>
          <p:cNvPr id="695" name="Google Shape;695;p59"/>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696" name="Google Shape;696;p59"/>
          <p:cNvSpPr txBox="1">
            <a:spLocks noGrp="1"/>
          </p:cNvSpPr>
          <p:nvPr>
            <p:ph type="sldNum" idx="12"/>
          </p:nvPr>
        </p:nvSpPr>
        <p:spPr>
          <a:xfrm>
            <a:off x="8610600" y="4850606"/>
            <a:ext cx="533400" cy="29289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71</a:t>
            </a:fld>
            <a:endParaRPr/>
          </a:p>
        </p:txBody>
      </p:sp>
      <p:pic>
        <p:nvPicPr>
          <p:cNvPr id="697" name="Google Shape;697;p59" descr="Screen Shot 2014-03-10 at 3.06.05 PM.png"/>
          <p:cNvPicPr preferRelativeResize="0"/>
          <p:nvPr/>
        </p:nvPicPr>
        <p:blipFill rotWithShape="1">
          <a:blip r:embed="rId3">
            <a:alphaModFix/>
          </a:blip>
          <a:srcRect/>
          <a:stretch/>
        </p:blipFill>
        <p:spPr>
          <a:xfrm>
            <a:off x="4132400" y="984588"/>
            <a:ext cx="4748600" cy="30675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64"/>
          <p:cNvSpPr txBox="1">
            <a:spLocks noGrp="1"/>
          </p:cNvSpPr>
          <p:nvPr>
            <p:ph type="title"/>
          </p:nvPr>
        </p:nvSpPr>
        <p:spPr>
          <a:xfrm>
            <a:off x="106775" y="177875"/>
            <a:ext cx="53706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Types of Hypothesis Tests</a:t>
            </a:r>
            <a:endParaRPr>
              <a:solidFill>
                <a:srgbClr val="0070C0"/>
              </a:solidFill>
            </a:endParaRPr>
          </a:p>
        </p:txBody>
      </p:sp>
      <p:sp>
        <p:nvSpPr>
          <p:cNvPr id="703" name="Google Shape;703;p64"/>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30200" algn="l" rtl="0">
              <a:lnSpc>
                <a:spcPct val="100000"/>
              </a:lnSpc>
              <a:spcBef>
                <a:spcPts val="0"/>
              </a:spcBef>
              <a:spcAft>
                <a:spcPts val="0"/>
              </a:spcAft>
              <a:buClr>
                <a:schemeClr val="dk1"/>
              </a:buClr>
              <a:buSzPts val="3000"/>
              <a:buChar char="•"/>
            </a:pPr>
            <a:r>
              <a:rPr lang="en-US" sz="3000">
                <a:solidFill>
                  <a:schemeClr val="accent6"/>
                </a:solidFill>
              </a:rPr>
              <a:t>Parametric Tests:-</a:t>
            </a:r>
            <a:r>
              <a:rPr lang="en-US" sz="3000"/>
              <a:t>Those test which considers the shape of distribution of sample.</a:t>
            </a:r>
            <a:endParaRPr sz="3000"/>
          </a:p>
          <a:p>
            <a:pPr marL="342900" lvl="0" indent="-330200" algn="l" rtl="0">
              <a:lnSpc>
                <a:spcPct val="100000"/>
              </a:lnSpc>
              <a:spcBef>
                <a:spcPts val="640"/>
              </a:spcBef>
              <a:spcAft>
                <a:spcPts val="0"/>
              </a:spcAft>
              <a:buClr>
                <a:schemeClr val="dk1"/>
              </a:buClr>
              <a:buSzPts val="3000"/>
              <a:buChar char="•"/>
            </a:pPr>
            <a:r>
              <a:rPr lang="en-US" sz="3000">
                <a:solidFill>
                  <a:schemeClr val="accent6"/>
                </a:solidFill>
              </a:rPr>
              <a:t>Non – Parametric Tests:-</a:t>
            </a:r>
            <a:r>
              <a:rPr lang="en-US" sz="3000"/>
              <a:t>Those test which do not considers the shape of distribution of sample.</a:t>
            </a:r>
            <a:endParaRPr sz="3000"/>
          </a:p>
        </p:txBody>
      </p:sp>
      <p:sp>
        <p:nvSpPr>
          <p:cNvPr id="704" name="Google Shape;704;p64"/>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05" name="Google Shape;705;p64"/>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49"/>
          <p:cNvSpPr txBox="1">
            <a:spLocks noGrp="1"/>
          </p:cNvSpPr>
          <p:nvPr>
            <p:ph type="title"/>
          </p:nvPr>
        </p:nvSpPr>
        <p:spPr>
          <a:xfrm>
            <a:off x="106775" y="177875"/>
            <a:ext cx="6468196"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Applications of Hypothesis Testing</a:t>
            </a:r>
            <a:endParaRPr>
              <a:solidFill>
                <a:srgbClr val="0070C0"/>
              </a:solidFill>
            </a:endParaRPr>
          </a:p>
        </p:txBody>
      </p:sp>
      <p:sp>
        <p:nvSpPr>
          <p:cNvPr id="711" name="Google Shape;711;p4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30200" algn="l" rtl="0">
              <a:lnSpc>
                <a:spcPct val="100000"/>
              </a:lnSpc>
              <a:spcBef>
                <a:spcPts val="640"/>
              </a:spcBef>
              <a:spcAft>
                <a:spcPts val="0"/>
              </a:spcAft>
              <a:buClr>
                <a:schemeClr val="dk1"/>
              </a:buClr>
              <a:buSzPts val="3000"/>
              <a:buChar char="•"/>
            </a:pPr>
            <a:r>
              <a:rPr lang="en-US" sz="3000">
                <a:solidFill>
                  <a:schemeClr val="accent6"/>
                </a:solidFill>
              </a:rPr>
              <a:t>Feature Selection</a:t>
            </a:r>
            <a:endParaRPr sz="3000"/>
          </a:p>
          <a:p>
            <a:pPr marL="342900" lvl="0" indent="-330200" algn="l" rtl="0">
              <a:lnSpc>
                <a:spcPct val="100000"/>
              </a:lnSpc>
              <a:spcBef>
                <a:spcPts val="640"/>
              </a:spcBef>
              <a:spcAft>
                <a:spcPts val="0"/>
              </a:spcAft>
              <a:buSzPts val="3000"/>
              <a:buChar char="•"/>
            </a:pPr>
            <a:r>
              <a:rPr lang="en-US" sz="3000">
                <a:solidFill>
                  <a:schemeClr val="accent6"/>
                </a:solidFill>
              </a:rPr>
              <a:t>Model Evaluation &amp; Selection</a:t>
            </a:r>
            <a:endParaRPr/>
          </a:p>
          <a:p>
            <a:pPr marL="342900" lvl="0" indent="-330200" algn="l" rtl="0">
              <a:lnSpc>
                <a:spcPct val="100000"/>
              </a:lnSpc>
              <a:spcBef>
                <a:spcPts val="640"/>
              </a:spcBef>
              <a:spcAft>
                <a:spcPts val="0"/>
              </a:spcAft>
              <a:buSzPts val="3000"/>
              <a:buChar char="•"/>
            </a:pPr>
            <a:r>
              <a:rPr lang="en-US" sz="3000">
                <a:solidFill>
                  <a:schemeClr val="accent6"/>
                </a:solidFill>
              </a:rPr>
              <a:t>Hyper Parameter Tuning</a:t>
            </a:r>
            <a:endParaRPr sz="3000"/>
          </a:p>
          <a:p>
            <a:pPr marL="342900" lvl="0" indent="-330200" algn="l" rtl="0">
              <a:lnSpc>
                <a:spcPct val="100000"/>
              </a:lnSpc>
              <a:spcBef>
                <a:spcPts val="640"/>
              </a:spcBef>
              <a:spcAft>
                <a:spcPts val="0"/>
              </a:spcAft>
              <a:buClr>
                <a:schemeClr val="dk1"/>
              </a:buClr>
              <a:buSzPts val="3000"/>
              <a:buChar char="•"/>
            </a:pPr>
            <a:r>
              <a:rPr lang="en-US" sz="3000">
                <a:solidFill>
                  <a:schemeClr val="accent6"/>
                </a:solidFill>
              </a:rPr>
              <a:t>Anomaly Detection</a:t>
            </a:r>
            <a:endParaRPr sz="3000">
              <a:solidFill>
                <a:schemeClr val="accent6"/>
              </a:solidFill>
            </a:endParaRPr>
          </a:p>
        </p:txBody>
      </p:sp>
      <p:sp>
        <p:nvSpPr>
          <p:cNvPr id="712" name="Google Shape;712;p49"/>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13" name="Google Shape;713;p49"/>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65"/>
          <p:cNvSpPr txBox="1">
            <a:spLocks noGrp="1"/>
          </p:cNvSpPr>
          <p:nvPr>
            <p:ph type="title"/>
          </p:nvPr>
        </p:nvSpPr>
        <p:spPr>
          <a:xfrm>
            <a:off x="457200" y="133350"/>
            <a:ext cx="55626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Hypothesis Tests:-Parametric</a:t>
            </a:r>
            <a:endParaRPr>
              <a:solidFill>
                <a:srgbClr val="538CD5"/>
              </a:solidFill>
            </a:endParaRPr>
          </a:p>
        </p:txBody>
      </p:sp>
      <p:sp>
        <p:nvSpPr>
          <p:cNvPr id="719" name="Google Shape;719;p6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457200" lvl="0" indent="-419100" algn="l" rtl="0">
              <a:lnSpc>
                <a:spcPct val="100000"/>
              </a:lnSpc>
              <a:spcBef>
                <a:spcPts val="640"/>
              </a:spcBef>
              <a:spcAft>
                <a:spcPts val="0"/>
              </a:spcAft>
              <a:buSzPts val="3000"/>
              <a:buAutoNum type="arabicPeriod"/>
            </a:pPr>
            <a:r>
              <a:rPr lang="en-US" sz="3000"/>
              <a:t>Z test</a:t>
            </a:r>
            <a:endParaRPr sz="3000"/>
          </a:p>
          <a:p>
            <a:pPr marL="457200" lvl="0" indent="-419100" algn="l" rtl="0">
              <a:lnSpc>
                <a:spcPct val="100000"/>
              </a:lnSpc>
              <a:spcBef>
                <a:spcPts val="0"/>
              </a:spcBef>
              <a:spcAft>
                <a:spcPts val="0"/>
              </a:spcAft>
              <a:buSzPts val="3000"/>
              <a:buAutoNum type="arabicPeriod"/>
            </a:pPr>
            <a:r>
              <a:rPr lang="en-US" sz="3000"/>
              <a:t>T/Student’s T test</a:t>
            </a:r>
            <a:endParaRPr sz="3000"/>
          </a:p>
          <a:p>
            <a:pPr marL="457200" lvl="0" indent="-419100" algn="l" rtl="0">
              <a:lnSpc>
                <a:spcPct val="100000"/>
              </a:lnSpc>
              <a:spcBef>
                <a:spcPts val="0"/>
              </a:spcBef>
              <a:spcAft>
                <a:spcPts val="0"/>
              </a:spcAft>
              <a:buSzPts val="3000"/>
              <a:buAutoNum type="arabicPeriod"/>
            </a:pPr>
            <a:r>
              <a:rPr lang="en-US" sz="3000"/>
              <a:t>Paired t Test</a:t>
            </a:r>
            <a:endParaRPr sz="3000"/>
          </a:p>
          <a:p>
            <a:pPr marL="457200" lvl="0" indent="-419100" algn="l" rtl="0">
              <a:lnSpc>
                <a:spcPct val="100000"/>
              </a:lnSpc>
              <a:spcBef>
                <a:spcPts val="0"/>
              </a:spcBef>
              <a:spcAft>
                <a:spcPts val="0"/>
              </a:spcAft>
              <a:buSzPts val="3000"/>
              <a:buAutoNum type="arabicPeriod"/>
            </a:pPr>
            <a:r>
              <a:rPr lang="en-US" sz="3000"/>
              <a:t>One Way ANOVA</a:t>
            </a:r>
            <a:endParaRPr sz="3000"/>
          </a:p>
          <a:p>
            <a:pPr marL="342900" lvl="0" indent="-139700" algn="l" rtl="0">
              <a:lnSpc>
                <a:spcPct val="100000"/>
              </a:lnSpc>
              <a:spcBef>
                <a:spcPts val="640"/>
              </a:spcBef>
              <a:spcAft>
                <a:spcPts val="0"/>
              </a:spcAft>
              <a:buClr>
                <a:schemeClr val="dk1"/>
              </a:buClr>
              <a:buSzPts val="3200"/>
              <a:buNone/>
            </a:pPr>
            <a:endParaRPr/>
          </a:p>
        </p:txBody>
      </p:sp>
      <p:sp>
        <p:nvSpPr>
          <p:cNvPr id="720" name="Google Shape;720;p65"/>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21" name="Google Shape;721;p65"/>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66"/>
          <p:cNvSpPr txBox="1">
            <a:spLocks noGrp="1"/>
          </p:cNvSpPr>
          <p:nvPr>
            <p:ph type="title"/>
          </p:nvPr>
        </p:nvSpPr>
        <p:spPr>
          <a:xfrm>
            <a:off x="35600" y="133350"/>
            <a:ext cx="68964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538CD5"/>
                </a:solidFill>
              </a:rPr>
              <a:t>Hypothesis Tests:-Non Parametric</a:t>
            </a:r>
            <a:endParaRPr>
              <a:solidFill>
                <a:srgbClr val="538CD5"/>
              </a:solidFill>
            </a:endParaRPr>
          </a:p>
        </p:txBody>
      </p:sp>
      <p:sp>
        <p:nvSpPr>
          <p:cNvPr id="727" name="Google Shape;727;p66"/>
          <p:cNvSpPr txBox="1">
            <a:spLocks noGrp="1"/>
          </p:cNvSpPr>
          <p:nvPr>
            <p:ph type="body" idx="1"/>
          </p:nvPr>
        </p:nvSpPr>
        <p:spPr>
          <a:xfrm>
            <a:off x="115675" y="856638"/>
            <a:ext cx="8571000" cy="3738000"/>
          </a:xfrm>
          <a:prstGeom prst="rect">
            <a:avLst/>
          </a:prstGeom>
          <a:noFill/>
          <a:ln>
            <a:noFill/>
          </a:ln>
        </p:spPr>
        <p:txBody>
          <a:bodyPr spcFirstLastPara="1" wrap="square" lIns="91425" tIns="45700" rIns="91425" bIns="45700" anchor="t" anchorCtr="0">
            <a:normAutofit/>
          </a:bodyPr>
          <a:lstStyle/>
          <a:p>
            <a:pPr marL="342900" lvl="0" indent="-330200" algn="l" rtl="0">
              <a:lnSpc>
                <a:spcPct val="100000"/>
              </a:lnSpc>
              <a:spcBef>
                <a:spcPts val="0"/>
              </a:spcBef>
              <a:spcAft>
                <a:spcPts val="0"/>
              </a:spcAft>
              <a:buClr>
                <a:schemeClr val="dk1"/>
              </a:buClr>
              <a:buSzPts val="3000"/>
              <a:buAutoNum type="arabicPeriod"/>
            </a:pPr>
            <a:r>
              <a:rPr lang="en-US" sz="3000"/>
              <a:t>Chi Square Test</a:t>
            </a:r>
            <a:endParaRPr sz="3000"/>
          </a:p>
          <a:p>
            <a:pPr marL="342900" lvl="0" indent="-330200" algn="l" rtl="0">
              <a:lnSpc>
                <a:spcPct val="100000"/>
              </a:lnSpc>
              <a:spcBef>
                <a:spcPts val="640"/>
              </a:spcBef>
              <a:spcAft>
                <a:spcPts val="0"/>
              </a:spcAft>
              <a:buClr>
                <a:schemeClr val="dk1"/>
              </a:buClr>
              <a:buSzPts val="3000"/>
              <a:buAutoNum type="arabicPeriod"/>
            </a:pPr>
            <a:r>
              <a:rPr lang="en-US" sz="3000"/>
              <a:t>Mann-Whitney Test</a:t>
            </a:r>
            <a:endParaRPr sz="3000"/>
          </a:p>
          <a:p>
            <a:pPr marL="342900" lvl="0" indent="-330200" algn="l" rtl="0">
              <a:lnSpc>
                <a:spcPct val="100000"/>
              </a:lnSpc>
              <a:spcBef>
                <a:spcPts val="640"/>
              </a:spcBef>
              <a:spcAft>
                <a:spcPts val="0"/>
              </a:spcAft>
              <a:buClr>
                <a:schemeClr val="dk1"/>
              </a:buClr>
              <a:buSzPts val="3000"/>
              <a:buAutoNum type="arabicPeriod"/>
            </a:pPr>
            <a:r>
              <a:rPr lang="en-US" sz="3000"/>
              <a:t>Wilcoxon Signed-Rank Test</a:t>
            </a:r>
            <a:endParaRPr sz="3000"/>
          </a:p>
          <a:p>
            <a:pPr marL="342900" lvl="0" indent="-330200" algn="l" rtl="0">
              <a:lnSpc>
                <a:spcPct val="100000"/>
              </a:lnSpc>
              <a:spcBef>
                <a:spcPts val="640"/>
              </a:spcBef>
              <a:spcAft>
                <a:spcPts val="0"/>
              </a:spcAft>
              <a:buClr>
                <a:schemeClr val="dk1"/>
              </a:buClr>
              <a:buSzPts val="3000"/>
              <a:buAutoNum type="arabicPeriod"/>
            </a:pPr>
            <a:r>
              <a:rPr lang="en-US" sz="3000"/>
              <a:t>Kruskal-Wallis Test</a:t>
            </a:r>
            <a:endParaRPr sz="3000"/>
          </a:p>
          <a:p>
            <a:pPr marL="342900" lvl="0" indent="-330200" algn="l" rtl="0">
              <a:lnSpc>
                <a:spcPct val="100000"/>
              </a:lnSpc>
              <a:spcBef>
                <a:spcPts val="640"/>
              </a:spcBef>
              <a:spcAft>
                <a:spcPts val="0"/>
              </a:spcAft>
              <a:buClr>
                <a:schemeClr val="dk1"/>
              </a:buClr>
              <a:buSzPts val="3000"/>
              <a:buAutoNum type="arabicPeriod"/>
            </a:pPr>
            <a:r>
              <a:rPr lang="en-US" sz="3000"/>
              <a:t>Friedman’s ANOVA</a:t>
            </a:r>
            <a:endParaRPr sz="3000"/>
          </a:p>
          <a:p>
            <a:pPr marL="342900" lvl="0" indent="-139700" algn="l" rtl="0">
              <a:lnSpc>
                <a:spcPct val="100000"/>
              </a:lnSpc>
              <a:spcBef>
                <a:spcPts val="640"/>
              </a:spcBef>
              <a:spcAft>
                <a:spcPts val="0"/>
              </a:spcAft>
              <a:buClr>
                <a:schemeClr val="dk1"/>
              </a:buClr>
              <a:buSzPts val="3200"/>
              <a:buNone/>
            </a:pPr>
            <a:endParaRPr/>
          </a:p>
        </p:txBody>
      </p:sp>
      <p:sp>
        <p:nvSpPr>
          <p:cNvPr id="728" name="Google Shape;728;p66"/>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29" name="Google Shape;729;p66"/>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74"/>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sp>
        <p:nvSpPr>
          <p:cNvPr id="735" name="Google Shape;735;p74"/>
          <p:cNvSpPr txBox="1">
            <a:spLocks noGrp="1"/>
          </p:cNvSpPr>
          <p:nvPr>
            <p:ph type="body" idx="1"/>
          </p:nvPr>
        </p:nvSpPr>
        <p:spPr>
          <a:xfrm>
            <a:off x="381000" y="845939"/>
            <a:ext cx="8534400" cy="2183011"/>
          </a:xfrm>
          <a:prstGeom prst="rect">
            <a:avLst/>
          </a:prstGeom>
          <a:noFill/>
          <a:ln>
            <a:noFill/>
          </a:ln>
        </p:spPr>
        <p:txBody>
          <a:bodyPr spcFirstLastPara="1" wrap="square" lIns="91425" tIns="45700" rIns="91425" bIns="45700" anchor="t" anchorCtr="0">
            <a:normAutofit fontScale="92500"/>
          </a:bodyPr>
          <a:lstStyle/>
          <a:p>
            <a:pPr marL="342900" lvl="0" indent="-342900" algn="l" rtl="0">
              <a:lnSpc>
                <a:spcPct val="100000"/>
              </a:lnSpc>
              <a:spcBef>
                <a:spcPts val="0"/>
              </a:spcBef>
              <a:spcAft>
                <a:spcPts val="0"/>
              </a:spcAft>
              <a:buClr>
                <a:schemeClr val="dk1"/>
              </a:buClr>
              <a:buSzPct val="108108"/>
              <a:buChar char="•"/>
            </a:pPr>
            <a:r>
              <a:rPr lang="en-US" sz="2400"/>
              <a:t>A t-test is an analysis of two populations means through the use of statistical examination; a t-test with two samples is commonly used with small sample sizes, testing the difference between the samples when the variances of two normal distributions are not known.</a:t>
            </a:r>
            <a:endParaRPr/>
          </a:p>
          <a:p>
            <a:pPr marL="342900" lvl="0" indent="-342900" algn="l" rtl="0">
              <a:lnSpc>
                <a:spcPct val="100000"/>
              </a:lnSpc>
              <a:spcBef>
                <a:spcPts val="0"/>
              </a:spcBef>
              <a:spcAft>
                <a:spcPts val="0"/>
              </a:spcAft>
              <a:buClr>
                <a:schemeClr val="dk1"/>
              </a:buClr>
              <a:buSzPct val="108108"/>
              <a:buChar char="•"/>
            </a:pPr>
            <a:r>
              <a:rPr lang="en-US" sz="2400"/>
              <a:t>This helps in finding the association between Categorical and Continuous features.</a:t>
            </a:r>
            <a:endParaRPr/>
          </a:p>
        </p:txBody>
      </p:sp>
      <p:sp>
        <p:nvSpPr>
          <p:cNvPr id="736" name="Google Shape;736;p74"/>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37" name="Google Shape;737;p74"/>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76</a:t>
            </a:fld>
            <a:endParaRPr/>
          </a:p>
        </p:txBody>
      </p:sp>
      <p:sp>
        <p:nvSpPr>
          <p:cNvPr id="738" name="Google Shape;738;p74"/>
          <p:cNvSpPr txBox="1"/>
          <p:nvPr/>
        </p:nvSpPr>
        <p:spPr>
          <a:xfrm>
            <a:off x="3962400" y="3028950"/>
            <a:ext cx="3326936"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X -&gt; Mean of sample set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μ  -&gt; Mean of Population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 -&gt; Standard deviation of sample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 -&gt; Sample size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39" name="Google Shape;739;p74"/>
          <p:cNvPicPr preferRelativeResize="0"/>
          <p:nvPr/>
        </p:nvPicPr>
        <p:blipFill rotWithShape="1">
          <a:blip r:embed="rId3">
            <a:alphaModFix/>
          </a:blip>
          <a:srcRect/>
          <a:stretch/>
        </p:blipFill>
        <p:spPr>
          <a:xfrm>
            <a:off x="818943" y="3110732"/>
            <a:ext cx="2663728" cy="12677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50"/>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77</a:t>
            </a:fld>
            <a:endParaRPr/>
          </a:p>
        </p:txBody>
      </p:sp>
      <p:pic>
        <p:nvPicPr>
          <p:cNvPr id="745" name="Google Shape;745;p50"/>
          <p:cNvPicPr preferRelativeResize="0"/>
          <p:nvPr/>
        </p:nvPicPr>
        <p:blipFill rotWithShape="1">
          <a:blip r:embed="rId3">
            <a:alphaModFix/>
          </a:blip>
          <a:srcRect/>
          <a:stretch/>
        </p:blipFill>
        <p:spPr>
          <a:xfrm>
            <a:off x="2189481" y="811371"/>
            <a:ext cx="4765037" cy="3717086"/>
          </a:xfrm>
          <a:prstGeom prst="rect">
            <a:avLst/>
          </a:prstGeom>
          <a:noFill/>
          <a:ln>
            <a:noFill/>
          </a:ln>
        </p:spPr>
      </p:pic>
      <p:sp>
        <p:nvSpPr>
          <p:cNvPr id="746" name="Google Shape;746;p50"/>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47" name="Google Shape;747;p50"/>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60"/>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78</a:t>
            </a:fld>
            <a:endParaRPr/>
          </a:p>
        </p:txBody>
      </p:sp>
      <p:pic>
        <p:nvPicPr>
          <p:cNvPr id="753" name="Google Shape;753;p60"/>
          <p:cNvPicPr preferRelativeResize="0"/>
          <p:nvPr/>
        </p:nvPicPr>
        <p:blipFill rotWithShape="1">
          <a:blip r:embed="rId3">
            <a:alphaModFix/>
          </a:blip>
          <a:srcRect/>
          <a:stretch/>
        </p:blipFill>
        <p:spPr>
          <a:xfrm>
            <a:off x="152400" y="842702"/>
            <a:ext cx="1714535" cy="3458096"/>
          </a:xfrm>
          <a:prstGeom prst="rect">
            <a:avLst/>
          </a:prstGeom>
          <a:noFill/>
          <a:ln>
            <a:noFill/>
          </a:ln>
        </p:spPr>
      </p:pic>
      <p:pic>
        <p:nvPicPr>
          <p:cNvPr id="754" name="Google Shape;754;p60"/>
          <p:cNvPicPr preferRelativeResize="0"/>
          <p:nvPr/>
        </p:nvPicPr>
        <p:blipFill rotWithShape="1">
          <a:blip r:embed="rId4">
            <a:alphaModFix/>
          </a:blip>
          <a:srcRect/>
          <a:stretch/>
        </p:blipFill>
        <p:spPr>
          <a:xfrm>
            <a:off x="1866935" y="921657"/>
            <a:ext cx="2784529" cy="2612167"/>
          </a:xfrm>
          <a:prstGeom prst="rect">
            <a:avLst/>
          </a:prstGeom>
          <a:noFill/>
          <a:ln>
            <a:noFill/>
          </a:ln>
        </p:spPr>
      </p:pic>
      <p:sp>
        <p:nvSpPr>
          <p:cNvPr id="755" name="Google Shape;755;p60"/>
          <p:cNvSpPr txBox="1"/>
          <p:nvPr/>
        </p:nvSpPr>
        <p:spPr>
          <a:xfrm>
            <a:off x="4789714" y="761999"/>
            <a:ext cx="4340136" cy="29853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The T-Test helps to determine whether there is a statistically significant difference in the average salaries between these two groups.</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Calibri"/>
                <a:ea typeface="Calibri"/>
                <a:cs typeface="Calibri"/>
                <a:sym typeface="Calibri"/>
              </a:rPr>
              <a:t>H0: There is no significant difference between two groups.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6" name="Google Shape;756;p60"/>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57" name="Google Shape;757;p60"/>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pic>
        <p:nvPicPr>
          <p:cNvPr id="758" name="Google Shape;758;p60"/>
          <p:cNvPicPr preferRelativeResize="0"/>
          <p:nvPr/>
        </p:nvPicPr>
        <p:blipFill rotWithShape="1">
          <a:blip r:embed="rId5">
            <a:alphaModFix/>
          </a:blip>
          <a:srcRect/>
          <a:stretch/>
        </p:blipFill>
        <p:spPr>
          <a:xfrm>
            <a:off x="2430075" y="3646439"/>
            <a:ext cx="2009775" cy="10096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77"/>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200"/>
              <a:buFont typeface="Calibri"/>
              <a:buNone/>
            </a:pPr>
            <a:r>
              <a:rPr lang="en-US">
                <a:solidFill>
                  <a:srgbClr val="0070C0"/>
                </a:solidFill>
              </a:rPr>
              <a:t>Paired T-test</a:t>
            </a:r>
            <a:endParaRPr>
              <a:solidFill>
                <a:srgbClr val="0070C0"/>
              </a:solidFill>
            </a:endParaRPr>
          </a:p>
        </p:txBody>
      </p:sp>
      <p:sp>
        <p:nvSpPr>
          <p:cNvPr id="764" name="Google Shape;764;p77"/>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65" name="Google Shape;765;p77"/>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79</a:t>
            </a:fld>
            <a:endParaRPr/>
          </a:p>
        </p:txBody>
      </p:sp>
      <p:sp>
        <p:nvSpPr>
          <p:cNvPr id="766" name="Google Shape;766;p77"/>
          <p:cNvSpPr txBox="1"/>
          <p:nvPr/>
        </p:nvSpPr>
        <p:spPr>
          <a:xfrm>
            <a:off x="266975" y="1032250"/>
            <a:ext cx="8418300" cy="264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12121"/>
                </a:solidFill>
                <a:highlight>
                  <a:srgbClr val="FFFFFF"/>
                </a:highlight>
                <a:latin typeface="Roboto"/>
                <a:ea typeface="Roboto"/>
                <a:cs typeface="Roboto"/>
                <a:sym typeface="Roboto"/>
              </a:rPr>
              <a:t>The paired t-test is performed when the samples typically consist of matched pairs of similar units, or when there are cases of repeated measures. </a:t>
            </a:r>
            <a:endParaRPr sz="2000" b="0" i="0" u="none" strike="noStrike" cap="none">
              <a:solidFill>
                <a:srgbClr val="212121"/>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212121"/>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12121"/>
                </a:solidFill>
                <a:highlight>
                  <a:srgbClr val="FFFFFF"/>
                </a:highlight>
                <a:latin typeface="Roboto"/>
                <a:ea typeface="Roboto"/>
                <a:cs typeface="Roboto"/>
                <a:sym typeface="Roboto"/>
              </a:rPr>
              <a:t>For example, there may be instances of the same patients being tested repeatedly—before and after receiving a particular treatment. In such cases, each patient is being used as a control sample against themselves.</a:t>
            </a:r>
            <a:endParaRPr sz="2200" b="0" i="0" u="none" strike="noStrike" cap="none">
              <a:solidFill>
                <a:srgbClr val="000000"/>
              </a:solidFill>
              <a:latin typeface="Arial"/>
              <a:ea typeface="Arial"/>
              <a:cs typeface="Arial"/>
              <a:sym typeface="Arial"/>
            </a:endParaRPr>
          </a:p>
        </p:txBody>
      </p:sp>
      <p:pic>
        <p:nvPicPr>
          <p:cNvPr id="767" name="Google Shape;767;p77"/>
          <p:cNvPicPr preferRelativeResize="0"/>
          <p:nvPr/>
        </p:nvPicPr>
        <p:blipFill rotWithShape="1">
          <a:blip r:embed="rId3">
            <a:alphaModFix/>
          </a:blip>
          <a:srcRect/>
          <a:stretch/>
        </p:blipFill>
        <p:spPr>
          <a:xfrm>
            <a:off x="774128" y="3801604"/>
            <a:ext cx="7303071" cy="82119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78"/>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0C0"/>
              </a:buClr>
              <a:buSzPts val="3200"/>
              <a:buFont typeface="Calibri"/>
              <a:buNone/>
            </a:pPr>
            <a:r>
              <a:rPr lang="en-US">
                <a:solidFill>
                  <a:srgbClr val="0070C0"/>
                </a:solidFill>
              </a:rPr>
              <a:t>One-Way ANOVA</a:t>
            </a:r>
            <a:endParaRPr/>
          </a:p>
        </p:txBody>
      </p:sp>
      <p:sp>
        <p:nvSpPr>
          <p:cNvPr id="773" name="Google Shape;773;p78"/>
          <p:cNvSpPr txBox="1">
            <a:spLocks noGrp="1"/>
          </p:cNvSpPr>
          <p:nvPr>
            <p:ph type="ftr" idx="4294967295"/>
          </p:nvPr>
        </p:nvSpPr>
        <p:spPr>
          <a:xfrm>
            <a:off x="3810000" y="4869656"/>
            <a:ext cx="4114800" cy="27384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74" name="Google Shape;774;p78"/>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80</a:t>
            </a:fld>
            <a:endParaRPr/>
          </a:p>
        </p:txBody>
      </p:sp>
      <p:sp>
        <p:nvSpPr>
          <p:cNvPr id="775" name="Google Shape;775;p78"/>
          <p:cNvSpPr/>
          <p:nvPr/>
        </p:nvSpPr>
        <p:spPr>
          <a:xfrm>
            <a:off x="228600" y="3562350"/>
            <a:ext cx="87630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78"/>
          <p:cNvSpPr txBox="1"/>
          <p:nvPr/>
        </p:nvSpPr>
        <p:spPr>
          <a:xfrm>
            <a:off x="4267200" y="1809750"/>
            <a:ext cx="340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78"/>
          <p:cNvSpPr txBox="1"/>
          <p:nvPr/>
        </p:nvSpPr>
        <p:spPr>
          <a:xfrm>
            <a:off x="106775" y="854275"/>
            <a:ext cx="8836500" cy="3857757"/>
          </a:xfrm>
          <a:prstGeom prst="rect">
            <a:avLst/>
          </a:prstGeom>
          <a:noFill/>
          <a:ln>
            <a:noFill/>
          </a:ln>
        </p:spPr>
        <p:txBody>
          <a:bodyPr spcFirstLastPara="1" wrap="square" lIns="91425" tIns="91425" rIns="91425" bIns="91425" anchor="t" anchorCtr="0">
            <a:spAutoFit/>
          </a:bodyPr>
          <a:lstStyle/>
          <a:p>
            <a:pPr marL="0" marR="0" lvl="0" indent="0" algn="l" rtl="0">
              <a:lnSpc>
                <a:spcPct val="135714"/>
              </a:lnSpc>
              <a:spcBef>
                <a:spcPts val="0"/>
              </a:spcBef>
              <a:spcAft>
                <a:spcPts val="0"/>
              </a:spcAft>
              <a:buClr>
                <a:srgbClr val="000000"/>
              </a:buClr>
              <a:buSzPts val="1950"/>
              <a:buFont typeface="Arial"/>
              <a:buNone/>
            </a:pPr>
            <a:r>
              <a:rPr lang="en-US" sz="1950" b="0" i="0" u="none" strike="noStrike" cap="none">
                <a:solidFill>
                  <a:schemeClr val="dk1"/>
                </a:solidFill>
                <a:highlight>
                  <a:srgbClr val="FFFFFE"/>
                </a:highlight>
                <a:latin typeface="Calibri"/>
                <a:ea typeface="Calibri"/>
                <a:cs typeface="Calibri"/>
                <a:sym typeface="Calibri"/>
              </a:rPr>
              <a:t>The one-way analysis of variance (ANOVA) is used to determine whether there are any statistically significant differences between the means of three or more independent (unrelated) groups. Eg.,</a:t>
            </a:r>
            <a:endParaRPr sz="1400" b="0" i="0" u="none" strike="noStrike" cap="none">
              <a:solidFill>
                <a:srgbClr val="000000"/>
              </a:solidFill>
              <a:latin typeface="Arial"/>
              <a:ea typeface="Arial"/>
              <a:cs typeface="Arial"/>
              <a:sym typeface="Arial"/>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rgbClr val="000000"/>
              </a:buClr>
              <a:buSzPts val="1950"/>
              <a:buFont typeface="Arial"/>
              <a:buNone/>
            </a:pPr>
            <a:endParaRPr sz="1950" b="0" i="0" u="none" strike="noStrike" cap="none">
              <a:solidFill>
                <a:schemeClr val="dk1"/>
              </a:solidFill>
              <a:highlight>
                <a:srgbClr val="FFFFFE"/>
              </a:highlight>
              <a:latin typeface="Calibri"/>
              <a:ea typeface="Calibri"/>
              <a:cs typeface="Calibri"/>
              <a:sym typeface="Calibri"/>
            </a:endParaRPr>
          </a:p>
        </p:txBody>
      </p:sp>
      <p:pic>
        <p:nvPicPr>
          <p:cNvPr id="778" name="Google Shape;778;p78"/>
          <p:cNvPicPr preferRelativeResize="0"/>
          <p:nvPr/>
        </p:nvPicPr>
        <p:blipFill rotWithShape="1">
          <a:blip r:embed="rId3">
            <a:alphaModFix/>
          </a:blip>
          <a:srcRect/>
          <a:stretch/>
        </p:blipFill>
        <p:spPr>
          <a:xfrm>
            <a:off x="228600" y="2432195"/>
            <a:ext cx="5391427" cy="1187511"/>
          </a:xfrm>
          <a:prstGeom prst="rect">
            <a:avLst/>
          </a:prstGeom>
          <a:noFill/>
          <a:ln>
            <a:noFill/>
          </a:ln>
        </p:spPr>
      </p:pic>
      <p:sp>
        <p:nvSpPr>
          <p:cNvPr id="779" name="Google Shape;779;p78"/>
          <p:cNvSpPr txBox="1"/>
          <p:nvPr/>
        </p:nvSpPr>
        <p:spPr>
          <a:xfrm>
            <a:off x="290286" y="3817257"/>
            <a:ext cx="816791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Within Group Variance - Values within the group are close to each other</a:t>
            </a: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Between Group Variance - Values between groups are not close to each other</a:t>
            </a: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6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457200" lvl="0" indent="-317500" algn="l" rtl="0">
              <a:lnSpc>
                <a:spcPct val="100000"/>
              </a:lnSpc>
              <a:spcBef>
                <a:spcPts val="360"/>
              </a:spcBef>
              <a:spcAft>
                <a:spcPts val="0"/>
              </a:spcAft>
              <a:buClr>
                <a:schemeClr val="dk1"/>
              </a:buClr>
              <a:buSzPts val="1400"/>
              <a:buChar char="•"/>
            </a:pPr>
            <a:r>
              <a:rPr lang="en-US" sz="2800"/>
              <a:t>If the within-group variation is less and between-group variation is high, then it means this feature impacts the target variable. Hence it is an important feature.</a:t>
            </a:r>
            <a:endParaRPr sz="2800"/>
          </a:p>
        </p:txBody>
      </p:sp>
      <p:sp>
        <p:nvSpPr>
          <p:cNvPr id="785" name="Google Shape;785;p61"/>
          <p:cNvSpPr txBox="1">
            <a:spLocks noGrp="1"/>
          </p:cNvSpPr>
          <p:nvPr>
            <p:ph type="sldNum" idx="12"/>
          </p:nvPr>
        </p:nvSpPr>
        <p:spPr>
          <a:xfrm>
            <a:off x="8458200" y="4850606"/>
            <a:ext cx="533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81</a:t>
            </a:fld>
            <a:endParaRPr/>
          </a:p>
        </p:txBody>
      </p:sp>
      <p:sp>
        <p:nvSpPr>
          <p:cNvPr id="786" name="Google Shape;786;p61"/>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0C0"/>
              </a:buClr>
              <a:buSzPts val="3200"/>
              <a:buFont typeface="Calibri"/>
              <a:buNone/>
            </a:pPr>
            <a:r>
              <a:rPr lang="en-US">
                <a:solidFill>
                  <a:srgbClr val="0070C0"/>
                </a:solidFill>
              </a:rPr>
              <a:t>One-Way ANOVA</a:t>
            </a:r>
            <a:endParaRPr/>
          </a:p>
        </p:txBody>
      </p:sp>
      <p:sp>
        <p:nvSpPr>
          <p:cNvPr id="787" name="Google Shape;787;p61"/>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100fff2b384_0_24"/>
          <p:cNvSpPr txBox="1">
            <a:spLocks noGrp="1"/>
          </p:cNvSpPr>
          <p:nvPr>
            <p:ph type="title"/>
          </p:nvPr>
        </p:nvSpPr>
        <p:spPr>
          <a:xfrm>
            <a:off x="457200" y="133350"/>
            <a:ext cx="5029200" cy="460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70C0"/>
              </a:buClr>
              <a:buSzPts val="3200"/>
              <a:buFont typeface="Calibri"/>
              <a:buNone/>
            </a:pPr>
            <a:r>
              <a:rPr lang="en-US">
                <a:solidFill>
                  <a:srgbClr val="0070C0"/>
                </a:solidFill>
              </a:rPr>
              <a:t>Chi-Square Test</a:t>
            </a:r>
            <a:endParaRPr/>
          </a:p>
        </p:txBody>
      </p:sp>
      <p:sp>
        <p:nvSpPr>
          <p:cNvPr id="793" name="Google Shape;793;g100fff2b384_0_24"/>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794" name="Google Shape;794;g100fff2b384_0_24"/>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82</a:t>
            </a:fld>
            <a:endParaRPr/>
          </a:p>
        </p:txBody>
      </p:sp>
      <p:sp>
        <p:nvSpPr>
          <p:cNvPr id="795" name="Google Shape;795;g100fff2b384_0_24"/>
          <p:cNvSpPr/>
          <p:nvPr/>
        </p:nvSpPr>
        <p:spPr>
          <a:xfrm>
            <a:off x="381000" y="819150"/>
            <a:ext cx="8382000" cy="6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g100fff2b384_0_24"/>
          <p:cNvSpPr/>
          <p:nvPr/>
        </p:nvSpPr>
        <p:spPr>
          <a:xfrm>
            <a:off x="228600" y="3291519"/>
            <a:ext cx="8229600" cy="1219500"/>
          </a:xfrm>
          <a:prstGeom prst="rect">
            <a:avLst/>
          </a:prstGeom>
          <a:noFill/>
          <a:ln>
            <a:noFill/>
          </a:ln>
        </p:spPr>
        <p:txBody>
          <a:bodyPr spcFirstLastPara="1" wrap="square" lIns="91425" tIns="45700" rIns="91425" bIns="45700" anchor="t" anchorCtr="0">
            <a:noAutofit/>
          </a:bodyPr>
          <a:lstStyle/>
          <a:p>
            <a:pPr marL="0" marR="0" lvl="0" indent="0" algn="l" rtl="0">
              <a:lnSpc>
                <a:spcPct val="135714"/>
              </a:lnSpc>
              <a:spcBef>
                <a:spcPts val="0"/>
              </a:spcBef>
              <a:spcAft>
                <a:spcPts val="0"/>
              </a:spcAft>
              <a:buClr>
                <a:schemeClr val="dk1"/>
              </a:buClr>
              <a:buSzPts val="1100"/>
              <a:buFont typeface="Arial"/>
              <a:buNone/>
            </a:pPr>
            <a:r>
              <a:rPr lang="en-US" sz="1550" b="0" i="0" u="none" strike="noStrike" cap="none">
                <a:solidFill>
                  <a:schemeClr val="dk1"/>
                </a:solidFill>
                <a:highlight>
                  <a:srgbClr val="FFFFFE"/>
                </a:highlight>
                <a:latin typeface="Calibri"/>
                <a:ea typeface="Calibri"/>
                <a:cs typeface="Calibri"/>
                <a:sym typeface="Calibri"/>
              </a:rPr>
              <a:t>Observed frequency = No. of observations of class</a:t>
            </a:r>
            <a:endParaRPr sz="15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35714"/>
              </a:lnSpc>
              <a:spcBef>
                <a:spcPts val="0"/>
              </a:spcBef>
              <a:spcAft>
                <a:spcPts val="0"/>
              </a:spcAft>
              <a:buClr>
                <a:schemeClr val="dk1"/>
              </a:buClr>
              <a:buSzPts val="1100"/>
              <a:buFont typeface="Arial"/>
              <a:buNone/>
            </a:pPr>
            <a:r>
              <a:rPr lang="en-US" sz="1600">
                <a:solidFill>
                  <a:srgbClr val="111111"/>
                </a:solidFill>
                <a:latin typeface="Calibri"/>
                <a:ea typeface="Calibri"/>
                <a:cs typeface="Calibri"/>
                <a:sym typeface="Calibri"/>
              </a:rPr>
              <a:t>Expected Frequency = (Row Total * Column Total)/N</a:t>
            </a:r>
            <a:endParaRPr sz="1600">
              <a:solidFill>
                <a:srgbClr val="111111"/>
              </a:solidFill>
              <a:latin typeface="Calibri"/>
              <a:ea typeface="Calibri"/>
              <a:cs typeface="Calibri"/>
              <a:sym typeface="Calibri"/>
            </a:endParaRPr>
          </a:p>
          <a:p>
            <a:pPr marL="0" marR="0" lvl="0" indent="0" algn="l" rtl="0">
              <a:lnSpc>
                <a:spcPct val="135714"/>
              </a:lnSpc>
              <a:spcBef>
                <a:spcPts val="0"/>
              </a:spcBef>
              <a:spcAft>
                <a:spcPts val="0"/>
              </a:spcAft>
              <a:buClr>
                <a:schemeClr val="dk1"/>
              </a:buClr>
              <a:buSzPts val="1100"/>
              <a:buFont typeface="Arial"/>
              <a:buNone/>
            </a:pPr>
            <a:r>
              <a:rPr lang="en-US" sz="1550">
                <a:solidFill>
                  <a:schemeClr val="dk1"/>
                </a:solidFill>
                <a:highlight>
                  <a:srgbClr val="FFFFFE"/>
                </a:highlight>
                <a:latin typeface="Calibri"/>
                <a:ea typeface="Calibri"/>
                <a:cs typeface="Calibri"/>
                <a:sym typeface="Calibri"/>
              </a:rPr>
              <a:t>The e</a:t>
            </a:r>
            <a:r>
              <a:rPr lang="en-US" sz="1550" b="0" i="0" u="none" strike="noStrike" cap="none">
                <a:solidFill>
                  <a:schemeClr val="dk1"/>
                </a:solidFill>
                <a:highlight>
                  <a:srgbClr val="FFFFFE"/>
                </a:highlight>
                <a:latin typeface="Calibri"/>
                <a:ea typeface="Calibri"/>
                <a:cs typeface="Calibri"/>
                <a:sym typeface="Calibri"/>
              </a:rPr>
              <a:t>xpected values</a:t>
            </a:r>
            <a:r>
              <a:rPr lang="en-US" sz="1550">
                <a:solidFill>
                  <a:schemeClr val="dk1"/>
                </a:solidFill>
                <a:highlight>
                  <a:srgbClr val="FFFFFE"/>
                </a:highlight>
                <a:latin typeface="Calibri"/>
                <a:ea typeface="Calibri"/>
                <a:cs typeface="Calibri"/>
                <a:sym typeface="Calibri"/>
              </a:rPr>
              <a:t> for each combination</a:t>
            </a:r>
            <a:r>
              <a:rPr lang="en-US" sz="1550" b="0" i="0" u="none" strike="noStrike" cap="none">
                <a:solidFill>
                  <a:schemeClr val="dk1"/>
                </a:solidFill>
                <a:highlight>
                  <a:srgbClr val="FFFFFE"/>
                </a:highlight>
                <a:latin typeface="Calibri"/>
                <a:ea typeface="Calibri"/>
                <a:cs typeface="Calibri"/>
                <a:sym typeface="Calibri"/>
              </a:rPr>
              <a:t> represents </a:t>
            </a:r>
            <a:r>
              <a:rPr lang="en-US" sz="1550">
                <a:solidFill>
                  <a:schemeClr val="dk1"/>
                </a:solidFill>
                <a:highlight>
                  <a:srgbClr val="FFFFFE"/>
                </a:highlight>
                <a:latin typeface="Calibri"/>
                <a:ea typeface="Calibri"/>
                <a:cs typeface="Calibri"/>
                <a:sym typeface="Calibri"/>
              </a:rPr>
              <a:t>the frequency assuming</a:t>
            </a:r>
            <a:r>
              <a:rPr lang="en-US" sz="1550" b="0" i="0" u="none" strike="noStrike" cap="none">
                <a:solidFill>
                  <a:schemeClr val="dk1"/>
                </a:solidFill>
                <a:highlight>
                  <a:srgbClr val="FFFFFE"/>
                </a:highlight>
                <a:latin typeface="Calibri"/>
                <a:ea typeface="Calibri"/>
                <a:cs typeface="Calibri"/>
                <a:sym typeface="Calibri"/>
              </a:rPr>
              <a:t> there</a:t>
            </a:r>
            <a:r>
              <a:rPr lang="en-US" sz="1550">
                <a:solidFill>
                  <a:schemeClr val="dk1"/>
                </a:solidFill>
                <a:highlight>
                  <a:srgbClr val="FFFFFE"/>
                </a:highlight>
                <a:latin typeface="Calibri"/>
                <a:ea typeface="Calibri"/>
                <a:cs typeface="Calibri"/>
                <a:sym typeface="Calibri"/>
              </a:rPr>
              <a:t>’s </a:t>
            </a:r>
            <a:r>
              <a:rPr lang="en-US" sz="1550" b="0" i="1" u="none" strike="noStrike" cap="none">
                <a:solidFill>
                  <a:schemeClr val="dk1"/>
                </a:solidFill>
                <a:highlight>
                  <a:srgbClr val="FFFFFE"/>
                </a:highlight>
                <a:latin typeface="Calibri"/>
                <a:ea typeface="Calibri"/>
                <a:cs typeface="Calibri"/>
                <a:sym typeface="Calibri"/>
              </a:rPr>
              <a:t>no</a:t>
            </a:r>
            <a:r>
              <a:rPr lang="en-US" sz="1550" b="0" i="0" u="none" strike="noStrike" cap="none">
                <a:solidFill>
                  <a:schemeClr val="dk1"/>
                </a:solidFill>
                <a:highlight>
                  <a:srgbClr val="FFFFFE"/>
                </a:highlight>
                <a:latin typeface="Calibri"/>
                <a:ea typeface="Calibri"/>
                <a:cs typeface="Calibri"/>
                <a:sym typeface="Calibri"/>
              </a:rPr>
              <a:t> relationship between the </a:t>
            </a:r>
            <a:r>
              <a:rPr lang="en-US" sz="1550">
                <a:solidFill>
                  <a:schemeClr val="dk1"/>
                </a:solidFill>
                <a:highlight>
                  <a:srgbClr val="FFFFFE"/>
                </a:highlight>
                <a:latin typeface="Calibri"/>
                <a:ea typeface="Calibri"/>
                <a:cs typeface="Calibri"/>
                <a:sym typeface="Calibri"/>
              </a:rPr>
              <a:t>2 variables.</a:t>
            </a:r>
            <a:endParaRPr sz="160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g100fff2b384_0_24"/>
          <p:cNvSpPr txBox="1"/>
          <p:nvPr/>
        </p:nvSpPr>
        <p:spPr>
          <a:xfrm>
            <a:off x="275850" y="888000"/>
            <a:ext cx="8487300" cy="166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12121"/>
                </a:solidFill>
                <a:highlight>
                  <a:srgbClr val="FFFFFF"/>
                </a:highlight>
                <a:latin typeface="Roboto"/>
                <a:ea typeface="Roboto"/>
                <a:cs typeface="Roboto"/>
                <a:sym typeface="Roboto"/>
              </a:rPr>
              <a:t>Chi-square test </a:t>
            </a:r>
            <a:r>
              <a:rPr lang="en-US" sz="1600">
                <a:solidFill>
                  <a:srgbClr val="212121"/>
                </a:solidFill>
                <a:highlight>
                  <a:srgbClr val="FFFFFF"/>
                </a:highlight>
                <a:latin typeface="Roboto"/>
                <a:ea typeface="Roboto"/>
                <a:cs typeface="Roboto"/>
                <a:sym typeface="Roboto"/>
              </a:rPr>
              <a:t>can be</a:t>
            </a:r>
            <a:r>
              <a:rPr lang="en-US" sz="1600" b="0" i="0" u="none" strike="noStrike" cap="none">
                <a:solidFill>
                  <a:srgbClr val="212121"/>
                </a:solidFill>
                <a:highlight>
                  <a:srgbClr val="FFFFFF"/>
                </a:highlight>
                <a:latin typeface="Roboto"/>
                <a:ea typeface="Roboto"/>
                <a:cs typeface="Roboto"/>
                <a:sym typeface="Roboto"/>
              </a:rPr>
              <a:t> used for categorical features in a dataset. We calculate Chi-square between each feature and the target and select the desired number of features with best Chi-square scores. It determines if the association between two categorical variables of the sample would reflect their real association in the population. Chi- square score is given by</a:t>
            </a:r>
            <a:endParaRPr sz="1600" b="0" i="0" u="none" strike="noStrike" cap="none">
              <a:solidFill>
                <a:srgbClr val="212121"/>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212121"/>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212121"/>
              </a:solidFill>
              <a:highlight>
                <a:srgbClr val="FFFFFF"/>
              </a:highlight>
              <a:latin typeface="Roboto"/>
              <a:ea typeface="Roboto"/>
              <a:cs typeface="Roboto"/>
              <a:sym typeface="Roboto"/>
            </a:endParaRPr>
          </a:p>
        </p:txBody>
      </p:sp>
      <p:pic>
        <p:nvPicPr>
          <p:cNvPr id="798" name="Google Shape;798;g100fff2b384_0_24" descr="Note: Chi-squared test is applicable ..."/>
          <p:cNvPicPr preferRelativeResize="0"/>
          <p:nvPr/>
        </p:nvPicPr>
        <p:blipFill rotWithShape="1">
          <a:blip r:embed="rId3">
            <a:alphaModFix/>
          </a:blip>
          <a:srcRect l="9066"/>
          <a:stretch/>
        </p:blipFill>
        <p:spPr>
          <a:xfrm>
            <a:off x="2766625" y="2002775"/>
            <a:ext cx="5158175" cy="1335358"/>
          </a:xfrm>
          <a:prstGeom prst="rect">
            <a:avLst/>
          </a:prstGeom>
          <a:noFill/>
          <a:ln>
            <a:noFill/>
          </a:ln>
        </p:spPr>
      </p:pic>
      <p:pic>
        <p:nvPicPr>
          <p:cNvPr id="799" name="Google Shape;799;g100fff2b384_0_24"/>
          <p:cNvPicPr preferRelativeResize="0"/>
          <p:nvPr/>
        </p:nvPicPr>
        <p:blipFill>
          <a:blip r:embed="rId4">
            <a:alphaModFix/>
          </a:blip>
          <a:stretch>
            <a:fillRect/>
          </a:stretch>
        </p:blipFill>
        <p:spPr>
          <a:xfrm>
            <a:off x="1906350" y="2355050"/>
            <a:ext cx="754897" cy="6561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100fff2b384_0_38"/>
          <p:cNvSpPr txBox="1">
            <a:spLocks noGrp="1"/>
          </p:cNvSpPr>
          <p:nvPr>
            <p:ph type="ftr" idx="4294967295"/>
          </p:nvPr>
        </p:nvSpPr>
        <p:spPr>
          <a:xfrm>
            <a:off x="3810000" y="4869656"/>
            <a:ext cx="4114800" cy="27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STATISTICS ESSENTIALS</a:t>
            </a:r>
            <a:endParaRPr/>
          </a:p>
        </p:txBody>
      </p:sp>
      <p:sp>
        <p:nvSpPr>
          <p:cNvPr id="805" name="Google Shape;805;g100fff2b384_0_38"/>
          <p:cNvSpPr txBox="1">
            <a:spLocks noGrp="1"/>
          </p:cNvSpPr>
          <p:nvPr>
            <p:ph type="sldNum" idx="12"/>
          </p:nvPr>
        </p:nvSpPr>
        <p:spPr>
          <a:xfrm>
            <a:off x="8458200" y="4850606"/>
            <a:ext cx="533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2000"/>
              <a:buNone/>
            </a:pPr>
            <a:fld id="{00000000-1234-1234-1234-123412341234}" type="slidenum">
              <a:rPr lang="en-US"/>
              <a:t>83</a:t>
            </a:fld>
            <a:endParaRPr/>
          </a:p>
        </p:txBody>
      </p:sp>
      <p:sp>
        <p:nvSpPr>
          <p:cNvPr id="806" name="Google Shape;806;g100fff2b384_0_38"/>
          <p:cNvSpPr/>
          <p:nvPr/>
        </p:nvSpPr>
        <p:spPr>
          <a:xfrm>
            <a:off x="228600" y="3194675"/>
            <a:ext cx="8229600" cy="987900"/>
          </a:xfrm>
          <a:prstGeom prst="rect">
            <a:avLst/>
          </a:prstGeom>
          <a:noFill/>
          <a:ln>
            <a:noFill/>
          </a:ln>
        </p:spPr>
        <p:txBody>
          <a:bodyPr spcFirstLastPara="1" wrap="square" lIns="91425" tIns="45700" rIns="91425" bIns="45700" anchor="t" anchorCtr="0">
            <a:noAutofit/>
          </a:bodyPr>
          <a:lstStyle/>
          <a:p>
            <a:pPr marL="0" marR="0" lvl="0" indent="0" algn="l" rtl="0">
              <a:lnSpc>
                <a:spcPct val="135714"/>
              </a:lnSpc>
              <a:spcBef>
                <a:spcPts val="0"/>
              </a:spcBef>
              <a:spcAft>
                <a:spcPts val="0"/>
              </a:spcAft>
              <a:buClr>
                <a:srgbClr val="000000"/>
              </a:buClr>
              <a:buSzPts val="1550"/>
              <a:buFont typeface="Arial"/>
              <a:buNone/>
            </a:pPr>
            <a:endParaRPr sz="1550" b="0" i="0" u="none" strike="noStrike" cap="none">
              <a:solidFill>
                <a:schemeClr val="dk1"/>
              </a:solidFill>
              <a:highlight>
                <a:srgbClr val="FFFFFE"/>
              </a:highlight>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07" name="Google Shape;807;g100fff2b384_0_38"/>
          <p:cNvPicPr preferRelativeResize="0"/>
          <p:nvPr/>
        </p:nvPicPr>
        <p:blipFill rotWithShape="1">
          <a:blip r:embed="rId3">
            <a:alphaModFix/>
          </a:blip>
          <a:srcRect/>
          <a:stretch/>
        </p:blipFill>
        <p:spPr>
          <a:xfrm>
            <a:off x="175037" y="887118"/>
            <a:ext cx="1638384" cy="3626825"/>
          </a:xfrm>
          <a:prstGeom prst="rect">
            <a:avLst/>
          </a:prstGeom>
          <a:noFill/>
          <a:ln>
            <a:noFill/>
          </a:ln>
        </p:spPr>
      </p:pic>
      <p:pic>
        <p:nvPicPr>
          <p:cNvPr id="808" name="Google Shape;808;g100fff2b384_0_38"/>
          <p:cNvPicPr preferRelativeResize="0"/>
          <p:nvPr/>
        </p:nvPicPr>
        <p:blipFill rotWithShape="1">
          <a:blip r:embed="rId4">
            <a:alphaModFix/>
          </a:blip>
          <a:srcRect/>
          <a:stretch/>
        </p:blipFill>
        <p:spPr>
          <a:xfrm>
            <a:off x="1904006" y="1197866"/>
            <a:ext cx="3391074" cy="628682"/>
          </a:xfrm>
          <a:prstGeom prst="rect">
            <a:avLst/>
          </a:prstGeom>
          <a:noFill/>
          <a:ln>
            <a:noFill/>
          </a:ln>
        </p:spPr>
      </p:pic>
      <p:sp>
        <p:nvSpPr>
          <p:cNvPr id="809" name="Google Shape;809;g100fff2b384_0_38"/>
          <p:cNvSpPr txBox="1"/>
          <p:nvPr/>
        </p:nvSpPr>
        <p:spPr>
          <a:xfrm>
            <a:off x="1966686" y="834571"/>
            <a:ext cx="26924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Contingency Table:</a:t>
            </a:r>
            <a:endParaRPr sz="1400" b="0" i="0" u="none" strike="noStrike" cap="none">
              <a:solidFill>
                <a:srgbClr val="000000"/>
              </a:solidFill>
              <a:latin typeface="Arial"/>
              <a:ea typeface="Arial"/>
              <a:cs typeface="Arial"/>
              <a:sym typeface="Arial"/>
            </a:endParaRPr>
          </a:p>
        </p:txBody>
      </p:sp>
      <p:sp>
        <p:nvSpPr>
          <p:cNvPr id="810" name="Google Shape;810;g100fff2b384_0_38"/>
          <p:cNvSpPr txBox="1"/>
          <p:nvPr/>
        </p:nvSpPr>
        <p:spPr>
          <a:xfrm>
            <a:off x="1966686" y="2659109"/>
            <a:ext cx="6807300" cy="17547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800"/>
              <a:buFont typeface="Arial"/>
              <a:buNone/>
            </a:pPr>
            <a:r>
              <a:rPr lang="en-US" sz="1600">
                <a:solidFill>
                  <a:srgbClr val="374151"/>
                </a:solidFill>
                <a:latin typeface="Calibri"/>
                <a:ea typeface="Calibri"/>
                <a:cs typeface="Calibri"/>
                <a:sym typeface="Calibri"/>
              </a:rPr>
              <a:t>Assuming a Significance level of 0.05</a:t>
            </a:r>
            <a:endParaRPr sz="1600">
              <a:solidFill>
                <a:srgbClr val="37415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800"/>
              <a:buFont typeface="Arial"/>
              <a:buNone/>
            </a:pPr>
            <a:r>
              <a:rPr lang="en-US" sz="1600">
                <a:solidFill>
                  <a:srgbClr val="374151"/>
                </a:solidFill>
                <a:latin typeface="Calibri"/>
                <a:ea typeface="Calibri"/>
                <a:cs typeface="Calibri"/>
                <a:sym typeface="Calibri"/>
              </a:rPr>
              <a:t>We compare the contingency table’s observed values with expected values,</a:t>
            </a:r>
            <a:endParaRPr sz="1600" b="0" i="0" u="none" strike="noStrike" cap="none">
              <a:solidFill>
                <a:srgbClr val="37415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800"/>
              <a:buFont typeface="Arial"/>
              <a:buNone/>
            </a:pPr>
            <a:r>
              <a:rPr lang="en-US" sz="1600">
                <a:solidFill>
                  <a:srgbClr val="374151"/>
                </a:solidFill>
                <a:latin typeface="Calibri"/>
                <a:ea typeface="Calibri"/>
                <a:cs typeface="Calibri"/>
                <a:sym typeface="Calibri"/>
              </a:rPr>
              <a:t>C</a:t>
            </a:r>
            <a:r>
              <a:rPr lang="en-US" sz="1600" b="0" i="0" u="none" strike="noStrike" cap="none">
                <a:solidFill>
                  <a:srgbClr val="374151"/>
                </a:solidFill>
                <a:latin typeface="Calibri"/>
                <a:ea typeface="Calibri"/>
                <a:cs typeface="Calibri"/>
                <a:sym typeface="Calibri"/>
              </a:rPr>
              <a:t>hi-squared s</a:t>
            </a:r>
            <a:r>
              <a:rPr lang="en-US" sz="1600">
                <a:solidFill>
                  <a:srgbClr val="374151"/>
                </a:solidFill>
                <a:latin typeface="Calibri"/>
                <a:ea typeface="Calibri"/>
                <a:cs typeface="Calibri"/>
                <a:sym typeface="Calibri"/>
              </a:rPr>
              <a:t>tatistic =</a:t>
            </a:r>
            <a:r>
              <a:rPr lang="en-US" sz="1600" b="0" i="0" u="none" strike="noStrike" cap="none">
                <a:solidFill>
                  <a:srgbClr val="374151"/>
                </a:solidFill>
                <a:latin typeface="Calibri"/>
                <a:ea typeface="Calibri"/>
                <a:cs typeface="Calibri"/>
                <a:sym typeface="Calibri"/>
              </a:rPr>
              <a:t> 1.733</a:t>
            </a:r>
            <a:endParaRPr sz="16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US" sz="1600">
                <a:latin typeface="Calibri"/>
                <a:ea typeface="Calibri"/>
                <a:cs typeface="Calibri"/>
                <a:sym typeface="Calibri"/>
              </a:rPr>
              <a:t>Degrees of freedom df = (2-1) * (4-1) = 3</a:t>
            </a:r>
            <a:endParaRPr sz="160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800"/>
              <a:buFont typeface="Arial"/>
              <a:buNone/>
            </a:pPr>
            <a:r>
              <a:rPr lang="en-US" sz="1600">
                <a:solidFill>
                  <a:srgbClr val="374151"/>
                </a:solidFill>
                <a:latin typeface="Calibri"/>
                <a:ea typeface="Calibri"/>
                <a:cs typeface="Calibri"/>
                <a:sym typeface="Calibri"/>
              </a:rPr>
              <a:t>P</a:t>
            </a:r>
            <a:r>
              <a:rPr lang="en-US" sz="1600" b="0" i="0" u="none" strike="noStrike" cap="none">
                <a:solidFill>
                  <a:srgbClr val="374151"/>
                </a:solidFill>
                <a:latin typeface="Calibri"/>
                <a:ea typeface="Calibri"/>
                <a:cs typeface="Calibri"/>
                <a:sym typeface="Calibri"/>
              </a:rPr>
              <a:t>-value = </a:t>
            </a:r>
            <a:r>
              <a:rPr lang="en-US" sz="1600" b="0" i="0" u="none" strike="noStrike" cap="none">
                <a:solidFill>
                  <a:srgbClr val="343541"/>
                </a:solidFill>
                <a:latin typeface="Calibri"/>
                <a:ea typeface="Calibri"/>
                <a:cs typeface="Calibri"/>
                <a:sym typeface="Calibri"/>
              </a:rPr>
              <a:t>0.</a:t>
            </a:r>
            <a:r>
              <a:rPr lang="en-US" sz="1600">
                <a:solidFill>
                  <a:srgbClr val="343541"/>
                </a:solidFill>
                <a:latin typeface="Calibri"/>
                <a:ea typeface="Calibri"/>
                <a:cs typeface="Calibri"/>
                <a:sym typeface="Calibri"/>
              </a:rPr>
              <a:t>6295</a:t>
            </a:r>
            <a:endParaRPr sz="1600" b="0" i="0" u="none" strike="noStrike" cap="none">
              <a:solidFill>
                <a:srgbClr val="37415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800"/>
              <a:buFont typeface="Arial"/>
              <a:buNone/>
            </a:pPr>
            <a:r>
              <a:rPr lang="en-US" sz="1600" b="0" i="1" u="none" strike="noStrike" cap="none">
                <a:solidFill>
                  <a:srgbClr val="374151"/>
                </a:solidFill>
                <a:latin typeface="Calibri"/>
                <a:ea typeface="Calibri"/>
                <a:cs typeface="Calibri"/>
                <a:sym typeface="Calibri"/>
              </a:rPr>
              <a:t>Since P-value &gt;&gt; 0.05, we accept the Null hypothesis.</a:t>
            </a:r>
            <a:endParaRPr sz="1600" b="0" i="1" u="none" strike="noStrike" cap="none">
              <a:solidFill>
                <a:srgbClr val="000000"/>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pic>
        <p:nvPicPr>
          <p:cNvPr id="815" name="Google Shape;815;p17"/>
          <p:cNvPicPr preferRelativeResize="0"/>
          <p:nvPr/>
        </p:nvPicPr>
        <p:blipFill rotWithShape="1">
          <a:blip r:embed="rId3">
            <a:alphaModFix/>
          </a:blip>
          <a:srcRect/>
          <a:stretch/>
        </p:blipFill>
        <p:spPr>
          <a:xfrm>
            <a:off x="6934200" y="116292"/>
            <a:ext cx="1981200" cy="512569"/>
          </a:xfrm>
          <a:prstGeom prst="rect">
            <a:avLst/>
          </a:prstGeom>
          <a:noFill/>
          <a:ln>
            <a:noFill/>
          </a:ln>
        </p:spPr>
      </p:pic>
      <p:grpSp>
        <p:nvGrpSpPr>
          <p:cNvPr id="816" name="Google Shape;816;p17"/>
          <p:cNvGrpSpPr/>
          <p:nvPr/>
        </p:nvGrpSpPr>
        <p:grpSpPr>
          <a:xfrm>
            <a:off x="6949440" y="2571750"/>
            <a:ext cx="2061216" cy="2024812"/>
            <a:chOff x="13944600" y="3619500"/>
            <a:chExt cx="4294200" cy="4218359"/>
          </a:xfrm>
        </p:grpSpPr>
        <p:sp>
          <p:nvSpPr>
            <p:cNvPr id="817" name="Google Shape;817;p17"/>
            <p:cNvSpPr/>
            <p:nvPr/>
          </p:nvSpPr>
          <p:spPr>
            <a:xfrm>
              <a:off x="14731458" y="5067300"/>
              <a:ext cx="2720338" cy="2770559"/>
            </a:xfrm>
            <a:custGeom>
              <a:avLst/>
              <a:gdLst/>
              <a:ahLst/>
              <a:cxnLst/>
              <a:rect l="l" t="t" r="r" b="b"/>
              <a:pathLst>
                <a:path w="3348108" h="3348108" extrusionOk="0">
                  <a:moveTo>
                    <a:pt x="0" y="0"/>
                  </a:moveTo>
                  <a:lnTo>
                    <a:pt x="3348108" y="0"/>
                  </a:lnTo>
                  <a:lnTo>
                    <a:pt x="3348108" y="3348108"/>
                  </a:lnTo>
                  <a:lnTo>
                    <a:pt x="0" y="334810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2">
                <a:solidFill>
                  <a:srgbClr val="000000"/>
                </a:solidFill>
                <a:latin typeface="Calibri"/>
                <a:ea typeface="Calibri"/>
                <a:cs typeface="Calibri"/>
                <a:sym typeface="Calibri"/>
              </a:endParaRPr>
            </a:p>
          </p:txBody>
        </p:sp>
        <p:sp>
          <p:nvSpPr>
            <p:cNvPr id="818" name="Google Shape;818;p17"/>
            <p:cNvSpPr txBox="1"/>
            <p:nvPr/>
          </p:nvSpPr>
          <p:spPr>
            <a:xfrm>
              <a:off x="13944600" y="3619500"/>
              <a:ext cx="4294200" cy="1262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92" b="1">
                  <a:solidFill>
                    <a:schemeClr val="accent6"/>
                  </a:solidFill>
                  <a:latin typeface="Calibri"/>
                  <a:ea typeface="Calibri"/>
                  <a:cs typeface="Calibri"/>
                  <a:sym typeface="Calibri"/>
                </a:rPr>
                <a:t>Refer &amp; Earn</a:t>
              </a:r>
              <a:endParaRPr>
                <a:solidFill>
                  <a:schemeClr val="accent6"/>
                </a:solidFill>
              </a:endParaRPr>
            </a:p>
            <a:p>
              <a:pPr marL="0" marR="0" lvl="0" indent="0" algn="ctr" rtl="0">
                <a:spcBef>
                  <a:spcPts val="0"/>
                </a:spcBef>
                <a:spcAft>
                  <a:spcPts val="0"/>
                </a:spcAft>
                <a:buNone/>
              </a:pPr>
              <a:r>
                <a:rPr lang="en-US" sz="1344" b="1">
                  <a:solidFill>
                    <a:schemeClr val="accent6"/>
                  </a:solidFill>
                  <a:latin typeface="Calibri"/>
                  <a:ea typeface="Calibri"/>
                  <a:cs typeface="Calibri"/>
                  <a:sym typeface="Calibri"/>
                </a:rPr>
                <a:t>up to ₹ 5,000/- per referral </a:t>
              </a:r>
              <a:endParaRPr>
                <a:solidFill>
                  <a:schemeClr val="accent6"/>
                </a:solidFill>
              </a:endParaRPr>
            </a:p>
          </p:txBody>
        </p:sp>
      </p:grpSp>
      <p:pic>
        <p:nvPicPr>
          <p:cNvPr id="819" name="Google Shape;819;p17" title="deming_data_quote.png"/>
          <p:cNvPicPr preferRelativeResize="0"/>
          <p:nvPr/>
        </p:nvPicPr>
        <p:blipFill>
          <a:blip r:embed="rId5">
            <a:alphaModFix/>
          </a:blip>
          <a:stretch>
            <a:fillRect/>
          </a:stretch>
        </p:blipFill>
        <p:spPr>
          <a:xfrm>
            <a:off x="152400" y="781248"/>
            <a:ext cx="7645123" cy="29229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4176</Words>
  <Application>Microsoft Office PowerPoint</Application>
  <PresentationFormat>On-screen Show (16:9)</PresentationFormat>
  <Paragraphs>530</Paragraphs>
  <Slides>84</Slides>
  <Notes>84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84</vt:i4>
      </vt:variant>
    </vt:vector>
  </HeadingPairs>
  <TitlesOfParts>
    <vt:vector size="93" baseType="lpstr">
      <vt:lpstr>Libre Baskerville</vt:lpstr>
      <vt:lpstr>Arial</vt:lpstr>
      <vt:lpstr>Open Sans</vt:lpstr>
      <vt:lpstr>Georgia</vt:lpstr>
      <vt:lpstr>Calibri</vt:lpstr>
      <vt:lpstr>Cambria</vt:lpstr>
      <vt:lpstr>Century</vt:lpstr>
      <vt:lpstr>Roboto</vt:lpstr>
      <vt:lpstr>Office Theme</vt:lpstr>
      <vt:lpstr>PowerPoint Presentation</vt:lpstr>
      <vt:lpstr>Overview of Statistics </vt:lpstr>
      <vt:lpstr>Statistics for Data</vt:lpstr>
      <vt:lpstr>Descriptive Statistics</vt:lpstr>
      <vt:lpstr>Inferential Statistics</vt:lpstr>
      <vt:lpstr>Definitions of Basic Terms</vt:lpstr>
      <vt:lpstr>Definitions of Basic Terms</vt:lpstr>
      <vt:lpstr>Examples</vt:lpstr>
      <vt:lpstr>Types of Data</vt:lpstr>
      <vt:lpstr>Examples of variables</vt:lpstr>
      <vt:lpstr>Examples of variables…</vt:lpstr>
      <vt:lpstr>Harnessing Data</vt:lpstr>
      <vt:lpstr>Steps Involved In Descriptive Statistics </vt:lpstr>
      <vt:lpstr>Making sense of the data</vt:lpstr>
      <vt:lpstr>Collecting The Data</vt:lpstr>
      <vt:lpstr>Methods Used To Collect Data</vt:lpstr>
      <vt:lpstr>Types Of Sampling</vt:lpstr>
      <vt:lpstr>Probability Sampling</vt:lpstr>
      <vt:lpstr>Sampling Example</vt:lpstr>
      <vt:lpstr>Sampling Error</vt:lpstr>
      <vt:lpstr>Exploratory Analysis</vt:lpstr>
      <vt:lpstr>Measures of Central Tendencies</vt:lpstr>
      <vt:lpstr>Central Tendency</vt:lpstr>
      <vt:lpstr>Measures of Central Tendency </vt:lpstr>
      <vt:lpstr>Mean</vt:lpstr>
      <vt:lpstr>Median</vt:lpstr>
      <vt:lpstr>Mode</vt:lpstr>
      <vt:lpstr>Measure of Spread / Data Variability</vt:lpstr>
      <vt:lpstr>Range</vt:lpstr>
      <vt:lpstr>Interquartile Range (IQR)Range</vt:lpstr>
      <vt:lpstr>Variance(σ2)</vt:lpstr>
      <vt:lpstr>Standard Deviation (σ)</vt:lpstr>
      <vt:lpstr>Percentile</vt:lpstr>
      <vt:lpstr>Distributions</vt:lpstr>
      <vt:lpstr>Types Of Distributions</vt:lpstr>
      <vt:lpstr>Normal Distribution</vt:lpstr>
      <vt:lpstr>Properties Of Normal Distribution</vt:lpstr>
      <vt:lpstr>Empirical Rule</vt:lpstr>
      <vt:lpstr>Distortion in Normal Distribution</vt:lpstr>
      <vt:lpstr>Skewness in a Distribution</vt:lpstr>
      <vt:lpstr>How much Skewness and Kurtosis</vt:lpstr>
      <vt:lpstr>Kurtosis in a Distribution</vt:lpstr>
      <vt:lpstr>PowerPoint Presentation</vt:lpstr>
      <vt:lpstr>Which is Best—the Mean, Median, or Mode?</vt:lpstr>
      <vt:lpstr>Outliers</vt:lpstr>
      <vt:lpstr>Central Limit Theorem</vt:lpstr>
      <vt:lpstr>Probability Density Function</vt:lpstr>
      <vt:lpstr>Q-Q Plots</vt:lpstr>
      <vt:lpstr>Standard Normal Distribution</vt:lpstr>
      <vt:lpstr>Z- Score / Z-Value/ Standard Score</vt:lpstr>
      <vt:lpstr>Calculating Z-Score</vt:lpstr>
      <vt:lpstr>Outliers</vt:lpstr>
      <vt:lpstr>Correcting Distortion in Normal Distribution</vt:lpstr>
      <vt:lpstr>Measure of Distance</vt:lpstr>
      <vt:lpstr>Euclidean Distance</vt:lpstr>
      <vt:lpstr>Manhattan Distance</vt:lpstr>
      <vt:lpstr>Minkowski Distance</vt:lpstr>
      <vt:lpstr>Use of Distance Metrics</vt:lpstr>
      <vt:lpstr>Covariance</vt:lpstr>
      <vt:lpstr>Correlation</vt:lpstr>
      <vt:lpstr>Hypothesis Testing &amp; Other computational Techniques</vt:lpstr>
      <vt:lpstr>Hypothesis Testing</vt:lpstr>
      <vt:lpstr>Types of Hypothesis</vt:lpstr>
      <vt:lpstr>Null Hypothesis (H0)</vt:lpstr>
      <vt:lpstr>Alternate Hypothesis (HA)/(H1)</vt:lpstr>
      <vt:lpstr>Hypothesis Testing – Case Discussion</vt:lpstr>
      <vt:lpstr>Type I and Type II Error</vt:lpstr>
      <vt:lpstr>p –Value</vt:lpstr>
      <vt:lpstr>Critical Region</vt:lpstr>
      <vt:lpstr>Cases Of Critical Region</vt:lpstr>
      <vt:lpstr>Process of Hypothesis Testing</vt:lpstr>
      <vt:lpstr>Types of Hypothesis Tests</vt:lpstr>
      <vt:lpstr>Applications of Hypothesis Testing</vt:lpstr>
      <vt:lpstr>Hypothesis Tests:-Parametric</vt:lpstr>
      <vt:lpstr>Hypothesis Tests:-Non Parametric</vt:lpstr>
      <vt:lpstr>T-test</vt:lpstr>
      <vt:lpstr>T-test</vt:lpstr>
      <vt:lpstr>T-test</vt:lpstr>
      <vt:lpstr>Paired T-test</vt:lpstr>
      <vt:lpstr>One-Way ANOVA</vt:lpstr>
      <vt:lpstr>One-Way ANOVA</vt:lpstr>
      <vt:lpstr>Chi-Square Test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Ashok HOME</dc:creator>
  <cp:lastModifiedBy>Datamites</cp:lastModifiedBy>
  <cp:revision>1</cp:revision>
  <dcterms:created xsi:type="dcterms:W3CDTF">2006-08-16T00:00:00Z</dcterms:created>
  <dcterms:modified xsi:type="dcterms:W3CDTF">2026-09-17T08:26:18Z</dcterms:modified>
</cp:coreProperties>
</file>